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0.xml" ContentType="application/vnd.openxmlformats-officedocument.presentationml.slide+xml"/>
  <Override PartName="/ppt/notesSlides/notesSlide10.xml" ContentType="application/vnd.openxmlformats-officedocument.presentationml.notesSlid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65" r:id="rId16"/>
    <p:sldId id="259" r:id="rId5"/>
    <p:sldId id="258" r:id="rId4"/>
    <p:sldId id="260" r:id="rId6"/>
    <p:sldId id="262" r:id="rId8"/>
    <p:sldId id="261" r:id="rId7"/>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  <Relationship Id="rId16" Type="http://schemas.openxmlformats.org/officeDocument/2006/relationships/slide" Target="slides/slide10.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dirty="0"/>
              <a:t>'Merhaba dedektifler! Bugün zamanda yolculuk yapıyoruz.' de. 'Başlangıç'ta yaşımızı, Temel'de doğum günümüzü, Orta'da doğum tarihimizi söyledik. Bugün ailemizin nesillerini ve zamanın bizi nasıl değiştirdiğini konuşacağız.' de, bir sonraki slayta geç.</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dirty="0"/>
              <a:t>Kartları sırayla oku. Birinci hedefte 'Seksenli yıllarda…' örneğini sesli söyle. Öğrencilere sor: 'Sizce eskiden ve şimdi arasındaki en büyük fark ne?' Kısa cevaplar al, ayrıntıya derste gireceğinizi söyle.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dirty="0"/>
              <a:t>Tartışma slaytı. Birinci soruyu oku, öğrencilere düşünme süresi ver. İkinci soruda 'Abi/Abla' demenin yakınlık ve saygıyı birlikte taşıdığını hatırlat. Yaşadıkları ülkede büyüklere nasıl seslenildiğini sor. Son soruda hem iyi hem zor yanları dinle, farklı görüşlere saygıyla yaklaşılmasını iste.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dirty="0"/>
              <a:t>İki kartı karşılaştır. Eskiden kartında geleneksel çocuk oyunlarını sor: 'Misket, çelik çomak, yakan top oynadınız mı? Aileniz oynamış mı?' Şimdi kartında dijital dünyanın iyi yanlarını da konuşun. Amaç 'eskisi iyiydi' demek değil, farkları görmek. Alt cümledeki 'oysa' bağlayıcısını vurgula, öğrenciler kendi 'Eskiden …, oysa şimdi …' cümlelerini kursun.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dirty="0"/>
              <a:t>İskeleti birlikte oku. 'Bizim nesil' tekil olduğu için fiilin 'büyüdü' olduğuna dikkat çek. 'Biz' dersek 'büyüdük' deriz. Onlu yıl ekini hatırlat ('li/'lı). Örnek paragrafı birlikte oku, 'oysa' ve 'ancak' bağlayıcılarını göster. Ardından öğrenciler iskeleti kendi aileleriyle doldursun.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dirty="0"/>
              <a:t>Yazı görevini açıkla: bir sayfalık bir karşılaştırma yazısı. Üç maddeyi sırayla oku. Onlu yıllarla tarih vermelerini, 'Eskiden …, oysa şimdi …' ve 'buna karşın' yapılarını kullanmalarını, sonunda yaşadıkları ülke ile Türkiye'yi karşılaştırmalarını iste. Gerekirse dil iskeleti slaytına geri dön.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dirty="0"/>
              <a:t>Sözü oku: 'Büyüğe saygı, küçüğe sevgi.' Üç kartı tanıt: masallar ve atasözleri, aile tarifleri, ana dilimiz Türkçe. Bunların nesilden nesile nasıl aktarıldığını sor. Yurt dışında Türkçeyi korumanın önemini ve ana dilini koruma hakkını vurgula. Son soruları öğrencilerin kendi deneyimleriyle tartışın.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dirty="0"/>
              <a:t>Görevi adım adım anlat. Birinci adımdaki soruların 'siz' ile sorulduğuna dikkat çek. Görüşme notlarının rapora temel olacağını söyle. Raporlarda kendi görüşlerini gerekçeleriyle savunmalarını iste. Bir sonraki derste raporları sınıfta tartışacaksınız.</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dirty="0"/>
              <a:t>'Görev tamamlandı dedektifler!' de. Kartları sırayla okut: onlu yıllar, eskiden/şimdi, toplumsal dönüşüm, saygı analizi, kuşak aktarımı. 'Bir sonraki görevde görüşmek üzere!' diyerek kapat.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dirty="0"/>
              <a:t>Onlu yılları okut: 1960'lı yıllar = altmışlı yıllar, 1980'li yıllar = seksenli yıllar. Ek kuralını hatırlat: ek okunuşa göre gelir: altmış → 1960'lı, seksen → 1980'li, doksan → 1990'lı, yetmiş → 1970'li. Yüzyılı açıkla: 2001'den bu yana 21. yüzyıldayız (yirmi birinci yüzyıl). Örnek cümleleri birlikte oku. Sonra her öğrenci ailesinin üç neslini anlatsın: 'Dedem ...'de doğdu, ...'li/'lı yıllarda gençti.'</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100" Type="http://schemas.openxmlformats.org/officeDocument/2006/relationships/image" Target="../media/emoji_23f3.png"/><Relationship Id="rId101" Type="http://schemas.openxmlformats.org/officeDocument/2006/relationships/image" Target="../media/emoji_1f57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100" Type="http://schemas.openxmlformats.org/officeDocument/2006/relationships/image" Target="../media/emoji_1f5c2.png"/><Relationship Id="rId101" Type="http://schemas.openxmlformats.org/officeDocument/2006/relationships/image" Target="../media/emoji_1f5d3.png"/><Relationship Id="rId102" Type="http://schemas.openxmlformats.org/officeDocument/2006/relationships/image" Target="../media/emoji_1f504.png"/><Relationship Id="rId103" Type="http://schemas.openxmlformats.org/officeDocument/2006/relationships/image" Target="../media/emoji_1f64f.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100" Type="http://schemas.openxmlformats.org/officeDocument/2006/relationships/image" Target="../media/emoji_1f57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100" Type="http://schemas.openxmlformats.org/officeDocument/2006/relationships/image" Target="../media/emoji_1f504.png"/><Relationship Id="rId101" Type="http://schemas.openxmlformats.org/officeDocument/2006/relationships/image" Target="../media/emoji_1f3d8.png"/><Relationship Id="rId102" Type="http://schemas.openxmlformats.org/officeDocument/2006/relationships/image" Target="../media/emoji_1f4f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100" Type="http://schemas.openxmlformats.org/officeDocument/2006/relationships/image" Target="../media/emoji_1f9e9.png"/><Relationship Id="rId101" Type="http://schemas.openxmlformats.org/officeDocument/2006/relationships/image" Target="../media/emoji_270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100" Type="http://schemas.openxmlformats.org/officeDocument/2006/relationships/image" Target="../media/emoji_270d.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100" Type="http://schemas.openxmlformats.org/officeDocument/2006/relationships/image" Target="../media/emoji_1f30d.png"/><Relationship Id="rId101" Type="http://schemas.openxmlformats.org/officeDocument/2006/relationships/image" Target="../media/emoji_1f4a1.png"/><Relationship Id="rId102" Type="http://schemas.openxmlformats.org/officeDocument/2006/relationships/image" Target="../media/emoji_1f4d6.png"/><Relationship Id="rId103" Type="http://schemas.openxmlformats.org/officeDocument/2006/relationships/image" Target="../media/emoji_1f372.png"/><Relationship Id="rId104" Type="http://schemas.openxmlformats.org/officeDocument/2006/relationships/image" Target="../media/emoji_1f5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100" Type="http://schemas.openxmlformats.org/officeDocument/2006/relationships/image" Target="../media/emoji_1f3c5.png"/><Relationship Id="rId101" Type="http://schemas.openxmlformats.org/officeDocument/2006/relationships/image" Target="../media/emoji_1f474.png"/><Relationship Id="rId102" Type="http://schemas.openxmlformats.org/officeDocument/2006/relationships/image" Target="../media/emoji_1f4dd.png"/><Relationship Id="rId103" Type="http://schemas.openxmlformats.org/officeDocument/2006/relationships/image" Target="../media/emoji_1f50d.png"/><Relationship Id="rId104" Type="http://schemas.openxmlformats.org/officeDocument/2006/relationships/image" Target="../media/emoji_2696.png"/><Relationship Id="rId105" Type="http://schemas.openxmlformats.org/officeDocument/2006/relationships/image" Target="../media/emoji_1f3af.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100" Type="http://schemas.openxmlformats.org/officeDocument/2006/relationships/image" Target="../media/emoji_23f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98" Type="http://schemas.openxmlformats.org/officeDocument/2006/relationships/notesSlide" Target="../notesSlides/notesSlide10.xml"/><Relationship Id="rId100" Type="http://schemas.openxmlformats.org/officeDocument/2006/relationships/image" Target="../media/emoji_1f570.png"/><Relationship Id="rId101" Type="http://schemas.openxmlformats.org/officeDocument/2006/relationships/image" Target="../media/emoji_1f4a1.png"/><Relationship Id="rId102" Type="http://schemas.openxmlformats.org/officeDocument/2006/relationships/image" Target="../media/emoji_1f9d3.png"/><Relationship Id="rId103" Type="http://schemas.openxmlformats.org/officeDocument/2006/relationships/image" Target="../media/emoji_1f469.png"/><Relationship Id="rId104" Type="http://schemas.openxmlformats.org/officeDocument/2006/relationships/image" Target="../media/emoji_1f9d1.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A2E5A"/>
          </a:solidFill>
          <a:ln/>
        </p:spPr>
      </p:sp>
      <p:sp>
        <p:nvSpPr>
          <p:cNvPr id="3" name="Text 1"/>
          <p:cNvSpPr/>
          <p:nvPr/>
        </p:nvSpPr>
        <p:spPr>
          <a:xfrm>
            <a:off x="274320" y="182880"/>
            <a:ext cx="365760" cy="365760"/>
          </a:xfrm>
          <a:prstGeom prst="rect">
            <a:avLst/>
          </a:prstGeom>
          <a:noFill/>
          <a:ln/>
        </p:spPr>
        <p:txBody>
          <a:bodyPr wrap="square" rtlCol="0" anchor="ctr"/>
          <a:lstStyle/>
          <a:p>
            <a:pPr algn="ctr" indent="0" marL="0">
              <a:buNone/>
            </a:pPr>
            <a:r>
              <a:rPr lang="en-US" sz="1600" dirty="0">
                <a:solidFill>
                  <a:srgbClr val="FBBF24"/>
                </a:solidFill>
              </a:rPr>
              <a:t>★</a:t>
            </a:r>
            <a:endParaRPr lang="en-US" sz="1600" dirty="0"/>
          </a:p>
        </p:txBody>
      </p:sp>
      <p:sp>
        <p:nvSpPr>
          <p:cNvPr id="4" name="Text 2"/>
          <p:cNvSpPr/>
          <p:nvPr/>
        </p:nvSpPr>
        <p:spPr>
          <a:xfrm>
            <a:off x="8321040" y="182880"/>
            <a:ext cx="365760" cy="365760"/>
          </a:xfrm>
          <a:prstGeom prst="rect">
            <a:avLst/>
          </a:prstGeom>
          <a:noFill/>
          <a:ln/>
        </p:spPr>
        <p:txBody>
          <a:bodyPr wrap="square" rtlCol="0" anchor="ctr"/>
          <a:lstStyle/>
          <a:p>
            <a:pPr algn="ctr" indent="0" marL="0">
              <a:buNone/>
            </a:pPr>
            <a:r>
              <a:rPr lang="en-US" sz="1600" dirty="0">
                <a:solidFill>
                  <a:srgbClr val="FBBF24"/>
                </a:solidFill>
              </a:rPr>
              <a:t>★</a:t>
            </a:r>
            <a:endParaRPr lang="en-US" sz="1600" dirty="0"/>
          </a:p>
        </p:txBody>
      </p:sp>
      <p:sp>
        <p:nvSpPr>
          <p:cNvPr id="5" name="Text 3"/>
          <p:cNvSpPr/>
          <p:nvPr/>
        </p:nvSpPr>
        <p:spPr>
          <a:xfrm>
            <a:off x="274320" y="4480560"/>
            <a:ext cx="365760" cy="365760"/>
          </a:xfrm>
          <a:prstGeom prst="rect">
            <a:avLst/>
          </a:prstGeom>
          <a:noFill/>
          <a:ln/>
        </p:spPr>
        <p:txBody>
          <a:bodyPr wrap="square" rtlCol="0" anchor="ctr"/>
          <a:lstStyle/>
          <a:p>
            <a:pPr algn="ctr" indent="0" marL="0">
              <a:buNone/>
            </a:pPr>
            <a:r>
              <a:rPr lang="en-US" sz="1600" dirty="0">
                <a:solidFill>
                  <a:srgbClr val="FBBF24"/>
                </a:solidFill>
              </a:rPr>
              <a:t>★</a:t>
            </a:r>
            <a:endParaRPr lang="en-US" sz="1600" dirty="0"/>
          </a:p>
        </p:txBody>
      </p:sp>
      <p:sp>
        <p:nvSpPr>
          <p:cNvPr id="6" name="Text 4"/>
          <p:cNvSpPr/>
          <p:nvPr/>
        </p:nvSpPr>
        <p:spPr>
          <a:xfrm>
            <a:off x="8321040" y="4480560"/>
            <a:ext cx="365760" cy="365760"/>
          </a:xfrm>
          <a:prstGeom prst="rect">
            <a:avLst/>
          </a:prstGeom>
          <a:noFill/>
          <a:ln/>
        </p:spPr>
        <p:txBody>
          <a:bodyPr wrap="square" rtlCol="0" anchor="ctr"/>
          <a:lstStyle/>
          <a:p>
            <a:pPr algn="ctr" indent="0" marL="0">
              <a:buNone/>
            </a:pPr>
            <a:r>
              <a:rPr lang="en-US" sz="1600" dirty="0">
                <a:solidFill>
                  <a:srgbClr val="FBBF24"/>
                </a:solidFill>
              </a:rPr>
              <a:t>★</a:t>
            </a:r>
            <a:endParaRPr lang="en-US" sz="1600" dirty="0"/>
          </a:p>
        </p:txBody>
      </p:sp>
      <p:sp>
        <p:nvSpPr>
          <p:cNvPr id="7" name="Text 5"/>
          <p:cNvSpPr/>
          <p:nvPr/>
        </p:nvSpPr>
        <p:spPr>
          <a:xfrm>
            <a:off x="1005840" y="4023360"/>
            <a:ext cx="365760" cy="365760"/>
          </a:xfrm>
          <a:prstGeom prst="rect">
            <a:avLst/>
          </a:prstGeom>
          <a:noFill/>
          <a:ln/>
        </p:spPr>
        <p:txBody>
          <a:bodyPr wrap="square" rtlCol="0" anchor="ctr"/>
          <a:lstStyle/>
          <a:p>
            <a:pPr algn="ctr" indent="0" marL="0">
              <a:buNone/>
            </a:pPr>
            <a:r>
              <a:rPr lang="en-US" sz="1600" dirty="0">
                <a:solidFill>
                  <a:srgbClr val="FBBF24"/>
                </a:solidFill>
              </a:rPr>
              <a:t>★</a:t>
            </a:r>
            <a:endParaRPr lang="en-US" sz="1600" dirty="0"/>
          </a:p>
        </p:txBody>
      </p:sp>
      <p:sp>
        <p:nvSpPr>
          <p:cNvPr id="8" name="Text 6"/>
          <p:cNvSpPr/>
          <p:nvPr/>
        </p:nvSpPr>
        <p:spPr>
          <a:xfrm>
            <a:off x="7589520" y="640080"/>
            <a:ext cx="365760" cy="365760"/>
          </a:xfrm>
          <a:prstGeom prst="rect">
            <a:avLst/>
          </a:prstGeom>
          <a:noFill/>
          <a:ln/>
        </p:spPr>
        <p:txBody>
          <a:bodyPr wrap="square" rtlCol="0" anchor="ctr"/>
          <a:lstStyle/>
          <a:p>
            <a:pPr algn="ctr" indent="0" marL="0">
              <a:buNone/>
            </a:pPr>
            <a:r>
              <a:rPr lang="en-US" sz="1600" dirty="0">
                <a:solidFill>
                  <a:srgbClr val="FBBF24"/>
                </a:solidFill>
              </a:rPr>
              <a:t>★</a:t>
            </a:r>
            <a:endParaRPr lang="en-US" sz="1600" dirty="0"/>
          </a:p>
        </p:txBody>
      </p:sp>
      <p:sp>
        <p:nvSpPr>
          <p:cNvPr id="9" name="Shape 7"/>
          <p:cNvSpPr/>
          <p:nvPr/>
        </p:nvSpPr>
        <p:spPr>
          <a:xfrm>
            <a:off x="3886200" y="502920"/>
            <a:ext cx="1371600" cy="1371600"/>
          </a:xfrm>
          <a:prstGeom prst="ellipse">
            <a:avLst/>
          </a:prstGeom>
          <a:solidFill>
            <a:srgbClr val="F97316"/>
          </a:solidFill>
          <a:ln/>
          <a:effectLst>
            <a:outerShdw sx="100000" sy="100000" kx="0" ky="0" algn="bl" rotWithShape="0" blurRad="76200" dist="25400" dir="5400000">
              <a:srgbClr val="1A2E5A">
                <a:alpha val="18000"/>
              </a:srgbClr>
            </a:outerShdw>
          </a:effectLst>
        </p:spPr>
      </p:sp>
      <p:sp>
        <p:nvSpPr>
          <p:cNvPr id="10" name="Text 8"/>
          <p:cNvSpPr/>
          <p:nvPr/>
        </p:nvSpPr>
        <p:spPr>
          <a:xfrm>
            <a:off x="3886200" y="502920"/>
            <a:ext cx="1371600" cy="1371600"/>
          </a:xfrm>
          <a:prstGeom prst="rect">
            <a:avLst/>
          </a:prstGeom>
          <a:noFill/>
          <a:ln/>
        </p:spPr>
        <p:txBody>
          <a:bodyPr wrap="square" rtlCol="0" anchor="ctr"/>
          <a:lstStyle/>
          <a:p>
            <a:pPr algn="ctr" indent="0" marL="0">
              <a:buNone/>
            </a:pPr>
            <a:r>
              <a:rPr lang="en-US" sz="4400" dirty="0">
                <a:solidFill>
                  <a:srgbClr val="000000"/>
                </a:solidFill>
              </a:rPr>
              <a:t xml:space="preserve">    </a:t>
            </a:r>
            <a:endParaRPr lang="en-US" sz="4400" dirty="0"/>
          </a:p>
        </p:txBody>
      </p:sp>
      <p:pic>
        <p:nvPicPr>
          <p:cNvPr id="16" name="Emoji 16" descr="emoji"/>
          <p:cNvPicPr>
            <a:picLocks noChangeAspect="1"/>
          </p:cNvPicPr>
          <p:nvPr/>
        </p:nvPicPr>
        <p:blipFill>
          <a:blip r:embed="rId100"/>
          <a:stretch>
            <a:fillRect/>
          </a:stretch>
        </p:blipFill>
        <p:spPr>
          <a:xfrm>
            <a:off x="4292600" y="909320"/>
            <a:ext cx="558800" cy="558800"/>
          </a:xfrm>
          <a:prstGeom prst="rect">
            <a:avLst/>
          </a:prstGeom>
        </p:spPr>
      </p:pic>
      <p:sp>
        <p:nvSpPr>
          <p:cNvPr id="11" name="Text 9"/>
          <p:cNvSpPr/>
          <p:nvPr/>
        </p:nvSpPr>
        <p:spPr>
          <a:xfrm>
            <a:off x="457200" y="2103120"/>
            <a:ext cx="8229600" cy="640080"/>
          </a:xfrm>
          <a:prstGeom prst="rect">
            <a:avLst/>
          </a:prstGeom>
          <a:noFill/>
          <a:ln/>
        </p:spPr>
        <p:txBody>
          <a:bodyPr wrap="square" rtlCol="0" anchor="ctr"/>
          <a:lstStyle/>
          <a:p>
            <a:pPr algn="ctr" indent="0" marL="0">
              <a:buNone/>
            </a:pPr>
            <a:r>
              <a:rPr lang="en-US" sz="4000" b="1" dirty="0">
                <a:solidFill>
                  <a:srgbClr val="FBBF24"/>
                </a:solidFill>
                <a:latin typeface="Cambria" pitchFamily="34" charset="0"/>
                <a:ea typeface="Cambria" pitchFamily="34" charset="-122"/>
                <a:cs typeface="Cambria" pitchFamily="34" charset="-120"/>
              </a:rPr>
              <a:t>DİL DEDEKTİFİ</a:t>
            </a:r>
            <a:endParaRPr lang="en-US" sz="4000" dirty="0"/>
          </a:p>
        </p:txBody>
      </p:sp>
      <p:sp>
        <p:nvSpPr>
          <p:cNvPr id="12" name="Text 10"/>
          <p:cNvSpPr/>
          <p:nvPr/>
        </p:nvSpPr>
        <p:spPr>
          <a:xfrm>
            <a:off x="457200" y="2697480"/>
            <a:ext cx="8229600" cy="411480"/>
          </a:xfrm>
          <a:prstGeom prst="rect">
            <a:avLst/>
          </a:prstGeom>
          <a:noFill/>
          <a:ln/>
        </p:spPr>
        <p:txBody>
          <a:bodyPr wrap="square"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 xml:space="preserve">İLERİ SEVİYE • 13-16 YAŞ • ESKİDEN VE ŞİMDİ</a:t>
            </a:r>
            <a:endParaRPr lang="en-US" sz="1600" dirty="0"/>
          </a:p>
        </p:txBody>
      </p:sp>
      <p:sp>
        <p:nvSpPr>
          <p:cNvPr id="13" name="Shape 11"/>
          <p:cNvSpPr/>
          <p:nvPr/>
        </p:nvSpPr>
        <p:spPr>
          <a:xfrm>
            <a:off x="2011680" y="3291840"/>
            <a:ext cx="5120640" cy="457200"/>
          </a:xfrm>
          <a:prstGeom prst="roundRect">
            <a:avLst>
              <a:gd name="adj" fmla="val 50000"/>
            </a:avLst>
          </a:prstGeom>
          <a:solidFill>
            <a:srgbClr val="F97316"/>
          </a:solidFill>
          <a:ln/>
        </p:spPr>
      </p:sp>
      <p:sp>
        <p:nvSpPr>
          <p:cNvPr id="14" name="Text 12"/>
          <p:cNvSpPr/>
          <p:nvPr/>
        </p:nvSpPr>
        <p:spPr>
          <a:xfrm>
            <a:off x="2011680" y="3291840"/>
            <a:ext cx="5120640" cy="457200"/>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 xml:space="preserve">     Nesiller Arası Farklar • Toplumsal Dönüşüm • Yaşa Saygı</a:t>
            </a:r>
            <a:endParaRPr lang="en-US" sz="1150" dirty="0"/>
          </a:p>
        </p:txBody>
      </p:sp>
      <p:pic>
        <p:nvPicPr>
          <p:cNvPr id="17" name="Emoji 17" descr="emoji"/>
          <p:cNvPicPr>
            <a:picLocks noChangeAspect="1"/>
          </p:cNvPicPr>
          <p:nvPr/>
        </p:nvPicPr>
        <p:blipFill>
          <a:blip r:embed="rId101"/>
          <a:stretch>
            <a:fillRect/>
          </a:stretch>
        </p:blipFill>
        <p:spPr>
          <a:xfrm>
            <a:off x="2797710" y="3447415"/>
            <a:ext cx="146050" cy="146050"/>
          </a:xfrm>
          <a:prstGeom prst="rect">
            <a:avLst/>
          </a:prstGeom>
        </p:spPr>
      </p:pic>
      <p:sp>
        <p:nvSpPr>
          <p:cNvPr id="15" name="Text 13"/>
          <p:cNvSpPr/>
          <p:nvPr/>
        </p:nvSpPr>
        <p:spPr>
          <a:xfrm>
            <a:off x="457200" y="4114800"/>
            <a:ext cx="8229600" cy="457200"/>
          </a:xfrm>
          <a:prstGeom prst="rect">
            <a:avLst/>
          </a:prstGeom>
          <a:noFill/>
          <a:ln/>
        </p:spPr>
        <p:txBody>
          <a:bodyPr wrap="square" rtlCol="0" anchor="ctr"/>
          <a:lstStyle/>
          <a:p>
            <a:pPr algn="ctr" indent="0" marL="0">
              <a:buNone/>
            </a:pPr>
            <a:r>
              <a:rPr lang="en-US" sz="1400" i="1" dirty="0">
                <a:solidFill>
                  <a:srgbClr val="DBEAFE"/>
                </a:solidFill>
                <a:latin typeface="Calibri" pitchFamily="34" charset="0"/>
                <a:ea typeface="Calibri" pitchFamily="34" charset="-122"/>
                <a:cs typeface="Calibri" pitchFamily="34" charset="-120"/>
              </a:rPr>
              <a:t>Zaman kültürümüzü ve değerlerimizi nasıl dönüştürüyor?</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8FAFC"/>
          </a:solidFill>
          <a:ln/>
        </p:spPr>
      </p:sp>
      <p:sp>
        <p:nvSpPr>
          <p:cNvPr id="3" name="Shape 1"/>
          <p:cNvSpPr/>
          <p:nvPr/>
        </p:nvSpPr>
        <p:spPr>
          <a:xfrm>
            <a:off x="0" y="0"/>
            <a:ext cx="9144000" cy="658368"/>
          </a:xfrm>
          <a:prstGeom prst="rect">
            <a:avLst/>
          </a:prstGeom>
          <a:solidFill>
            <a:srgbClr val="1E293B"/>
          </a:solidFill>
          <a:ln/>
        </p:spPr>
      </p:sp>
      <p:sp>
        <p:nvSpPr>
          <p:cNvPr id="4" name="Text 2"/>
          <p:cNvSpPr/>
          <p:nvPr/>
        </p:nvSpPr>
        <p:spPr>
          <a:xfrm>
            <a:off x="365760" y="0"/>
            <a:ext cx="8412480" cy="658368"/>
          </a:xfrm>
          <a:prstGeom prst="rect">
            <a:avLst/>
          </a:prstGeom>
          <a:noFill/>
          <a:ln/>
        </p:spPr>
        <p:txBody>
          <a:bodyPr wrap="square" rtlCol="0" anchor="ctr"/>
          <a:lstStyle/>
          <a:p>
            <a:pPr algn="l" indent="0" marL="0">
              <a:buNone/>
            </a:pPr>
            <a:r>
              <a:rPr lang="en-US" sz="1700" b="1" dirty="0">
                <a:solidFill>
                  <a:srgbClr val="FFFFFF"/>
                </a:solidFill>
                <a:latin typeface="Cambria" pitchFamily="34" charset="0"/>
                <a:ea typeface="Cambria" pitchFamily="34" charset="-122"/>
                <a:cs typeface="Cambria" pitchFamily="34" charset="-120"/>
              </a:rPr>
              <a:t xml:space="preserve">      GÖREV RAPORUMUZ</a:t>
            </a:r>
            <a:endParaRPr lang="en-US" sz="1700" dirty="0"/>
          </a:p>
        </p:txBody>
      </p:sp>
      <p:pic>
        <p:nvPicPr>
          <p:cNvPr id="18" name="Emoji 18" descr="emoji"/>
          <p:cNvPicPr>
            <a:picLocks noChangeAspect="1"/>
          </p:cNvPicPr>
          <p:nvPr/>
        </p:nvPicPr>
        <p:blipFill>
          <a:blip r:embed="rId100"/>
          <a:stretch>
            <a:fillRect/>
          </a:stretch>
        </p:blipFill>
        <p:spPr>
          <a:xfrm>
            <a:off x="444246" y="221234"/>
            <a:ext cx="215900" cy="215900"/>
          </a:xfrm>
          <a:prstGeom prst="rect">
            <a:avLst/>
          </a:prstGeom>
        </p:spPr>
      </p:pic>
      <p:sp>
        <p:nvSpPr>
          <p:cNvPr id="17" name="Text 17"/>
          <p:cNvSpPr txBox="1"/>
          <p:nvPr/>
        </p:nvSpPr>
        <p:spPr>
          <a:xfrm>
            <a:off x="548640" y="694944"/>
            <a:ext cx="8046720" cy="283464"/>
          </a:xfrm>
          <a:prstGeom prst="rect">
            <a:avLst/>
          </a:prstGeom>
          <a:noFill/>
          <a:ln/>
        </p:spPr>
        <p:txBody>
          <a:bodyPr wrap="square" rtlCol="0" anchor="ctr"/>
          <a:lstStyle/>
          <a:p>
            <a:pPr marL="0" indent="0" algn="r">
              <a:buNone/>
            </a:pPr>
            <a:r>
              <a:rPr lang="tr-TR" sz="1000" dirty="0">
                <a:solidFill>
                  <a:srgbClr val="94A3B8"/>
                </a:solidFill>
                <a:latin typeface="Calibri" pitchFamily="34" charset="0"/>
                <a:ea typeface="Calibri" pitchFamily="34" charset="-122"/>
                <a:cs typeface="Calibri" pitchFamily="34" charset="-120"/>
              </a:rPr>
              <a:t xml:space="preserve">2026 TTKD Öğretim Programı — 5. Seviye: 1C2, 4B1, 6A2; 6. Seviye: 2C1; 7. Seviye: 1A1, 2B2, 2C1, 5B3</a:t>
            </a:r>
          </a:p>
        </p:txBody>
      </p:sp>
      <p:sp>
        <p:nvSpPr>
          <p:cNvPr id="5" name="Shape 3"/>
          <p:cNvSpPr/>
          <p:nvPr/>
        </p:nvSpPr>
        <p:spPr>
          <a:xfrm>
            <a:off x="548640" y="1051560"/>
            <a:ext cx="8046720" cy="1051560"/>
          </a:xfrm>
          <a:prstGeom prst="roundRect">
            <a:avLst>
              <a:gd name="adj" fmla="val 10435"/>
            </a:avLst>
          </a:prstGeom>
          <a:solidFill>
            <a:srgbClr val="FFFFFF"/>
          </a:solidFill>
          <a:ln w="12700">
            <a:solidFill>
              <a:srgbClr val="FFFFFF"/>
            </a:solidFill>
            <a:prstDash val="solid"/>
          </a:ln>
          <a:effectLst>
            <a:outerShdw sx="100000" sy="100000" kx="0" ky="0" algn="bl" rotWithShape="0" blurRad="76200" dist="25400" dir="5400000">
              <a:srgbClr val="1A2E5A">
                <a:alpha val="18000"/>
              </a:srgbClr>
            </a:outerShdw>
          </a:effectLst>
        </p:spPr>
      </p:sp>
      <p:sp>
        <p:nvSpPr>
          <p:cNvPr id="6" name="Shape 4"/>
          <p:cNvSpPr/>
          <p:nvPr/>
        </p:nvSpPr>
        <p:spPr>
          <a:xfrm>
            <a:off x="822960" y="1307592"/>
            <a:ext cx="548640" cy="548640"/>
          </a:xfrm>
          <a:prstGeom prst="ellipse">
            <a:avLst/>
          </a:prstGeom>
          <a:solidFill>
            <a:srgbClr val="F97316"/>
          </a:solidFill>
          <a:ln/>
        </p:spPr>
      </p:sp>
      <p:sp>
        <p:nvSpPr>
          <p:cNvPr id="7" name="Text 5"/>
          <p:cNvSpPr/>
          <p:nvPr/>
        </p:nvSpPr>
        <p:spPr>
          <a:xfrm>
            <a:off x="822960" y="1307592"/>
            <a:ext cx="548640" cy="548640"/>
          </a:xfrm>
          <a:prstGeom prst="rect">
            <a:avLst/>
          </a:prstGeom>
          <a:noFill/>
          <a:ln/>
        </p:spPr>
        <p:txBody>
          <a:bodyPr wrap="square" rtlCol="0" anchor="ctr"/>
          <a:lstStyle/>
          <a:p>
            <a:pPr algn="ctr" indent="0" marL="0">
              <a:buNone/>
            </a:pPr>
            <a:r>
              <a:rPr lang="en-US" sz="2200" dirty="0">
                <a:solidFill>
                  <a:srgbClr val="000000"/>
                </a:solidFill>
              </a:rPr>
              <a:t xml:space="preserve">    </a:t>
            </a:r>
            <a:endParaRPr lang="en-US" sz="2200" dirty="0"/>
          </a:p>
        </p:txBody>
      </p:sp>
      <p:pic>
        <p:nvPicPr>
          <p:cNvPr id="19" name="Emoji 19" descr="emoji"/>
          <p:cNvPicPr>
            <a:picLocks noChangeAspect="1"/>
          </p:cNvPicPr>
          <p:nvPr/>
        </p:nvPicPr>
        <p:blipFill>
          <a:blip r:embed="rId101"/>
          <a:stretch>
            <a:fillRect/>
          </a:stretch>
        </p:blipFill>
        <p:spPr>
          <a:xfrm>
            <a:off x="957580" y="1442212"/>
            <a:ext cx="279400" cy="279400"/>
          </a:xfrm>
          <a:prstGeom prst="rect">
            <a:avLst/>
          </a:prstGeom>
        </p:spPr>
      </p:pic>
      <p:sp>
        <p:nvSpPr>
          <p:cNvPr id="8" name="Text 6"/>
          <p:cNvSpPr/>
          <p:nvPr/>
        </p:nvSpPr>
        <p:spPr>
          <a:xfrm>
            <a:off x="1600200" y="1051560"/>
            <a:ext cx="6766560" cy="1051560"/>
          </a:xfrm>
          <a:prstGeom prst="rect">
            <a:avLst/>
          </a:prstGeom>
          <a:noFill/>
          <a:ln/>
        </p:spPr>
        <p:txBody>
          <a:bodyPr wrap="square" rtlCol="0" anchor="ctr"/>
          <a:lstStyle/>
          <a:p>
            <a:pPr algn="l" indent="0" marL="0">
              <a:buNone/>
            </a:pPr>
            <a:r>
              <a:rPr lang="en-US" sz="1450" b="1" dirty="0">
                <a:solidFill>
                  <a:srgbClr val="1E293B"/>
                </a:solidFill>
                <a:latin typeface="Calibri" pitchFamily="34" charset="0"/>
                <a:ea typeface="Calibri" pitchFamily="34" charset="-122"/>
                <a:cs typeface="Calibri" pitchFamily="34" charset="-120"/>
              </a:rPr>
              <a:t xml:space="preserve">1. Ailemizin nesillerini onlu yıllar ve yüzyıllarla anlatacağız: “Seksenli yıllarda…”</a:t>
            </a:r>
            <a:endParaRPr lang="en-US" sz="1450" dirty="0"/>
          </a:p>
        </p:txBody>
      </p:sp>
      <p:sp>
        <p:nvSpPr>
          <p:cNvPr id="9" name="Shape 7"/>
          <p:cNvSpPr/>
          <p:nvPr/>
        </p:nvSpPr>
        <p:spPr>
          <a:xfrm>
            <a:off x="548640" y="2286000"/>
            <a:ext cx="8046720" cy="1051560"/>
          </a:xfrm>
          <a:prstGeom prst="roundRect">
            <a:avLst>
              <a:gd name="adj" fmla="val 10435"/>
            </a:avLst>
          </a:prstGeom>
          <a:solidFill>
            <a:srgbClr val="FFFFFF"/>
          </a:solidFill>
          <a:ln w="12700">
            <a:solidFill>
              <a:srgbClr val="FFFFFF"/>
            </a:solidFill>
            <a:prstDash val="solid"/>
          </a:ln>
          <a:effectLst>
            <a:outerShdw sx="100000" sy="100000" kx="0" ky="0" algn="bl" rotWithShape="0" blurRad="76200" dist="25400" dir="5400000">
              <a:srgbClr val="1A2E5A">
                <a:alpha val="18000"/>
              </a:srgbClr>
            </a:outerShdw>
          </a:effectLst>
        </p:spPr>
      </p:sp>
      <p:sp>
        <p:nvSpPr>
          <p:cNvPr id="10" name="Shape 8"/>
          <p:cNvSpPr/>
          <p:nvPr/>
        </p:nvSpPr>
        <p:spPr>
          <a:xfrm>
            <a:off x="822960" y="2542032"/>
            <a:ext cx="548640" cy="548640"/>
          </a:xfrm>
          <a:prstGeom prst="ellipse">
            <a:avLst/>
          </a:prstGeom>
          <a:solidFill>
            <a:srgbClr val="2563EB"/>
          </a:solidFill>
          <a:ln/>
        </p:spPr>
      </p:sp>
      <p:sp>
        <p:nvSpPr>
          <p:cNvPr id="11" name="Text 9"/>
          <p:cNvSpPr/>
          <p:nvPr/>
        </p:nvSpPr>
        <p:spPr>
          <a:xfrm>
            <a:off x="822960" y="2542032"/>
            <a:ext cx="548640" cy="548640"/>
          </a:xfrm>
          <a:prstGeom prst="rect">
            <a:avLst/>
          </a:prstGeom>
          <a:noFill/>
          <a:ln/>
        </p:spPr>
        <p:txBody>
          <a:bodyPr wrap="square" rtlCol="0" anchor="ctr"/>
          <a:lstStyle/>
          <a:p>
            <a:pPr algn="ctr" indent="0" marL="0">
              <a:buNone/>
            </a:pPr>
            <a:r>
              <a:rPr lang="en-US" sz="2200" dirty="0">
                <a:solidFill>
                  <a:srgbClr val="000000"/>
                </a:solidFill>
              </a:rPr>
              <a:t xml:space="preserve">    </a:t>
            </a:r>
            <a:endParaRPr lang="en-US" sz="2200" dirty="0"/>
          </a:p>
        </p:txBody>
      </p:sp>
      <p:pic>
        <p:nvPicPr>
          <p:cNvPr id="20" name="Emoji 20" descr="emoji"/>
          <p:cNvPicPr>
            <a:picLocks noChangeAspect="1"/>
          </p:cNvPicPr>
          <p:nvPr/>
        </p:nvPicPr>
        <p:blipFill>
          <a:blip r:embed="rId102"/>
          <a:stretch>
            <a:fillRect/>
          </a:stretch>
        </p:blipFill>
        <p:spPr>
          <a:xfrm>
            <a:off x="957580" y="2676652"/>
            <a:ext cx="279400" cy="279400"/>
          </a:xfrm>
          <a:prstGeom prst="rect">
            <a:avLst/>
          </a:prstGeom>
        </p:spPr>
      </p:pic>
      <p:sp>
        <p:nvSpPr>
          <p:cNvPr id="12" name="Text 10"/>
          <p:cNvSpPr/>
          <p:nvPr/>
        </p:nvSpPr>
        <p:spPr>
          <a:xfrm>
            <a:off x="1600200" y="2286000"/>
            <a:ext cx="6766560" cy="1051560"/>
          </a:xfrm>
          <a:prstGeom prst="rect">
            <a:avLst/>
          </a:prstGeom>
          <a:noFill/>
          <a:ln/>
        </p:spPr>
        <p:txBody>
          <a:bodyPr wrap="square" rtlCol="0" anchor="ctr"/>
          <a:lstStyle/>
          <a:p>
            <a:pPr algn="l" indent="0" marL="0">
              <a:buNone/>
            </a:pPr>
            <a:r>
              <a:rPr lang="en-US" sz="1450" b="1" dirty="0">
                <a:solidFill>
                  <a:srgbClr val="1E293B"/>
                </a:solidFill>
                <a:latin typeface="Calibri" pitchFamily="34" charset="0"/>
                <a:ea typeface="Calibri" pitchFamily="34" charset="-122"/>
                <a:cs typeface="Calibri" pitchFamily="34" charset="-120"/>
              </a:rPr>
              <a:t xml:space="preserve">2. “Eskiden …, oysa şimdi …” yapılarıyla yaşam tarzlarındaki değişimi karşılaştıracağız.</a:t>
            </a:r>
            <a:endParaRPr lang="en-US" sz="1450" dirty="0"/>
          </a:p>
        </p:txBody>
      </p:sp>
      <p:sp>
        <p:nvSpPr>
          <p:cNvPr id="13" name="Shape 11"/>
          <p:cNvSpPr/>
          <p:nvPr/>
        </p:nvSpPr>
        <p:spPr>
          <a:xfrm>
            <a:off x="548640" y="3520440"/>
            <a:ext cx="8046720" cy="1051560"/>
          </a:xfrm>
          <a:prstGeom prst="roundRect">
            <a:avLst>
              <a:gd name="adj" fmla="val 10435"/>
            </a:avLst>
          </a:prstGeom>
          <a:solidFill>
            <a:srgbClr val="FFFFFF"/>
          </a:solidFill>
          <a:ln w="12700">
            <a:solidFill>
              <a:srgbClr val="FFFFFF"/>
            </a:solidFill>
            <a:prstDash val="solid"/>
          </a:ln>
          <a:effectLst>
            <a:outerShdw sx="100000" sy="100000" kx="0" ky="0" algn="bl" rotWithShape="0" blurRad="76200" dist="25400" dir="5400000">
              <a:srgbClr val="1A2E5A">
                <a:alpha val="18000"/>
              </a:srgbClr>
            </a:outerShdw>
          </a:effectLst>
        </p:spPr>
      </p:sp>
      <p:sp>
        <p:nvSpPr>
          <p:cNvPr id="14" name="Shape 12"/>
          <p:cNvSpPr/>
          <p:nvPr/>
        </p:nvSpPr>
        <p:spPr>
          <a:xfrm>
            <a:off x="822960" y="3776472"/>
            <a:ext cx="548640" cy="548640"/>
          </a:xfrm>
          <a:prstGeom prst="ellipse">
            <a:avLst/>
          </a:prstGeom>
          <a:solidFill>
            <a:srgbClr val="7C3AED"/>
          </a:solidFill>
          <a:ln/>
        </p:spPr>
      </p:sp>
      <p:sp>
        <p:nvSpPr>
          <p:cNvPr id="15" name="Text 13"/>
          <p:cNvSpPr/>
          <p:nvPr/>
        </p:nvSpPr>
        <p:spPr>
          <a:xfrm>
            <a:off x="822960" y="3776472"/>
            <a:ext cx="548640" cy="548640"/>
          </a:xfrm>
          <a:prstGeom prst="rect">
            <a:avLst/>
          </a:prstGeom>
          <a:noFill/>
          <a:ln/>
        </p:spPr>
        <p:txBody>
          <a:bodyPr wrap="square" rtlCol="0" anchor="ctr"/>
          <a:lstStyle/>
          <a:p>
            <a:pPr algn="ctr" indent="0" marL="0">
              <a:buNone/>
            </a:pPr>
            <a:r>
              <a:rPr lang="en-US" sz="2200" dirty="0">
                <a:solidFill>
                  <a:srgbClr val="000000"/>
                </a:solidFill>
              </a:rPr>
              <a:t xml:space="preserve">    </a:t>
            </a:r>
            <a:endParaRPr lang="en-US" sz="2200" dirty="0"/>
          </a:p>
        </p:txBody>
      </p:sp>
      <p:pic>
        <p:nvPicPr>
          <p:cNvPr id="21" name="Emoji 21" descr="emoji"/>
          <p:cNvPicPr>
            <a:picLocks noChangeAspect="1"/>
          </p:cNvPicPr>
          <p:nvPr/>
        </p:nvPicPr>
        <p:blipFill>
          <a:blip r:embed="rId103"/>
          <a:stretch>
            <a:fillRect/>
          </a:stretch>
        </p:blipFill>
        <p:spPr>
          <a:xfrm>
            <a:off x="957580" y="3911092"/>
            <a:ext cx="279400" cy="279400"/>
          </a:xfrm>
          <a:prstGeom prst="rect">
            <a:avLst/>
          </a:prstGeom>
        </p:spPr>
      </p:pic>
      <p:sp>
        <p:nvSpPr>
          <p:cNvPr id="16" name="Text 14"/>
          <p:cNvSpPr/>
          <p:nvPr/>
        </p:nvSpPr>
        <p:spPr>
          <a:xfrm>
            <a:off x="1600200" y="3520440"/>
            <a:ext cx="6766560" cy="1051560"/>
          </a:xfrm>
          <a:prstGeom prst="rect">
            <a:avLst/>
          </a:prstGeom>
          <a:noFill/>
          <a:ln/>
        </p:spPr>
        <p:txBody>
          <a:bodyPr wrap="square" rtlCol="0" anchor="ctr"/>
          <a:lstStyle/>
          <a:p>
            <a:pPr algn="l" indent="0" marL="0">
              <a:buNone/>
            </a:pPr>
            <a:r>
              <a:rPr lang="en-US" sz="1450" b="1" dirty="0">
                <a:solidFill>
                  <a:srgbClr val="1E293B"/>
                </a:solidFill>
                <a:latin typeface="Calibri" pitchFamily="34" charset="0"/>
                <a:ea typeface="Calibri" pitchFamily="34" charset="-122"/>
                <a:cs typeface="Calibri" pitchFamily="34" charset="-120"/>
              </a:rPr>
              <a:t xml:space="preserve">3. Yaşa saygının ve hitap kültürünün nesilden nesile nasıl aktarıldığını tartışacağız.</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7ED"/>
          </a:solidFill>
          <a:ln/>
        </p:spPr>
      </p:sp>
      <p:sp>
        <p:nvSpPr>
          <p:cNvPr id="3" name="Shape 1"/>
          <p:cNvSpPr/>
          <p:nvPr/>
        </p:nvSpPr>
        <p:spPr>
          <a:xfrm>
            <a:off x="0" y="0"/>
            <a:ext cx="9144000" cy="658368"/>
          </a:xfrm>
          <a:prstGeom prst="rect">
            <a:avLst/>
          </a:prstGeom>
          <a:solidFill>
            <a:srgbClr val="F97316"/>
          </a:solidFill>
          <a:ln/>
        </p:spPr>
      </p:sp>
      <p:sp>
        <p:nvSpPr>
          <p:cNvPr id="4" name="Text 2"/>
          <p:cNvSpPr/>
          <p:nvPr/>
        </p:nvSpPr>
        <p:spPr>
          <a:xfrm>
            <a:off x="365760" y="0"/>
            <a:ext cx="8412480" cy="658368"/>
          </a:xfrm>
          <a:prstGeom prst="rect">
            <a:avLst/>
          </a:prstGeom>
          <a:noFill/>
          <a:ln/>
        </p:spPr>
        <p:txBody>
          <a:bodyPr wrap="square" rtlCol="0" anchor="ctr"/>
          <a:lstStyle/>
          <a:p>
            <a:pPr algn="l" indent="0" marL="0">
              <a:buNone/>
            </a:pPr>
            <a:r>
              <a:rPr lang="en-US" sz="1700" b="1" dirty="0">
                <a:solidFill>
                  <a:srgbClr val="FFFFFF"/>
                </a:solidFill>
                <a:latin typeface="Cambria" pitchFamily="34" charset="0"/>
                <a:ea typeface="Cambria" pitchFamily="34" charset="-122"/>
                <a:cs typeface="Cambria" pitchFamily="34" charset="-120"/>
              </a:rPr>
              <a:t xml:space="preserve">      KUŞAKLAR ARASI SAYGI NASIL DÖNÜŞÜYOR?</a:t>
            </a:r>
            <a:endParaRPr lang="en-US" sz="1700" dirty="0"/>
          </a:p>
        </p:txBody>
      </p:sp>
      <p:pic>
        <p:nvPicPr>
          <p:cNvPr id="10" name="Emoji 10" descr="emoji"/>
          <p:cNvPicPr>
            <a:picLocks noChangeAspect="1"/>
          </p:cNvPicPr>
          <p:nvPr/>
        </p:nvPicPr>
        <p:blipFill>
          <a:blip r:embed="rId100"/>
          <a:stretch>
            <a:fillRect/>
          </a:stretch>
        </p:blipFill>
        <p:spPr>
          <a:xfrm>
            <a:off x="444246" y="221234"/>
            <a:ext cx="215900" cy="215900"/>
          </a:xfrm>
          <a:prstGeom prst="rect">
            <a:avLst/>
          </a:prstGeom>
        </p:spPr>
      </p:pic>
      <p:sp>
        <p:nvSpPr>
          <p:cNvPr id="5" name="Shape 3"/>
          <p:cNvSpPr/>
          <p:nvPr/>
        </p:nvSpPr>
        <p:spPr>
          <a:xfrm>
            <a:off x="548640" y="914400"/>
            <a:ext cx="8046720" cy="1371600"/>
          </a:xfrm>
          <a:prstGeom prst="roundRect">
            <a:avLst>
              <a:gd name="adj" fmla="val 8000"/>
            </a:avLst>
          </a:prstGeom>
          <a:solidFill>
            <a:srgbClr val="FFFFFF"/>
          </a:solidFill>
          <a:ln w="12700">
            <a:solidFill>
              <a:srgbClr val="FFFFFF"/>
            </a:solidFill>
            <a:prstDash val="solid"/>
          </a:ln>
          <a:effectLst>
            <a:outerShdw sx="100000" sy="100000" kx="0" ky="0" algn="bl" rotWithShape="0" blurRad="76200" dist="25400" dir="5400000">
              <a:srgbClr val="1A2E5A">
                <a:alpha val="18000"/>
              </a:srgbClr>
            </a:outerShdw>
          </a:effectLst>
        </p:spPr>
      </p:sp>
      <p:sp>
        <p:nvSpPr>
          <p:cNvPr id="6" name="Text 4"/>
          <p:cNvSpPr/>
          <p:nvPr/>
        </p:nvSpPr>
        <p:spPr>
          <a:xfrm>
            <a:off x="822960" y="914400"/>
            <a:ext cx="7498080" cy="1371600"/>
          </a:xfrm>
          <a:prstGeom prst="rect">
            <a:avLst/>
          </a:prstGeom>
          <a:noFill/>
          <a:ln/>
        </p:spPr>
        <p:txBody>
          <a:bodyPr wrap="square" rtlCol="0" anchor="ctr"/>
          <a:lstStyle/>
          <a:p>
            <a:pPr algn="ctr" indent="0" marL="0">
              <a:buNone/>
            </a:pPr>
            <a:r>
              <a:rPr lang="en-US" sz="1700" b="1" dirty="0">
                <a:solidFill>
                  <a:srgbClr val="F97316"/>
                </a:solidFill>
                <a:latin typeface="Cambria" pitchFamily="34" charset="0"/>
                <a:ea typeface="Cambria" pitchFamily="34" charset="-122"/>
                <a:cs typeface="Cambria" pitchFamily="34" charset="-120"/>
              </a:rPr>
              <a:t>Günümüzde, özellikle sosyal medya çağında gençler büyüklere hâlâ aynı geleneksel saygıyı gösteriyor mu?</a:t>
            </a:r>
            <a:endParaRPr lang="en-US" sz="1700" dirty="0"/>
          </a:p>
        </p:txBody>
      </p:sp>
      <p:sp>
        <p:nvSpPr>
          <p:cNvPr id="7" name="Shape 5"/>
          <p:cNvSpPr/>
          <p:nvPr/>
        </p:nvSpPr>
        <p:spPr>
          <a:xfrm>
            <a:off x="548640" y="2423160"/>
            <a:ext cx="8046720" cy="1280160"/>
          </a:xfrm>
          <a:prstGeom prst="roundRect">
            <a:avLst>
              <a:gd name="adj" fmla="val 8571"/>
            </a:avLst>
          </a:prstGeom>
          <a:solidFill>
            <a:srgbClr val="FFFFFF"/>
          </a:solidFill>
          <a:ln w="12700">
            <a:solidFill>
              <a:srgbClr val="FFEDD5"/>
            </a:solidFill>
            <a:prstDash val="solid"/>
          </a:ln>
        </p:spPr>
      </p:sp>
      <p:sp>
        <p:nvSpPr>
          <p:cNvPr id="8" name="Text 6"/>
          <p:cNvSpPr/>
          <p:nvPr/>
        </p:nvSpPr>
        <p:spPr>
          <a:xfrm>
            <a:off x="822960" y="2423160"/>
            <a:ext cx="7498080" cy="1280160"/>
          </a:xfrm>
          <a:prstGeom prst="rect">
            <a:avLst/>
          </a:prstGeom>
          <a:noFill/>
          <a:ln/>
        </p:spPr>
        <p:txBody>
          <a:bodyPr wrap="square" rtlCol="0" anchor="ctr"/>
          <a:lstStyle/>
          <a:p>
            <a:pPr algn="ctr" indent="0" marL="0">
              <a:buNone/>
            </a:pPr>
            <a:r>
              <a:rPr lang="en-US" sz="1500" dirty="0">
                <a:solidFill>
                  <a:srgbClr val="1E293B"/>
                </a:solidFill>
                <a:latin typeface="Calibri" pitchFamily="34" charset="0"/>
                <a:ea typeface="Calibri" pitchFamily="34" charset="-122"/>
                <a:cs typeface="Calibri" pitchFamily="34" charset="-120"/>
              </a:rPr>
              <a:t>“Abi/Abla” demek ile büyüklere doğrudan ismiyle seslenmek arasında ne tür bir zihniyet farkı var?</a:t>
            </a:r>
            <a:endParaRPr lang="en-US" sz="1500" dirty="0"/>
          </a:p>
        </p:txBody>
      </p:sp>
      <p:sp>
        <p:nvSpPr>
          <p:cNvPr id="9" name="Text 7"/>
          <p:cNvSpPr/>
          <p:nvPr/>
        </p:nvSpPr>
        <p:spPr>
          <a:xfrm>
            <a:off x="457200" y="3886200"/>
            <a:ext cx="8229600" cy="457200"/>
          </a:xfrm>
          <a:prstGeom prst="rect">
            <a:avLst/>
          </a:prstGeom>
          <a:noFill/>
          <a:ln/>
        </p:spPr>
        <p:txBody>
          <a:bodyPr wrap="square" rtlCol="0" anchor="ctr"/>
          <a:lstStyle/>
          <a:p>
            <a:pPr algn="ctr" indent="0" marL="0">
              <a:buNone/>
            </a:pPr>
            <a:r>
              <a:rPr lang="en-US" sz="1300" i="1" dirty="0">
                <a:solidFill>
                  <a:srgbClr val="1A2E5A"/>
                </a:solidFill>
                <a:latin typeface="Calibri" pitchFamily="34" charset="0"/>
                <a:ea typeface="Calibri" pitchFamily="34" charset="-122"/>
                <a:cs typeface="Calibri" pitchFamily="34" charset="-120"/>
              </a:rPr>
              <a:t xml:space="preserve">Dilimiz ve ilişki biçimlerimiz daha mı bireysel hâle geldi? Bunun iyi ve zor yanları neler?</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sp>
        <p:nvSpPr>
          <p:cNvPr id="3" name="Shape 1"/>
          <p:cNvSpPr/>
          <p:nvPr/>
        </p:nvSpPr>
        <p:spPr>
          <a:xfrm>
            <a:off x="0" y="0"/>
            <a:ext cx="9144000" cy="658368"/>
          </a:xfrm>
          <a:prstGeom prst="rect">
            <a:avLst/>
          </a:prstGeom>
          <a:solidFill>
            <a:srgbClr val="2563EB"/>
          </a:solidFill>
          <a:ln/>
        </p:spPr>
      </p:sp>
      <p:sp>
        <p:nvSpPr>
          <p:cNvPr id="4" name="Text 2"/>
          <p:cNvSpPr/>
          <p:nvPr/>
        </p:nvSpPr>
        <p:spPr>
          <a:xfrm>
            <a:off x="365760" y="0"/>
            <a:ext cx="8412480" cy="658368"/>
          </a:xfrm>
          <a:prstGeom prst="rect">
            <a:avLst/>
          </a:prstGeom>
          <a:noFill/>
          <a:ln/>
        </p:spPr>
        <p:txBody>
          <a:bodyPr wrap="square" rtlCol="0" anchor="ctr"/>
          <a:lstStyle/>
          <a:p>
            <a:pPr algn="l" indent="0" marL="0">
              <a:buNone/>
            </a:pPr>
            <a:r>
              <a:rPr lang="en-US" sz="1700" b="1" dirty="0">
                <a:solidFill>
                  <a:srgbClr val="FFFFFF"/>
                </a:solidFill>
                <a:latin typeface="Cambria" pitchFamily="34" charset="0"/>
                <a:ea typeface="Cambria" pitchFamily="34" charset="-122"/>
                <a:cs typeface="Cambria" pitchFamily="34" charset="-120"/>
              </a:rPr>
              <a:t xml:space="preserve">      ESKİDEN VE ŞİMDİ: TOPLUMSAL DÖNÜŞÜM</a:t>
            </a:r>
            <a:endParaRPr lang="en-US" sz="1700" dirty="0"/>
          </a:p>
        </p:txBody>
      </p:sp>
      <p:pic>
        <p:nvPicPr>
          <p:cNvPr id="15" name="Emoji 15" descr="emoji"/>
          <p:cNvPicPr>
            <a:picLocks noChangeAspect="1"/>
          </p:cNvPicPr>
          <p:nvPr/>
        </p:nvPicPr>
        <p:blipFill>
          <a:blip r:embed="rId100"/>
          <a:stretch>
            <a:fillRect/>
          </a:stretch>
        </p:blipFill>
        <p:spPr>
          <a:xfrm>
            <a:off x="444246" y="221234"/>
            <a:ext cx="215900" cy="215900"/>
          </a:xfrm>
          <a:prstGeom prst="rect">
            <a:avLst/>
          </a:prstGeom>
        </p:spPr>
      </p:pic>
      <p:sp>
        <p:nvSpPr>
          <p:cNvPr id="5" name="Shape 3"/>
          <p:cNvSpPr/>
          <p:nvPr/>
        </p:nvSpPr>
        <p:spPr>
          <a:xfrm>
            <a:off x="548640" y="914400"/>
            <a:ext cx="3931920" cy="2468880"/>
          </a:xfrm>
          <a:prstGeom prst="roundRect">
            <a:avLst>
              <a:gd name="adj" fmla="val 4444"/>
            </a:avLst>
          </a:prstGeom>
          <a:solidFill>
            <a:srgbClr val="FFEDD5"/>
          </a:solidFill>
          <a:ln w="12700">
            <a:solidFill>
              <a:srgbClr val="FFFFFF"/>
            </a:solidFill>
            <a:prstDash val="solid"/>
          </a:ln>
        </p:spPr>
      </p:sp>
      <p:sp>
        <p:nvSpPr>
          <p:cNvPr id="6" name="Text 4"/>
          <p:cNvSpPr/>
          <p:nvPr/>
        </p:nvSpPr>
        <p:spPr>
          <a:xfrm>
            <a:off x="548640" y="1051560"/>
            <a:ext cx="3931920" cy="777240"/>
          </a:xfrm>
          <a:prstGeom prst="rect">
            <a:avLst/>
          </a:prstGeom>
          <a:noFill/>
          <a:ln/>
        </p:spPr>
        <p:txBody>
          <a:bodyPr wrap="square" rtlCol="0" anchor="ctr"/>
          <a:lstStyle/>
          <a:p>
            <a:pPr algn="ctr" indent="0" marL="0">
              <a:buNone/>
            </a:pPr>
            <a:r>
              <a:rPr lang="en-US" sz="3600" dirty="0">
                <a:solidFill>
                  <a:srgbClr val="000000"/>
                </a:solidFill>
              </a:rPr>
              <a:t xml:space="preserve">    </a:t>
            </a:r>
            <a:endParaRPr lang="en-US" sz="3600" dirty="0"/>
          </a:p>
        </p:txBody>
      </p:sp>
      <p:pic>
        <p:nvPicPr>
          <p:cNvPr id="16" name="Emoji 16" descr="emoji"/>
          <p:cNvPicPr>
            <a:picLocks noChangeAspect="1"/>
          </p:cNvPicPr>
          <p:nvPr/>
        </p:nvPicPr>
        <p:blipFill>
          <a:blip r:embed="rId101"/>
          <a:stretch>
            <a:fillRect/>
          </a:stretch>
        </p:blipFill>
        <p:spPr>
          <a:xfrm>
            <a:off x="2286000" y="1211580"/>
            <a:ext cx="457200" cy="457200"/>
          </a:xfrm>
          <a:prstGeom prst="rect">
            <a:avLst/>
          </a:prstGeom>
        </p:spPr>
      </p:pic>
      <p:sp>
        <p:nvSpPr>
          <p:cNvPr id="7" name="Text 5"/>
          <p:cNvSpPr/>
          <p:nvPr/>
        </p:nvSpPr>
        <p:spPr>
          <a:xfrm>
            <a:off x="685800" y="1828800"/>
            <a:ext cx="3657600" cy="365760"/>
          </a:xfrm>
          <a:prstGeom prst="rect">
            <a:avLst/>
          </a:prstGeom>
          <a:noFill/>
          <a:ln/>
        </p:spPr>
        <p:txBody>
          <a:bodyPr wrap="square" rtlCol="0" anchor="ctr"/>
          <a:lstStyle/>
          <a:p>
            <a:pPr algn="ctr" indent="0" marL="0">
              <a:buNone/>
            </a:pPr>
            <a:r>
              <a:rPr lang="en-US" sz="1500" b="1" dirty="0">
                <a:solidFill>
                  <a:srgbClr val="F59E0B"/>
                </a:solidFill>
                <a:latin typeface="Calibri" pitchFamily="34" charset="0"/>
                <a:ea typeface="Calibri" pitchFamily="34" charset="-122"/>
                <a:cs typeface="Calibri" pitchFamily="34" charset="-120"/>
              </a:rPr>
              <a:t>Eskiden</a:t>
            </a:r>
            <a:endParaRPr lang="en-US" sz="1500" dirty="0"/>
          </a:p>
        </p:txBody>
      </p:sp>
      <p:sp>
        <p:nvSpPr>
          <p:cNvPr id="8" name="Text 6"/>
          <p:cNvSpPr/>
          <p:nvPr/>
        </p:nvSpPr>
        <p:spPr>
          <a:xfrm>
            <a:off x="731520" y="2194560"/>
            <a:ext cx="3566160" cy="1051560"/>
          </a:xfrm>
          <a:prstGeom prst="rect">
            <a:avLst/>
          </a:prstGeom>
          <a:noFill/>
          <a:ln/>
        </p:spPr>
        <p:txBody>
          <a:bodyPr wrap="square"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 xml:space="preserve">Çocuklar mahallede misket, çelik çomak, yakan top oynardı. Komşuluk ilişkileri güçlüydü.</a:t>
            </a:r>
            <a:endParaRPr lang="en-US" sz="1200" dirty="0"/>
          </a:p>
        </p:txBody>
      </p:sp>
      <p:sp>
        <p:nvSpPr>
          <p:cNvPr id="9" name="Shape 7"/>
          <p:cNvSpPr/>
          <p:nvPr/>
        </p:nvSpPr>
        <p:spPr>
          <a:xfrm>
            <a:off x="4663440" y="914400"/>
            <a:ext cx="3931920" cy="2468880"/>
          </a:xfrm>
          <a:prstGeom prst="roundRect">
            <a:avLst>
              <a:gd name="adj" fmla="val 4444"/>
            </a:avLst>
          </a:prstGeom>
          <a:solidFill>
            <a:srgbClr val="DBEAFE"/>
          </a:solidFill>
          <a:ln w="12700">
            <a:solidFill>
              <a:srgbClr val="FFFFFF"/>
            </a:solidFill>
            <a:prstDash val="solid"/>
          </a:ln>
        </p:spPr>
      </p:sp>
      <p:sp>
        <p:nvSpPr>
          <p:cNvPr id="10" name="Text 8"/>
          <p:cNvSpPr/>
          <p:nvPr/>
        </p:nvSpPr>
        <p:spPr>
          <a:xfrm>
            <a:off x="4663440" y="1051560"/>
            <a:ext cx="3931920" cy="777240"/>
          </a:xfrm>
          <a:prstGeom prst="rect">
            <a:avLst/>
          </a:prstGeom>
          <a:noFill/>
          <a:ln/>
        </p:spPr>
        <p:txBody>
          <a:bodyPr wrap="square" rtlCol="0" anchor="ctr"/>
          <a:lstStyle/>
          <a:p>
            <a:pPr algn="ctr" indent="0" marL="0">
              <a:buNone/>
            </a:pPr>
            <a:r>
              <a:rPr lang="en-US" sz="3600" dirty="0">
                <a:solidFill>
                  <a:srgbClr val="000000"/>
                </a:solidFill>
              </a:rPr>
              <a:t xml:space="preserve">    </a:t>
            </a:r>
            <a:endParaRPr lang="en-US" sz="3600" dirty="0"/>
          </a:p>
        </p:txBody>
      </p:sp>
      <p:pic>
        <p:nvPicPr>
          <p:cNvPr id="17" name="Emoji 17" descr="emoji"/>
          <p:cNvPicPr>
            <a:picLocks noChangeAspect="1"/>
          </p:cNvPicPr>
          <p:nvPr/>
        </p:nvPicPr>
        <p:blipFill>
          <a:blip r:embed="rId102"/>
          <a:stretch>
            <a:fillRect/>
          </a:stretch>
        </p:blipFill>
        <p:spPr>
          <a:xfrm>
            <a:off x="6400800" y="1211580"/>
            <a:ext cx="457200" cy="457200"/>
          </a:xfrm>
          <a:prstGeom prst="rect">
            <a:avLst/>
          </a:prstGeom>
        </p:spPr>
      </p:pic>
      <p:sp>
        <p:nvSpPr>
          <p:cNvPr id="11" name="Text 9"/>
          <p:cNvSpPr/>
          <p:nvPr/>
        </p:nvSpPr>
        <p:spPr>
          <a:xfrm>
            <a:off x="4800600" y="1828800"/>
            <a:ext cx="3657600" cy="365760"/>
          </a:xfrm>
          <a:prstGeom prst="rect">
            <a:avLst/>
          </a:prstGeom>
          <a:noFill/>
          <a:ln/>
        </p:spPr>
        <p:txBody>
          <a:bodyPr wrap="square" rtlCol="0" anchor="ctr"/>
          <a:lstStyle/>
          <a:p>
            <a:pPr algn="ctr" indent="0" marL="0">
              <a:buNone/>
            </a:pPr>
            <a:r>
              <a:rPr lang="en-US" sz="1500" b="1" dirty="0">
                <a:solidFill>
                  <a:srgbClr val="2563EB"/>
                </a:solidFill>
                <a:latin typeface="Calibri" pitchFamily="34" charset="0"/>
                <a:ea typeface="Calibri" pitchFamily="34" charset="-122"/>
                <a:cs typeface="Calibri" pitchFamily="34" charset="-120"/>
              </a:rPr>
              <a:t>Şimdi</a:t>
            </a:r>
            <a:endParaRPr lang="en-US" sz="1500" dirty="0"/>
          </a:p>
        </p:txBody>
      </p:sp>
      <p:sp>
        <p:nvSpPr>
          <p:cNvPr id="12" name="Text 10"/>
          <p:cNvSpPr/>
          <p:nvPr/>
        </p:nvSpPr>
        <p:spPr>
          <a:xfrm>
            <a:off x="4846320" y="2194560"/>
            <a:ext cx="3566160" cy="1051560"/>
          </a:xfrm>
          <a:prstGeom prst="rect">
            <a:avLst/>
          </a:prstGeom>
          <a:noFill/>
          <a:ln/>
        </p:spPr>
        <p:txBody>
          <a:bodyPr wrap="square"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 xml:space="preserve">Gençler dijital dünyada da arkadaşlık kuruyor, bilgiye kolayca ulaşıyor. Bireysellik ön plana çıktı.</a:t>
            </a:r>
            <a:endParaRPr lang="en-US" sz="1200" dirty="0"/>
          </a:p>
        </p:txBody>
      </p:sp>
      <p:sp>
        <p:nvSpPr>
          <p:cNvPr id="13" name="Shape 11"/>
          <p:cNvSpPr/>
          <p:nvPr/>
        </p:nvSpPr>
        <p:spPr>
          <a:xfrm>
            <a:off x="548640" y="3566160"/>
            <a:ext cx="8046720" cy="777240"/>
          </a:xfrm>
          <a:prstGeom prst="roundRect">
            <a:avLst>
              <a:gd name="adj" fmla="val 17647"/>
            </a:avLst>
          </a:prstGeom>
          <a:solidFill>
            <a:srgbClr val="1A2E5A"/>
          </a:solidFill>
          <a:ln/>
        </p:spPr>
      </p:sp>
      <p:sp>
        <p:nvSpPr>
          <p:cNvPr id="14" name="Text 12"/>
          <p:cNvSpPr/>
          <p:nvPr/>
        </p:nvSpPr>
        <p:spPr>
          <a:xfrm>
            <a:off x="822960" y="3566160"/>
            <a:ext cx="7498080" cy="777240"/>
          </a:xfrm>
          <a:prstGeom prst="rect">
            <a:avLst/>
          </a:prstGeom>
          <a:noFill/>
          <a:ln/>
        </p:spPr>
        <p:txBody>
          <a:bodyPr wrap="square" rtlCol="0" anchor="ctr"/>
          <a:lstStyle/>
          <a:p>
            <a:pPr algn="ctr" indent="0" marL="0">
              <a:buNone/>
            </a:pPr>
            <a:r>
              <a:rPr lang="en-US" sz="1300" b="1" i="1" dirty="0">
                <a:solidFill>
                  <a:srgbClr val="FBBF24"/>
                </a:solidFill>
                <a:latin typeface="Calibri" pitchFamily="34" charset="0"/>
                <a:ea typeface="Calibri" pitchFamily="34" charset="-122"/>
                <a:cs typeface="Calibri" pitchFamily="34" charset="-120"/>
              </a:rPr>
              <a:t xml:space="preserve">“Eskiden komşuluk ilişkileri daha güçlüydü; oysa günümüzde bireysellik ön plana çıktı.”</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DBEAFE"/>
          </a:solidFill>
          <a:ln/>
        </p:spPr>
      </p:sp>
      <p:sp>
        <p:nvSpPr>
          <p:cNvPr id="3" name="Shape 1"/>
          <p:cNvSpPr/>
          <p:nvPr/>
        </p:nvSpPr>
        <p:spPr>
          <a:xfrm>
            <a:off x="0" y="0"/>
            <a:ext cx="9144000" cy="658368"/>
          </a:xfrm>
          <a:prstGeom prst="rect">
            <a:avLst/>
          </a:prstGeom>
          <a:solidFill>
            <a:srgbClr val="2563EB"/>
          </a:solidFill>
          <a:ln/>
        </p:spPr>
      </p:sp>
      <p:sp>
        <p:nvSpPr>
          <p:cNvPr id="4" name="Text 2"/>
          <p:cNvSpPr/>
          <p:nvPr/>
        </p:nvSpPr>
        <p:spPr>
          <a:xfrm>
            <a:off x="365760" y="0"/>
            <a:ext cx="8412480" cy="658368"/>
          </a:xfrm>
          <a:prstGeom prst="rect">
            <a:avLst/>
          </a:prstGeom>
          <a:noFill/>
          <a:ln/>
        </p:spPr>
        <p:txBody>
          <a:bodyPr wrap="square" rtlCol="0" anchor="ctr"/>
          <a:lstStyle/>
          <a:p>
            <a:pPr algn="l" indent="0" marL="0">
              <a:buNone/>
            </a:pPr>
            <a:r>
              <a:rPr lang="en-US" sz="1700" b="1" dirty="0">
                <a:solidFill>
                  <a:srgbClr val="FFFFFF"/>
                </a:solidFill>
                <a:latin typeface="Cambria" pitchFamily="34" charset="0"/>
                <a:ea typeface="Cambria" pitchFamily="34" charset="-122"/>
                <a:cs typeface="Cambria" pitchFamily="34" charset="-120"/>
              </a:rPr>
              <a:t xml:space="preserve">      DİL İSKELETİ: NESİL KARŞILAŞTIRMASI</a:t>
            </a:r>
            <a:endParaRPr lang="en-US" sz="1700" dirty="0"/>
          </a:p>
        </p:txBody>
      </p:sp>
      <p:pic>
        <p:nvPicPr>
          <p:cNvPr id="11" name="Emoji 11" descr="emoji"/>
          <p:cNvPicPr>
            <a:picLocks noChangeAspect="1"/>
          </p:cNvPicPr>
          <p:nvPr/>
        </p:nvPicPr>
        <p:blipFill>
          <a:blip r:embed="rId100"/>
          <a:stretch>
            <a:fillRect/>
          </a:stretch>
        </p:blipFill>
        <p:spPr>
          <a:xfrm>
            <a:off x="444246" y="221234"/>
            <a:ext cx="215900" cy="215900"/>
          </a:xfrm>
          <a:prstGeom prst="rect">
            <a:avLst/>
          </a:prstGeom>
        </p:spPr>
      </p:pic>
      <p:sp>
        <p:nvSpPr>
          <p:cNvPr id="5" name="Shape 3"/>
          <p:cNvSpPr/>
          <p:nvPr/>
        </p:nvSpPr>
        <p:spPr>
          <a:xfrm>
            <a:off x="457200" y="914400"/>
            <a:ext cx="8229600" cy="1737360"/>
          </a:xfrm>
          <a:prstGeom prst="roundRect">
            <a:avLst>
              <a:gd name="adj" fmla="val 6316"/>
            </a:avLst>
          </a:prstGeom>
          <a:solidFill>
            <a:srgbClr val="FFFFFF"/>
          </a:solidFill>
          <a:ln w="12700">
            <a:solidFill>
              <a:srgbClr val="FFFFFF"/>
            </a:solidFill>
            <a:prstDash val="solid"/>
          </a:ln>
          <a:effectLst>
            <a:outerShdw sx="100000" sy="100000" kx="0" ky="0" algn="bl" rotWithShape="0" blurRad="76200" dist="25400" dir="5400000">
              <a:srgbClr val="1A2E5A">
                <a:alpha val="18000"/>
              </a:srgbClr>
            </a:outerShdw>
          </a:effectLst>
        </p:spPr>
      </p:sp>
      <p:sp>
        <p:nvSpPr>
          <p:cNvPr id="6" name="Text 4"/>
          <p:cNvSpPr/>
          <p:nvPr/>
        </p:nvSpPr>
        <p:spPr>
          <a:xfrm>
            <a:off x="731520" y="914400"/>
            <a:ext cx="7680960" cy="1737360"/>
          </a:xfrm>
          <a:prstGeom prst="rect">
            <a:avLst/>
          </a:prstGeom>
          <a:noFill/>
          <a:ln/>
        </p:spPr>
        <p:txBody>
          <a:bodyPr wrap="square" rtlCol="0" anchor="ctr"/>
          <a:lstStyle/>
          <a:p>
            <a:pPr algn="l" indent="0" marL="0">
              <a:lnSpc>
                <a:spcPct val="130000"/>
              </a:lnSpc>
              <a:buNone/>
            </a:pPr>
            <a:r>
              <a:rPr lang="en-US" sz="1500" b="1" dirty="0">
                <a:solidFill>
                  <a:srgbClr val="1A2E5A"/>
                </a:solidFill>
                <a:latin typeface="Calibri" pitchFamily="34" charset="0"/>
                <a:ea typeface="Calibri" pitchFamily="34" charset="-122"/>
                <a:cs typeface="Calibri" pitchFamily="34" charset="-120"/>
              </a:rPr>
              <a:t xml:space="preserve">Bizim nesil ____ büyüdü. Anneannem/babaannem ____'li/'lı yıllarda gençti.</a:t>
            </a:r>
            <a:endParaRPr lang="en-US" sz="1500" dirty="0"/>
          </a:p>
          <a:p>
            <a:pPr algn="l" indent="0" marL="0">
              <a:lnSpc>
                <a:spcPct val="130000"/>
              </a:lnSpc>
              <a:buNone/>
            </a:pPr>
            <a:r>
              <a:rPr lang="en-US" sz="1500" b="1" dirty="0">
                <a:solidFill>
                  <a:srgbClr val="1A2E5A"/>
                </a:solidFill>
                <a:latin typeface="Calibri" pitchFamily="34" charset="0"/>
                <a:ea typeface="Calibri" pitchFamily="34" charset="-122"/>
                <a:cs typeface="Calibri" pitchFamily="34" charset="-120"/>
              </a:rPr>
              <a:t xml:space="preserve">Eskiden ____ yoktu; oysa şimdi ____ var.</a:t>
            </a:r>
            <a:endParaRPr lang="en-US" sz="1500" dirty="0"/>
          </a:p>
        </p:txBody>
      </p:sp>
      <p:sp>
        <p:nvSpPr>
          <p:cNvPr id="7" name="Shape 5"/>
          <p:cNvSpPr/>
          <p:nvPr/>
        </p:nvSpPr>
        <p:spPr>
          <a:xfrm>
            <a:off x="457200" y="2788920"/>
            <a:ext cx="2011680" cy="411480"/>
          </a:xfrm>
          <a:prstGeom prst="roundRect">
            <a:avLst>
              <a:gd name="adj" fmla="val 48889"/>
            </a:avLst>
          </a:prstGeom>
          <a:solidFill>
            <a:srgbClr val="16A34A"/>
          </a:solidFill>
          <a:ln/>
        </p:spPr>
      </p:sp>
      <p:sp>
        <p:nvSpPr>
          <p:cNvPr id="8" name="Text 6"/>
          <p:cNvSpPr/>
          <p:nvPr/>
        </p:nvSpPr>
        <p:spPr>
          <a:xfrm>
            <a:off x="457200" y="2788920"/>
            <a:ext cx="2011680" cy="4114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xml:space="preserve">      Örnek</a:t>
            </a:r>
            <a:endParaRPr lang="en-US" sz="1300" dirty="0"/>
          </a:p>
        </p:txBody>
      </p:sp>
      <p:pic>
        <p:nvPicPr>
          <p:cNvPr id="12" name="Emoji 12" descr="emoji"/>
          <p:cNvPicPr>
            <a:picLocks noChangeAspect="1"/>
          </p:cNvPicPr>
          <p:nvPr/>
        </p:nvPicPr>
        <p:blipFill>
          <a:blip r:embed="rId101"/>
          <a:stretch>
            <a:fillRect/>
          </a:stretch>
        </p:blipFill>
        <p:spPr>
          <a:xfrm>
            <a:off x="1132516" y="2912110"/>
            <a:ext cx="165100" cy="165100"/>
          </a:xfrm>
          <a:prstGeom prst="rect">
            <a:avLst/>
          </a:prstGeom>
        </p:spPr>
      </p:pic>
      <p:sp>
        <p:nvSpPr>
          <p:cNvPr id="9" name="Shape 7"/>
          <p:cNvSpPr/>
          <p:nvPr/>
        </p:nvSpPr>
        <p:spPr>
          <a:xfrm>
            <a:off x="457200" y="3291840"/>
            <a:ext cx="8229600" cy="1463040"/>
          </a:xfrm>
          <a:prstGeom prst="roundRect">
            <a:avLst>
              <a:gd name="adj" fmla="val 7500"/>
            </a:avLst>
          </a:prstGeom>
          <a:solidFill>
            <a:srgbClr val="DCFCE7"/>
          </a:solidFill>
          <a:ln w="12700">
            <a:solidFill>
              <a:srgbClr val="FFFFFF"/>
            </a:solidFill>
            <a:prstDash val="solid"/>
          </a:ln>
        </p:spPr>
      </p:sp>
      <p:sp>
        <p:nvSpPr>
          <p:cNvPr id="10" name="Text 8"/>
          <p:cNvSpPr/>
          <p:nvPr/>
        </p:nvSpPr>
        <p:spPr>
          <a:xfrm>
            <a:off x="731520" y="3291840"/>
            <a:ext cx="7680960" cy="1463040"/>
          </a:xfrm>
          <a:prstGeom prst="rect">
            <a:avLst/>
          </a:prstGeom>
          <a:noFill/>
          <a:ln/>
        </p:spPr>
        <p:txBody>
          <a:bodyPr wrap="square" rtlCol="0" anchor="ctr"/>
          <a:lstStyle/>
          <a:p>
            <a:pPr algn="l" indent="0" marL="0">
              <a:buNone/>
            </a:pPr>
            <a:r>
              <a:rPr lang="en-US" sz="1150" i="1" dirty="0">
                <a:solidFill>
                  <a:srgbClr val="1E293B"/>
                </a:solidFill>
                <a:latin typeface="Calibri" pitchFamily="34" charset="0"/>
                <a:ea typeface="Calibri" pitchFamily="34" charset="-122"/>
                <a:cs typeface="Calibri" pitchFamily="34" charset="-120"/>
              </a:rPr>
              <a:t xml:space="preserve">“Bizim nesil dijital teknolojilerin ortasında büyüdü. Anneannem altmışlı yıllarda gençti; o zamanlar internet yoktu, insanlar mektup yazardı. Eskiden bilgiye ulaşmak zordu ama insan ilişkileri daha derindi; oysa şimdi bilgiye ulaşmak kolay, ancak yüz yüze iletişim azaldı.”</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7ED"/>
          </a:solidFill>
          <a:ln/>
        </p:spPr>
      </p:sp>
      <p:sp>
        <p:nvSpPr>
          <p:cNvPr id="3" name="Shape 1"/>
          <p:cNvSpPr/>
          <p:nvPr/>
        </p:nvSpPr>
        <p:spPr>
          <a:xfrm>
            <a:off x="0" y="0"/>
            <a:ext cx="9144000" cy="658368"/>
          </a:xfrm>
          <a:prstGeom prst="rect">
            <a:avLst/>
          </a:prstGeom>
          <a:solidFill>
            <a:srgbClr val="F97316"/>
          </a:solidFill>
          <a:ln/>
        </p:spPr>
      </p:sp>
      <p:sp>
        <p:nvSpPr>
          <p:cNvPr id="4" name="Text 2"/>
          <p:cNvSpPr/>
          <p:nvPr/>
        </p:nvSpPr>
        <p:spPr>
          <a:xfrm>
            <a:off x="365760" y="0"/>
            <a:ext cx="8412480" cy="658368"/>
          </a:xfrm>
          <a:prstGeom prst="rect">
            <a:avLst/>
          </a:prstGeom>
          <a:noFill/>
          <a:ln/>
        </p:spPr>
        <p:txBody>
          <a:bodyPr wrap="square" rtlCol="0" anchor="ctr"/>
          <a:lstStyle/>
          <a:p>
            <a:pPr algn="l" indent="0" marL="0">
              <a:buNone/>
            </a:pPr>
            <a:r>
              <a:rPr lang="en-US" sz="1700" b="1" dirty="0">
                <a:solidFill>
                  <a:srgbClr val="FFFFFF"/>
                </a:solidFill>
                <a:latin typeface="Cambria" pitchFamily="34" charset="0"/>
                <a:ea typeface="Cambria" pitchFamily="34" charset="-122"/>
                <a:cs typeface="Cambria" pitchFamily="34" charset="-120"/>
              </a:rPr>
              <a:t xml:space="preserve">      YAZI ATÖLYESİ: ESKİDEN VE ŞİMDİ</a:t>
            </a:r>
            <a:endParaRPr lang="en-US" sz="1700" dirty="0"/>
          </a:p>
        </p:txBody>
      </p:sp>
      <p:pic>
        <p:nvPicPr>
          <p:cNvPr id="17" name="Emoji 17" descr="emoji"/>
          <p:cNvPicPr>
            <a:picLocks noChangeAspect="1"/>
          </p:cNvPicPr>
          <p:nvPr/>
        </p:nvPicPr>
        <p:blipFill>
          <a:blip r:embed="rId100"/>
          <a:stretch>
            <a:fillRect/>
          </a:stretch>
        </p:blipFill>
        <p:spPr>
          <a:xfrm>
            <a:off x="444246" y="221234"/>
            <a:ext cx="215900" cy="215900"/>
          </a:xfrm>
          <a:prstGeom prst="rect">
            <a:avLst/>
          </a:prstGeom>
        </p:spPr>
      </p:pic>
      <p:sp>
        <p:nvSpPr>
          <p:cNvPr id="5" name="Shape 3"/>
          <p:cNvSpPr/>
          <p:nvPr/>
        </p:nvSpPr>
        <p:spPr>
          <a:xfrm>
            <a:off x="640080" y="1188720"/>
            <a:ext cx="7863840" cy="914400"/>
          </a:xfrm>
          <a:prstGeom prst="roundRect">
            <a:avLst>
              <a:gd name="adj" fmla="val 12000"/>
            </a:avLst>
          </a:prstGeom>
          <a:solidFill>
            <a:srgbClr val="FFFFFF"/>
          </a:solidFill>
          <a:ln w="12700">
            <a:solidFill>
              <a:srgbClr val="FFFFFF"/>
            </a:solidFill>
            <a:prstDash val="solid"/>
          </a:ln>
          <a:effectLst>
            <a:outerShdw sx="100000" sy="100000" kx="0" ky="0" algn="bl" rotWithShape="0" blurRad="76200" dist="25400" dir="5400000">
              <a:srgbClr val="1A2E5A">
                <a:alpha val="18000"/>
              </a:srgbClr>
            </a:outerShdw>
          </a:effectLst>
        </p:spPr>
      </p:sp>
      <p:sp>
        <p:nvSpPr>
          <p:cNvPr id="6" name="Shape 4"/>
          <p:cNvSpPr/>
          <p:nvPr/>
        </p:nvSpPr>
        <p:spPr>
          <a:xfrm>
            <a:off x="868680" y="1371600"/>
            <a:ext cx="548640" cy="548640"/>
          </a:xfrm>
          <a:prstGeom prst="ellipse">
            <a:avLst/>
          </a:prstGeom>
          <a:solidFill>
            <a:srgbClr val="F97316"/>
          </a:solidFill>
          <a:ln/>
        </p:spPr>
      </p:sp>
      <p:sp>
        <p:nvSpPr>
          <p:cNvPr id="7" name="Text 5"/>
          <p:cNvSpPr/>
          <p:nvPr/>
        </p:nvSpPr>
        <p:spPr>
          <a:xfrm>
            <a:off x="868680" y="1371600"/>
            <a:ext cx="548640" cy="54864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8" name="Text 6"/>
          <p:cNvSpPr/>
          <p:nvPr/>
        </p:nvSpPr>
        <p:spPr>
          <a:xfrm>
            <a:off x="1645920" y="1188720"/>
            <a:ext cx="6675120" cy="914400"/>
          </a:xfrm>
          <a:prstGeom prst="rect">
            <a:avLst/>
          </a:prstGeom>
          <a:noFill/>
          <a:ln/>
        </p:spPr>
        <p:txBody>
          <a:bodyPr wrap="square" rtlCol="0" anchor="ctr"/>
          <a:lstStyle/>
          <a:p>
            <a:pPr algn="l" indent="0" marL="0">
              <a:buNone/>
            </a:pPr>
            <a:r>
              <a:rPr lang="en-US" sz="1300" b="1" dirty="0">
                <a:solidFill>
                  <a:srgbClr val="1A2E5A"/>
                </a:solidFill>
                <a:latin typeface="Calibri" pitchFamily="34" charset="0"/>
                <a:ea typeface="Calibri" pitchFamily="34" charset="-122"/>
                <a:cs typeface="Calibri" pitchFamily="34" charset="-120"/>
              </a:rPr>
              <a:t xml:space="preserve">Büyüklerinizin gençliği ile sizin gençliğiniz arasındaki en büyük 2 fark (“Seksenli yıllarda…”)</a:t>
            </a:r>
            <a:endParaRPr lang="en-US" sz="1300" dirty="0"/>
          </a:p>
        </p:txBody>
      </p:sp>
      <p:sp>
        <p:nvSpPr>
          <p:cNvPr id="9" name="Shape 7"/>
          <p:cNvSpPr/>
          <p:nvPr/>
        </p:nvSpPr>
        <p:spPr>
          <a:xfrm>
            <a:off x="640080" y="2286000"/>
            <a:ext cx="7863840" cy="914400"/>
          </a:xfrm>
          <a:prstGeom prst="roundRect">
            <a:avLst>
              <a:gd name="adj" fmla="val 12000"/>
            </a:avLst>
          </a:prstGeom>
          <a:solidFill>
            <a:srgbClr val="FFFFFF"/>
          </a:solidFill>
          <a:ln w="12700">
            <a:solidFill>
              <a:srgbClr val="FFFFFF"/>
            </a:solidFill>
            <a:prstDash val="solid"/>
          </a:ln>
          <a:effectLst>
            <a:outerShdw sx="100000" sy="100000" kx="0" ky="0" algn="bl" rotWithShape="0" blurRad="76200" dist="25400" dir="5400000">
              <a:srgbClr val="1A2E5A">
                <a:alpha val="18000"/>
              </a:srgbClr>
            </a:outerShdw>
          </a:effectLst>
        </p:spPr>
      </p:sp>
      <p:sp>
        <p:nvSpPr>
          <p:cNvPr id="10" name="Shape 8"/>
          <p:cNvSpPr/>
          <p:nvPr/>
        </p:nvSpPr>
        <p:spPr>
          <a:xfrm>
            <a:off x="868680" y="2468880"/>
            <a:ext cx="548640" cy="548640"/>
          </a:xfrm>
          <a:prstGeom prst="ellipse">
            <a:avLst/>
          </a:prstGeom>
          <a:solidFill>
            <a:srgbClr val="F97316"/>
          </a:solidFill>
          <a:ln/>
        </p:spPr>
      </p:sp>
      <p:sp>
        <p:nvSpPr>
          <p:cNvPr id="11" name="Text 9"/>
          <p:cNvSpPr/>
          <p:nvPr/>
        </p:nvSpPr>
        <p:spPr>
          <a:xfrm>
            <a:off x="868680" y="2468880"/>
            <a:ext cx="548640" cy="54864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2" name="Text 10"/>
          <p:cNvSpPr/>
          <p:nvPr/>
        </p:nvSpPr>
        <p:spPr>
          <a:xfrm>
            <a:off x="1645920" y="2286000"/>
            <a:ext cx="6675120" cy="914400"/>
          </a:xfrm>
          <a:prstGeom prst="rect">
            <a:avLst/>
          </a:prstGeom>
          <a:noFill/>
          <a:ln/>
        </p:spPr>
        <p:txBody>
          <a:bodyPr wrap="square" rtlCol="0" anchor="ctr"/>
          <a:lstStyle/>
          <a:p>
            <a:pPr algn="l" indent="0" marL="0">
              <a:buNone/>
            </a:pPr>
            <a:r>
              <a:rPr lang="en-US" sz="1300" b="1" dirty="0">
                <a:solidFill>
                  <a:srgbClr val="1A2E5A"/>
                </a:solidFill>
                <a:latin typeface="Calibri" pitchFamily="34" charset="0"/>
                <a:ea typeface="Calibri" pitchFamily="34" charset="-122"/>
                <a:cs typeface="Calibri" pitchFamily="34" charset="-120"/>
              </a:rPr>
              <a:t xml:space="preserve">“Eskiden …, oysa şimdi …” ve “buna karşın” gibi karşılaştırma yapıları</a:t>
            </a:r>
            <a:endParaRPr lang="en-US" sz="1300" dirty="0"/>
          </a:p>
        </p:txBody>
      </p:sp>
      <p:sp>
        <p:nvSpPr>
          <p:cNvPr id="13" name="Shape 11"/>
          <p:cNvSpPr/>
          <p:nvPr/>
        </p:nvSpPr>
        <p:spPr>
          <a:xfrm>
            <a:off x="640080" y="3383280"/>
            <a:ext cx="7863840" cy="914400"/>
          </a:xfrm>
          <a:prstGeom prst="roundRect">
            <a:avLst>
              <a:gd name="adj" fmla="val 12000"/>
            </a:avLst>
          </a:prstGeom>
          <a:solidFill>
            <a:srgbClr val="FFFFFF"/>
          </a:solidFill>
          <a:ln w="12700">
            <a:solidFill>
              <a:srgbClr val="FFFFFF"/>
            </a:solidFill>
            <a:prstDash val="solid"/>
          </a:ln>
          <a:effectLst>
            <a:outerShdw sx="100000" sy="100000" kx="0" ky="0" algn="bl" rotWithShape="0" blurRad="76200" dist="25400" dir="5400000">
              <a:srgbClr val="1A2E5A">
                <a:alpha val="18000"/>
              </a:srgbClr>
            </a:outerShdw>
          </a:effectLst>
        </p:spPr>
      </p:sp>
      <p:sp>
        <p:nvSpPr>
          <p:cNvPr id="14" name="Shape 12"/>
          <p:cNvSpPr/>
          <p:nvPr/>
        </p:nvSpPr>
        <p:spPr>
          <a:xfrm>
            <a:off x="868680" y="3566160"/>
            <a:ext cx="548640" cy="548640"/>
          </a:xfrm>
          <a:prstGeom prst="ellipse">
            <a:avLst/>
          </a:prstGeom>
          <a:solidFill>
            <a:srgbClr val="F97316"/>
          </a:solidFill>
          <a:ln/>
        </p:spPr>
      </p:sp>
      <p:sp>
        <p:nvSpPr>
          <p:cNvPr id="15" name="Text 13"/>
          <p:cNvSpPr/>
          <p:nvPr/>
        </p:nvSpPr>
        <p:spPr>
          <a:xfrm>
            <a:off x="868680" y="3566160"/>
            <a:ext cx="548640" cy="54864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6" name="Text 14"/>
          <p:cNvSpPr/>
          <p:nvPr/>
        </p:nvSpPr>
        <p:spPr>
          <a:xfrm>
            <a:off x="1645920" y="3383280"/>
            <a:ext cx="6675120" cy="914400"/>
          </a:xfrm>
          <a:prstGeom prst="rect">
            <a:avLst/>
          </a:prstGeom>
          <a:noFill/>
          <a:ln/>
        </p:spPr>
        <p:txBody>
          <a:bodyPr wrap="square" rtlCol="0" anchor="ctr"/>
          <a:lstStyle/>
          <a:p>
            <a:pPr algn="l" indent="0" marL="0">
              <a:buNone/>
            </a:pPr>
            <a:r>
              <a:rPr lang="en-US" sz="1300" b="1" dirty="0">
                <a:solidFill>
                  <a:srgbClr val="1A2E5A"/>
                </a:solidFill>
                <a:latin typeface="Calibri" pitchFamily="34" charset="0"/>
                <a:ea typeface="Calibri" pitchFamily="34" charset="-122"/>
                <a:cs typeface="Calibri" pitchFamily="34" charset="-120"/>
              </a:rPr>
              <a:t xml:space="preserve">Hitap kültürü nasıl değişti? Yaşadığınız ülke ile Türkiye'yi karşılaştırarak değerlendirin.</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7ED"/>
          </a:solidFill>
          <a:ln/>
        </p:spPr>
      </p:sp>
      <p:sp>
        <p:nvSpPr>
          <p:cNvPr id="3" name="Shape 1"/>
          <p:cNvSpPr/>
          <p:nvPr/>
        </p:nvSpPr>
        <p:spPr>
          <a:xfrm>
            <a:off x="0" y="0"/>
            <a:ext cx="9144000" cy="658368"/>
          </a:xfrm>
          <a:prstGeom prst="rect">
            <a:avLst/>
          </a:prstGeom>
          <a:solidFill>
            <a:srgbClr val="F97316"/>
          </a:solidFill>
          <a:ln/>
        </p:spPr>
      </p:sp>
      <p:sp>
        <p:nvSpPr>
          <p:cNvPr id="4" name="Text 2"/>
          <p:cNvSpPr/>
          <p:nvPr/>
        </p:nvSpPr>
        <p:spPr>
          <a:xfrm>
            <a:off x="365760" y="0"/>
            <a:ext cx="8412480" cy="658368"/>
          </a:xfrm>
          <a:prstGeom prst="rect">
            <a:avLst/>
          </a:prstGeom>
          <a:noFill/>
          <a:ln/>
        </p:spPr>
        <p:txBody>
          <a:bodyPr wrap="square" rtlCol="0" anchor="ctr"/>
          <a:lstStyle/>
          <a:p>
            <a:pPr algn="l" indent="0" marL="0">
              <a:buNone/>
            </a:pPr>
            <a:r>
              <a:rPr lang="en-US" sz="1700" b="1" dirty="0">
                <a:solidFill>
                  <a:srgbClr val="1A2E5A"/>
                </a:solidFill>
                <a:latin typeface="Cambria" pitchFamily="34" charset="0"/>
                <a:ea typeface="Cambria" pitchFamily="34" charset="-122"/>
                <a:cs typeface="Cambria" pitchFamily="34" charset="-120"/>
              </a:rPr>
              <a:t xml:space="preserve">      KÜLTÜR KÖŞESİ – DEDEKTİF SIRRI!</a:t>
            </a:r>
            <a:endParaRPr lang="en-US" sz="1700" dirty="0"/>
          </a:p>
        </p:txBody>
      </p:sp>
      <p:pic>
        <p:nvPicPr>
          <p:cNvPr id="18" name="Emoji 18" descr="emoji"/>
          <p:cNvPicPr>
            <a:picLocks noChangeAspect="1"/>
          </p:cNvPicPr>
          <p:nvPr/>
        </p:nvPicPr>
        <p:blipFill>
          <a:blip r:embed="rId100"/>
          <a:stretch>
            <a:fillRect/>
          </a:stretch>
        </p:blipFill>
        <p:spPr>
          <a:xfrm>
            <a:off x="444246" y="221234"/>
            <a:ext cx="215900" cy="215900"/>
          </a:xfrm>
          <a:prstGeom prst="rect">
            <a:avLst/>
          </a:prstGeom>
        </p:spPr>
      </p:pic>
      <p:sp>
        <p:nvSpPr>
          <p:cNvPr id="5" name="Shape 3"/>
          <p:cNvSpPr/>
          <p:nvPr/>
        </p:nvSpPr>
        <p:spPr>
          <a:xfrm>
            <a:off x="548640" y="868680"/>
            <a:ext cx="8046720" cy="960120"/>
          </a:xfrm>
          <a:prstGeom prst="roundRect">
            <a:avLst>
              <a:gd name="adj" fmla="val 11429"/>
            </a:avLst>
          </a:prstGeom>
          <a:solidFill>
            <a:srgbClr val="FFFFFF"/>
          </a:solidFill>
          <a:ln w="12700">
            <a:solidFill>
              <a:srgbClr val="FFFFFF"/>
            </a:solidFill>
            <a:prstDash val="solid"/>
          </a:ln>
          <a:effectLst>
            <a:outerShdw sx="100000" sy="100000" kx="0" ky="0" algn="bl" rotWithShape="0" blurRad="76200" dist="25400" dir="5400000">
              <a:srgbClr val="1A2E5A">
                <a:alpha val="18000"/>
              </a:srgbClr>
            </a:outerShdw>
          </a:effectLst>
        </p:spPr>
      </p:sp>
      <p:sp>
        <p:nvSpPr>
          <p:cNvPr id="6" name="Text 4"/>
          <p:cNvSpPr/>
          <p:nvPr/>
        </p:nvSpPr>
        <p:spPr>
          <a:xfrm>
            <a:off x="822960" y="868680"/>
            <a:ext cx="7498080" cy="960120"/>
          </a:xfrm>
          <a:prstGeom prst="rect">
            <a:avLst/>
          </a:prstGeom>
          <a:noFill/>
          <a:ln/>
        </p:spPr>
        <p:txBody>
          <a:bodyPr wrap="square" rtlCol="0" anchor="ctr"/>
          <a:lstStyle/>
          <a:p>
            <a:pPr algn="l" indent="0" marL="0">
              <a:buNone/>
            </a:pPr>
            <a:r>
              <a:rPr lang="en-US" sz="1500" dirty="0">
                <a:solidFill>
                  <a:srgbClr val="1E1E1E"/>
                </a:solidFill>
                <a:latin typeface="Calibri" pitchFamily="34" charset="0"/>
                <a:ea typeface="Calibri" pitchFamily="34" charset="-122"/>
                <a:cs typeface="Calibri" pitchFamily="34" charset="-120"/>
              </a:rPr>
              <a:t xml:space="preserve">      Bir sözümüz var: “Büyüğe saygı, küçüğe sevgi.” Kültür, nesilden nesile aktarılır.</a:t>
            </a:r>
            <a:endParaRPr lang="en-US" sz="1500" dirty="0"/>
          </a:p>
        </p:txBody>
      </p:sp>
      <p:pic>
        <p:nvPicPr>
          <p:cNvPr id="19" name="Emoji 19" descr="emoji"/>
          <p:cNvPicPr>
            <a:picLocks noChangeAspect="1"/>
          </p:cNvPicPr>
          <p:nvPr/>
        </p:nvPicPr>
        <p:blipFill>
          <a:blip r:embed="rId101"/>
          <a:stretch>
            <a:fillRect/>
          </a:stretch>
        </p:blipFill>
        <p:spPr>
          <a:xfrm>
            <a:off x="905285" y="1253490"/>
            <a:ext cx="190500" cy="190500"/>
          </a:xfrm>
          <a:prstGeom prst="rect">
            <a:avLst/>
          </a:prstGeom>
        </p:spPr>
      </p:pic>
      <p:sp>
        <p:nvSpPr>
          <p:cNvPr id="7" name="Shape 5"/>
          <p:cNvSpPr/>
          <p:nvPr/>
        </p:nvSpPr>
        <p:spPr>
          <a:xfrm>
            <a:off x="685800" y="2011680"/>
            <a:ext cx="2468880" cy="1143000"/>
          </a:xfrm>
          <a:prstGeom prst="roundRect">
            <a:avLst>
              <a:gd name="adj" fmla="val 9600"/>
            </a:avLst>
          </a:prstGeom>
          <a:solidFill>
            <a:srgbClr val="FFFFFF"/>
          </a:solidFill>
          <a:ln w="12700">
            <a:solidFill>
              <a:srgbClr val="FFFFFF"/>
            </a:solidFill>
            <a:prstDash val="solid"/>
          </a:ln>
        </p:spPr>
      </p:sp>
      <p:sp>
        <p:nvSpPr>
          <p:cNvPr id="8" name="Text 6"/>
          <p:cNvSpPr/>
          <p:nvPr/>
        </p:nvSpPr>
        <p:spPr>
          <a:xfrm>
            <a:off x="685800" y="2084832"/>
            <a:ext cx="2468880" cy="594360"/>
          </a:xfrm>
          <a:prstGeom prst="rect">
            <a:avLst/>
          </a:prstGeom>
          <a:noFill/>
          <a:ln/>
        </p:spPr>
        <p:txBody>
          <a:bodyPr wrap="square" rtlCol="0" anchor="ctr"/>
          <a:lstStyle/>
          <a:p>
            <a:pPr algn="ctr" indent="0" marL="0">
              <a:buNone/>
            </a:pPr>
            <a:r>
              <a:rPr lang="en-US" sz="3000" dirty="0">
                <a:solidFill>
                  <a:srgbClr val="000000"/>
                </a:solidFill>
              </a:rPr>
              <a:t xml:space="preserve">    </a:t>
            </a:r>
            <a:endParaRPr lang="en-US" sz="3000" dirty="0"/>
          </a:p>
        </p:txBody>
      </p:sp>
      <p:pic>
        <p:nvPicPr>
          <p:cNvPr id="20" name="Emoji 20" descr="emoji"/>
          <p:cNvPicPr>
            <a:picLocks noChangeAspect="1"/>
          </p:cNvPicPr>
          <p:nvPr/>
        </p:nvPicPr>
        <p:blipFill>
          <a:blip r:embed="rId102"/>
          <a:stretch>
            <a:fillRect/>
          </a:stretch>
        </p:blipFill>
        <p:spPr>
          <a:xfrm>
            <a:off x="1729740" y="2191512"/>
            <a:ext cx="381000" cy="381000"/>
          </a:xfrm>
          <a:prstGeom prst="rect">
            <a:avLst/>
          </a:prstGeom>
        </p:spPr>
      </p:pic>
      <p:sp>
        <p:nvSpPr>
          <p:cNvPr id="9" name="Text 7"/>
          <p:cNvSpPr/>
          <p:nvPr/>
        </p:nvSpPr>
        <p:spPr>
          <a:xfrm>
            <a:off x="685800" y="2651760"/>
            <a:ext cx="2468880" cy="411480"/>
          </a:xfrm>
          <a:prstGeom prst="rect">
            <a:avLst/>
          </a:prstGeom>
          <a:noFill/>
          <a:ln/>
        </p:spPr>
        <p:txBody>
          <a:bodyPr wrap="square" rtlCol="0" anchor="ctr"/>
          <a:lstStyle/>
          <a:p>
            <a:pPr algn="ctr" indent="0" marL="0">
              <a:buNone/>
            </a:pPr>
            <a:r>
              <a:rPr lang="en-US" sz="1150" b="1" dirty="0">
                <a:solidFill>
                  <a:srgbClr val="1E293B"/>
                </a:solidFill>
                <a:latin typeface="Calibri" pitchFamily="34" charset="0"/>
                <a:ea typeface="Calibri" pitchFamily="34" charset="-122"/>
                <a:cs typeface="Calibri" pitchFamily="34" charset="-120"/>
              </a:rPr>
              <a:t xml:space="preserve">Masallar ve atasözleri</a:t>
            </a:r>
            <a:endParaRPr lang="en-US" sz="1150" dirty="0"/>
          </a:p>
        </p:txBody>
      </p:sp>
      <p:sp>
        <p:nvSpPr>
          <p:cNvPr id="10" name="Shape 8"/>
          <p:cNvSpPr/>
          <p:nvPr/>
        </p:nvSpPr>
        <p:spPr>
          <a:xfrm>
            <a:off x="3337560" y="2011680"/>
            <a:ext cx="2468880" cy="1143000"/>
          </a:xfrm>
          <a:prstGeom prst="roundRect">
            <a:avLst>
              <a:gd name="adj" fmla="val 9600"/>
            </a:avLst>
          </a:prstGeom>
          <a:solidFill>
            <a:srgbClr val="FFFFFF"/>
          </a:solidFill>
          <a:ln w="12700">
            <a:solidFill>
              <a:srgbClr val="FFFFFF"/>
            </a:solidFill>
            <a:prstDash val="solid"/>
          </a:ln>
        </p:spPr>
      </p:sp>
      <p:sp>
        <p:nvSpPr>
          <p:cNvPr id="11" name="Text 9"/>
          <p:cNvSpPr/>
          <p:nvPr/>
        </p:nvSpPr>
        <p:spPr>
          <a:xfrm>
            <a:off x="3337560" y="2084832"/>
            <a:ext cx="2468880" cy="594360"/>
          </a:xfrm>
          <a:prstGeom prst="rect">
            <a:avLst/>
          </a:prstGeom>
          <a:noFill/>
          <a:ln/>
        </p:spPr>
        <p:txBody>
          <a:bodyPr wrap="square" rtlCol="0" anchor="ctr"/>
          <a:lstStyle/>
          <a:p>
            <a:pPr algn="ctr" indent="0" marL="0">
              <a:buNone/>
            </a:pPr>
            <a:r>
              <a:rPr lang="en-US" sz="3000" dirty="0">
                <a:solidFill>
                  <a:srgbClr val="000000"/>
                </a:solidFill>
              </a:rPr>
              <a:t xml:space="preserve">    </a:t>
            </a:r>
            <a:endParaRPr lang="en-US" sz="3000" dirty="0"/>
          </a:p>
        </p:txBody>
      </p:sp>
      <p:pic>
        <p:nvPicPr>
          <p:cNvPr id="21" name="Emoji 21" descr="emoji"/>
          <p:cNvPicPr>
            <a:picLocks noChangeAspect="1"/>
          </p:cNvPicPr>
          <p:nvPr/>
        </p:nvPicPr>
        <p:blipFill>
          <a:blip r:embed="rId103"/>
          <a:stretch>
            <a:fillRect/>
          </a:stretch>
        </p:blipFill>
        <p:spPr>
          <a:xfrm>
            <a:off x="4381500" y="2191512"/>
            <a:ext cx="381000" cy="381000"/>
          </a:xfrm>
          <a:prstGeom prst="rect">
            <a:avLst/>
          </a:prstGeom>
        </p:spPr>
      </p:pic>
      <p:sp>
        <p:nvSpPr>
          <p:cNvPr id="12" name="Text 10"/>
          <p:cNvSpPr/>
          <p:nvPr/>
        </p:nvSpPr>
        <p:spPr>
          <a:xfrm>
            <a:off x="3337560" y="2651760"/>
            <a:ext cx="2468880" cy="411480"/>
          </a:xfrm>
          <a:prstGeom prst="rect">
            <a:avLst/>
          </a:prstGeom>
          <a:noFill/>
          <a:ln/>
        </p:spPr>
        <p:txBody>
          <a:bodyPr wrap="square" rtlCol="0" anchor="ctr"/>
          <a:lstStyle/>
          <a:p>
            <a:pPr algn="ctr" indent="0" marL="0">
              <a:buNone/>
            </a:pPr>
            <a:r>
              <a:rPr lang="en-US" sz="1150" b="1" dirty="0">
                <a:solidFill>
                  <a:srgbClr val="1E293B"/>
                </a:solidFill>
                <a:latin typeface="Calibri" pitchFamily="34" charset="0"/>
                <a:ea typeface="Calibri" pitchFamily="34" charset="-122"/>
                <a:cs typeface="Calibri" pitchFamily="34" charset="-120"/>
              </a:rPr>
              <a:t xml:space="preserve">Aile tarifleri</a:t>
            </a:r>
            <a:endParaRPr lang="en-US" sz="1150" dirty="0"/>
          </a:p>
        </p:txBody>
      </p:sp>
      <p:sp>
        <p:nvSpPr>
          <p:cNvPr id="13" name="Shape 11"/>
          <p:cNvSpPr/>
          <p:nvPr/>
        </p:nvSpPr>
        <p:spPr>
          <a:xfrm>
            <a:off x="5989320" y="2011680"/>
            <a:ext cx="2468880" cy="1143000"/>
          </a:xfrm>
          <a:prstGeom prst="roundRect">
            <a:avLst>
              <a:gd name="adj" fmla="val 9600"/>
            </a:avLst>
          </a:prstGeom>
          <a:solidFill>
            <a:srgbClr val="FFFFFF"/>
          </a:solidFill>
          <a:ln w="12700">
            <a:solidFill>
              <a:srgbClr val="FFFFFF"/>
            </a:solidFill>
            <a:prstDash val="solid"/>
          </a:ln>
        </p:spPr>
      </p:sp>
      <p:sp>
        <p:nvSpPr>
          <p:cNvPr id="14" name="Text 12"/>
          <p:cNvSpPr/>
          <p:nvPr/>
        </p:nvSpPr>
        <p:spPr>
          <a:xfrm>
            <a:off x="5989320" y="2084832"/>
            <a:ext cx="2468880" cy="594360"/>
          </a:xfrm>
          <a:prstGeom prst="rect">
            <a:avLst/>
          </a:prstGeom>
          <a:noFill/>
          <a:ln/>
        </p:spPr>
        <p:txBody>
          <a:bodyPr wrap="square" rtlCol="0" anchor="ctr"/>
          <a:lstStyle/>
          <a:p>
            <a:pPr algn="ctr" indent="0" marL="0">
              <a:buNone/>
            </a:pPr>
            <a:r>
              <a:rPr lang="en-US" sz="3000" dirty="0">
                <a:solidFill>
                  <a:srgbClr val="000000"/>
                </a:solidFill>
              </a:rPr>
              <a:t xml:space="preserve">    </a:t>
            </a:r>
            <a:endParaRPr lang="en-US" sz="3000" dirty="0"/>
          </a:p>
        </p:txBody>
      </p:sp>
      <p:pic>
        <p:nvPicPr>
          <p:cNvPr id="22" name="Emoji 22" descr="emoji"/>
          <p:cNvPicPr>
            <a:picLocks noChangeAspect="1"/>
          </p:cNvPicPr>
          <p:nvPr/>
        </p:nvPicPr>
        <p:blipFill>
          <a:blip r:embed="rId104"/>
          <a:stretch>
            <a:fillRect/>
          </a:stretch>
        </p:blipFill>
        <p:spPr>
          <a:xfrm>
            <a:off x="7033260" y="2191512"/>
            <a:ext cx="381000" cy="381000"/>
          </a:xfrm>
          <a:prstGeom prst="rect">
            <a:avLst/>
          </a:prstGeom>
        </p:spPr>
      </p:pic>
      <p:sp>
        <p:nvSpPr>
          <p:cNvPr id="15" name="Text 13"/>
          <p:cNvSpPr/>
          <p:nvPr/>
        </p:nvSpPr>
        <p:spPr>
          <a:xfrm>
            <a:off x="5989320" y="2651760"/>
            <a:ext cx="2468880" cy="411480"/>
          </a:xfrm>
          <a:prstGeom prst="rect">
            <a:avLst/>
          </a:prstGeom>
          <a:noFill/>
          <a:ln/>
        </p:spPr>
        <p:txBody>
          <a:bodyPr wrap="square" rtlCol="0" anchor="ctr"/>
          <a:lstStyle/>
          <a:p>
            <a:pPr algn="ctr" indent="0" marL="0">
              <a:buNone/>
            </a:pPr>
            <a:r>
              <a:rPr lang="en-US" sz="1150" b="1" dirty="0">
                <a:solidFill>
                  <a:srgbClr val="1E293B"/>
                </a:solidFill>
                <a:latin typeface="Calibri" pitchFamily="34" charset="0"/>
                <a:ea typeface="Calibri" pitchFamily="34" charset="-122"/>
                <a:cs typeface="Calibri" pitchFamily="34" charset="-120"/>
              </a:rPr>
              <a:t xml:space="preserve">Türkçe: ana dilimiz</a:t>
            </a:r>
            <a:endParaRPr lang="en-US" sz="1150" dirty="0"/>
          </a:p>
        </p:txBody>
      </p:sp>
      <p:sp>
        <p:nvSpPr>
          <p:cNvPr id="16" name="Shape 14"/>
          <p:cNvSpPr/>
          <p:nvPr/>
        </p:nvSpPr>
        <p:spPr>
          <a:xfrm>
            <a:off x="548640" y="3337560"/>
            <a:ext cx="8046720" cy="1234440"/>
          </a:xfrm>
          <a:prstGeom prst="roundRect">
            <a:avLst>
              <a:gd name="adj" fmla="val 8889"/>
            </a:avLst>
          </a:prstGeom>
          <a:solidFill>
            <a:srgbClr val="FFEDD5"/>
          </a:solidFill>
          <a:ln w="12700">
            <a:solidFill>
              <a:srgbClr val="FFFFFF"/>
            </a:solidFill>
            <a:prstDash val="solid"/>
          </a:ln>
        </p:spPr>
      </p:sp>
      <p:sp>
        <p:nvSpPr>
          <p:cNvPr id="17" name="Text 15"/>
          <p:cNvSpPr/>
          <p:nvPr/>
        </p:nvSpPr>
        <p:spPr>
          <a:xfrm>
            <a:off x="822960" y="3337560"/>
            <a:ext cx="7498080" cy="1234440"/>
          </a:xfrm>
          <a:prstGeom prst="rect">
            <a:avLst/>
          </a:prstGeom>
          <a:noFill/>
          <a:ln/>
        </p:spPr>
        <p:txBody>
          <a:bodyPr wrap="square" rtlCol="0" anchor="ctr"/>
          <a:lstStyle/>
          <a:p>
            <a:pPr algn="l" indent="0" marL="0">
              <a:lnSpc>
                <a:spcPct val="125000"/>
              </a:lnSpc>
              <a:buNone/>
            </a:pPr>
            <a:r>
              <a:rPr lang="en-US" sz="1350" dirty="0">
                <a:solidFill>
                  <a:srgbClr val="1E293B"/>
                </a:solidFill>
                <a:latin typeface="Calibri" pitchFamily="34" charset="0"/>
                <a:ea typeface="Calibri" pitchFamily="34" charset="-122"/>
                <a:cs typeface="Calibri" pitchFamily="34" charset="-120"/>
              </a:rPr>
              <a:t xml:space="preserve">Yurt dışındaki aileler Türkçeyi ve gelenekleri yeni nesillere aktarır. Ana dilini ve kültürünü korumak herkesin hakkıdır.</a:t>
            </a:r>
            <a:endParaRPr lang="en-US" sz="1350" dirty="0"/>
          </a:p>
          <a:p>
            <a:pPr algn="l" indent="0" marL="0">
              <a:lnSpc>
                <a:spcPct val="125000"/>
              </a:lnSpc>
              <a:buNone/>
            </a:pPr>
            <a:r>
              <a:rPr lang="en-US" sz="1350" dirty="0">
                <a:solidFill>
                  <a:srgbClr val="1E293B"/>
                </a:solidFill>
                <a:latin typeface="Calibri" pitchFamily="34" charset="0"/>
                <a:ea typeface="Calibri" pitchFamily="34" charset="-122"/>
                <a:cs typeface="Calibri" pitchFamily="34" charset="-120"/>
              </a:rPr>
              <a:t xml:space="preserve">Sen ailenden neler öğrendin? Gelecekte kendi çocuklarına neyi aktarmak istersin?</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7ED"/>
          </a:solidFill>
          <a:ln/>
        </p:spPr>
      </p:sp>
      <p:sp>
        <p:nvSpPr>
          <p:cNvPr id="3" name="Shape 1"/>
          <p:cNvSpPr/>
          <p:nvPr/>
        </p:nvSpPr>
        <p:spPr>
          <a:xfrm>
            <a:off x="0" y="0"/>
            <a:ext cx="9144000" cy="658368"/>
          </a:xfrm>
          <a:prstGeom prst="rect">
            <a:avLst/>
          </a:prstGeom>
          <a:solidFill>
            <a:srgbClr val="F97316"/>
          </a:solidFill>
          <a:ln/>
        </p:spPr>
      </p:sp>
      <p:sp>
        <p:nvSpPr>
          <p:cNvPr id="4" name="Text 2"/>
          <p:cNvSpPr/>
          <p:nvPr/>
        </p:nvSpPr>
        <p:spPr>
          <a:xfrm>
            <a:off x="365760" y="0"/>
            <a:ext cx="8412480" cy="658368"/>
          </a:xfrm>
          <a:prstGeom prst="rect">
            <a:avLst/>
          </a:prstGeom>
          <a:noFill/>
          <a:ln/>
        </p:spPr>
        <p:txBody>
          <a:bodyPr wrap="square" rtlCol="0" anchor="ctr"/>
          <a:lstStyle/>
          <a:p>
            <a:pPr algn="l" indent="0" marL="0">
              <a:buNone/>
            </a:pPr>
            <a:r>
              <a:rPr lang="en-US" sz="1700" b="1" dirty="0">
                <a:solidFill>
                  <a:srgbClr val="FFFFFF"/>
                </a:solidFill>
                <a:latin typeface="Cambria" pitchFamily="34" charset="0"/>
                <a:ea typeface="Cambria" pitchFamily="34" charset="-122"/>
                <a:cs typeface="Cambria" pitchFamily="34" charset="-120"/>
              </a:rPr>
              <a:t xml:space="preserve">      YENİ SAHA GÖREVİ</a:t>
            </a:r>
            <a:endParaRPr lang="en-US" sz="1700" dirty="0"/>
          </a:p>
        </p:txBody>
      </p:sp>
      <p:pic>
        <p:nvPicPr>
          <p:cNvPr id="24" name="Emoji 24" descr="emoji"/>
          <p:cNvPicPr>
            <a:picLocks noChangeAspect="1"/>
          </p:cNvPicPr>
          <p:nvPr/>
        </p:nvPicPr>
        <p:blipFill>
          <a:blip r:embed="rId100"/>
          <a:stretch>
            <a:fillRect/>
          </a:stretch>
        </p:blipFill>
        <p:spPr>
          <a:xfrm>
            <a:off x="444246" y="221234"/>
            <a:ext cx="215900" cy="215900"/>
          </a:xfrm>
          <a:prstGeom prst="rect">
            <a:avLst/>
          </a:prstGeom>
        </p:spPr>
      </p:pic>
      <p:sp>
        <p:nvSpPr>
          <p:cNvPr id="5" name="Text 3"/>
          <p:cNvSpPr/>
          <p:nvPr/>
        </p:nvSpPr>
        <p:spPr>
          <a:xfrm>
            <a:off x="457200" y="749808"/>
            <a:ext cx="8229600" cy="411480"/>
          </a:xfrm>
          <a:prstGeom prst="rect">
            <a:avLst/>
          </a:prstGeom>
          <a:noFill/>
          <a:ln/>
        </p:spPr>
        <p:txBody>
          <a:bodyPr wrap="square" rtlCol="0" anchor="ctr"/>
          <a:lstStyle/>
          <a:p>
            <a:pPr algn="ctr" indent="0" marL="0">
              <a:buNone/>
            </a:pPr>
            <a:r>
              <a:rPr lang="en-US" sz="1100" b="1" i="1" dirty="0">
                <a:solidFill>
                  <a:srgbClr val="1A2E5A"/>
                </a:solidFill>
                <a:latin typeface="Calibri" pitchFamily="34" charset="0"/>
                <a:ea typeface="Calibri" pitchFamily="34" charset="-122"/>
                <a:cs typeface="Calibri" pitchFamily="34" charset="-120"/>
              </a:rPr>
              <a:t xml:space="preserve">Bu kez göreviniz: İki nesli karşılaştırıp saygı dilinin dönüşümünü ANALİZ ETMEK ve TARTIŞMAK!</a:t>
            </a:r>
            <a:endParaRPr lang="en-US" sz="1100" dirty="0"/>
          </a:p>
        </p:txBody>
      </p:sp>
      <p:sp>
        <p:nvSpPr>
          <p:cNvPr id="6" name="Shape 4"/>
          <p:cNvSpPr/>
          <p:nvPr/>
        </p:nvSpPr>
        <p:spPr>
          <a:xfrm>
            <a:off x="502920" y="1280160"/>
            <a:ext cx="8138160" cy="749808"/>
          </a:xfrm>
          <a:prstGeom prst="roundRect">
            <a:avLst>
              <a:gd name="adj" fmla="val 14634"/>
            </a:avLst>
          </a:prstGeom>
          <a:solidFill>
            <a:srgbClr val="FFFFFF"/>
          </a:solidFill>
          <a:ln w="12700">
            <a:solidFill>
              <a:srgbClr val="FFFFFF"/>
            </a:solidFill>
            <a:prstDash val="solid"/>
          </a:ln>
          <a:effectLst>
            <a:outerShdw sx="100000" sy="100000" kx="0" ky="0" algn="bl" rotWithShape="0" blurRad="76200" dist="25400" dir="5400000">
              <a:srgbClr val="1A2E5A">
                <a:alpha val="18000"/>
              </a:srgbClr>
            </a:outerShdw>
          </a:effectLst>
        </p:spPr>
      </p:sp>
      <p:sp>
        <p:nvSpPr>
          <p:cNvPr id="7" name="Shape 5"/>
          <p:cNvSpPr/>
          <p:nvPr/>
        </p:nvSpPr>
        <p:spPr>
          <a:xfrm>
            <a:off x="731520" y="1426464"/>
            <a:ext cx="457200" cy="457200"/>
          </a:xfrm>
          <a:prstGeom prst="ellipse">
            <a:avLst/>
          </a:prstGeom>
          <a:solidFill>
            <a:srgbClr val="F97316"/>
          </a:solidFill>
          <a:ln/>
        </p:spPr>
      </p:sp>
      <p:sp>
        <p:nvSpPr>
          <p:cNvPr id="8" name="Text 6"/>
          <p:cNvSpPr/>
          <p:nvPr/>
        </p:nvSpPr>
        <p:spPr>
          <a:xfrm>
            <a:off x="731520" y="1426464"/>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9" name="Text 7"/>
          <p:cNvSpPr/>
          <p:nvPr/>
        </p:nvSpPr>
        <p:spPr>
          <a:xfrm>
            <a:off x="1371600" y="1280160"/>
            <a:ext cx="7086600" cy="749808"/>
          </a:xfrm>
          <a:prstGeom prst="rect">
            <a:avLst/>
          </a:prstGeom>
          <a:noFill/>
          <a:ln/>
        </p:spPr>
        <p:txBody>
          <a:bodyPr wrap="square" rtlCol="0" anchor="ctr"/>
          <a:lstStyle/>
          <a:p>
            <a:pPr algn="l" indent="0" marL="0">
              <a:buNone/>
            </a:pPr>
            <a:r>
              <a:rPr lang="en-US" sz="1100" b="1" dirty="0">
                <a:solidFill>
                  <a:srgbClr val="1E293B"/>
                </a:solidFill>
                <a:latin typeface="Calibri" pitchFamily="34" charset="0"/>
                <a:ea typeface="Calibri" pitchFamily="34" charset="-122"/>
                <a:cs typeface="Calibri" pitchFamily="34" charset="-120"/>
              </a:rPr>
              <a:t xml:space="preserve">      Bir aile büyüğünüze sorun: “Gençliğiniz hangi yıllardaydı? O zamanlar büyüklere nasıl hitap edilirdi? Bizim neslin saygı anlayışında en çok neyi farklı görüyorsunuz?”</a:t>
            </a:r>
            <a:endParaRPr lang="en-US" sz="1100" dirty="0"/>
          </a:p>
        </p:txBody>
      </p:sp>
      <p:pic>
        <p:nvPicPr>
          <p:cNvPr id="25" name="Emoji 25" descr="emoji"/>
          <p:cNvPicPr>
            <a:picLocks noChangeAspect="1"/>
          </p:cNvPicPr>
          <p:nvPr/>
        </p:nvPicPr>
        <p:blipFill>
          <a:blip r:embed="rId101"/>
          <a:stretch>
            <a:fillRect/>
          </a:stretch>
        </p:blipFill>
        <p:spPr>
          <a:xfrm>
            <a:off x="1456356" y="1499997"/>
            <a:ext cx="139700" cy="139700"/>
          </a:xfrm>
          <a:prstGeom prst="rect">
            <a:avLst/>
          </a:prstGeom>
        </p:spPr>
      </p:pic>
      <p:sp>
        <p:nvSpPr>
          <p:cNvPr id="10" name="Shape 8"/>
          <p:cNvSpPr/>
          <p:nvPr/>
        </p:nvSpPr>
        <p:spPr>
          <a:xfrm>
            <a:off x="502920" y="2148840"/>
            <a:ext cx="8138160" cy="749808"/>
          </a:xfrm>
          <a:prstGeom prst="roundRect">
            <a:avLst>
              <a:gd name="adj" fmla="val 14634"/>
            </a:avLst>
          </a:prstGeom>
          <a:solidFill>
            <a:srgbClr val="FFFFFF"/>
          </a:solidFill>
          <a:ln w="12700">
            <a:solidFill>
              <a:srgbClr val="FFFFFF"/>
            </a:solidFill>
            <a:prstDash val="solid"/>
          </a:ln>
          <a:effectLst>
            <a:outerShdw sx="100000" sy="100000" kx="0" ky="0" algn="bl" rotWithShape="0" blurRad="76200" dist="25400" dir="5400000">
              <a:srgbClr val="1A2E5A">
                <a:alpha val="18000"/>
              </a:srgbClr>
            </a:outerShdw>
          </a:effectLst>
        </p:spPr>
      </p:sp>
      <p:sp>
        <p:nvSpPr>
          <p:cNvPr id="11" name="Shape 9"/>
          <p:cNvSpPr/>
          <p:nvPr/>
        </p:nvSpPr>
        <p:spPr>
          <a:xfrm>
            <a:off x="731520" y="2295144"/>
            <a:ext cx="457200" cy="457200"/>
          </a:xfrm>
          <a:prstGeom prst="ellipse">
            <a:avLst/>
          </a:prstGeom>
          <a:solidFill>
            <a:srgbClr val="F97316"/>
          </a:solidFill>
          <a:ln/>
        </p:spPr>
      </p:sp>
      <p:sp>
        <p:nvSpPr>
          <p:cNvPr id="12" name="Text 10"/>
          <p:cNvSpPr/>
          <p:nvPr/>
        </p:nvSpPr>
        <p:spPr>
          <a:xfrm>
            <a:off x="731520" y="2295144"/>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3" name="Text 11"/>
          <p:cNvSpPr/>
          <p:nvPr/>
        </p:nvSpPr>
        <p:spPr>
          <a:xfrm>
            <a:off x="1371600" y="2148840"/>
            <a:ext cx="7086600" cy="749808"/>
          </a:xfrm>
          <a:prstGeom prst="rect">
            <a:avLst/>
          </a:prstGeom>
          <a:noFill/>
          <a:ln/>
        </p:spPr>
        <p:txBody>
          <a:bodyPr wrap="square" rtlCol="0" anchor="ctr"/>
          <a:lstStyle/>
          <a:p>
            <a:pPr algn="l" indent="0" marL="0">
              <a:buNone/>
            </a:pPr>
            <a:r>
              <a:rPr lang="en-US" sz="1100" b="1" dirty="0">
                <a:solidFill>
                  <a:srgbClr val="1E293B"/>
                </a:solidFill>
                <a:latin typeface="Calibri" pitchFamily="34" charset="0"/>
                <a:ea typeface="Calibri" pitchFamily="34" charset="-122"/>
                <a:cs typeface="Calibri" pitchFamily="34" charset="-120"/>
              </a:rPr>
              <a:t xml:space="preserve">      Cevaplarını not alın.</a:t>
            </a:r>
            <a:endParaRPr lang="en-US" sz="1100" dirty="0"/>
          </a:p>
        </p:txBody>
      </p:sp>
      <p:pic>
        <p:nvPicPr>
          <p:cNvPr id="26" name="Emoji 26" descr="emoji"/>
          <p:cNvPicPr>
            <a:picLocks noChangeAspect="1"/>
          </p:cNvPicPr>
          <p:nvPr/>
        </p:nvPicPr>
        <p:blipFill>
          <a:blip r:embed="rId102"/>
          <a:stretch>
            <a:fillRect/>
          </a:stretch>
        </p:blipFill>
        <p:spPr>
          <a:xfrm>
            <a:off x="1456356" y="2453894"/>
            <a:ext cx="139700" cy="139700"/>
          </a:xfrm>
          <a:prstGeom prst="rect">
            <a:avLst/>
          </a:prstGeom>
        </p:spPr>
      </p:pic>
      <p:sp>
        <p:nvSpPr>
          <p:cNvPr id="14" name="Shape 12"/>
          <p:cNvSpPr/>
          <p:nvPr/>
        </p:nvSpPr>
        <p:spPr>
          <a:xfrm>
            <a:off x="502920" y="3017520"/>
            <a:ext cx="8138160" cy="749808"/>
          </a:xfrm>
          <a:prstGeom prst="roundRect">
            <a:avLst>
              <a:gd name="adj" fmla="val 14634"/>
            </a:avLst>
          </a:prstGeom>
          <a:solidFill>
            <a:srgbClr val="FFFFFF"/>
          </a:solidFill>
          <a:ln w="12700">
            <a:solidFill>
              <a:srgbClr val="FFFFFF"/>
            </a:solidFill>
            <a:prstDash val="solid"/>
          </a:ln>
          <a:effectLst>
            <a:outerShdw sx="100000" sy="100000" kx="0" ky="0" algn="bl" rotWithShape="0" blurRad="76200" dist="25400" dir="5400000">
              <a:srgbClr val="1A2E5A">
                <a:alpha val="18000"/>
              </a:srgbClr>
            </a:outerShdw>
          </a:effectLst>
        </p:spPr>
      </p:sp>
      <p:sp>
        <p:nvSpPr>
          <p:cNvPr id="15" name="Shape 13"/>
          <p:cNvSpPr/>
          <p:nvPr/>
        </p:nvSpPr>
        <p:spPr>
          <a:xfrm>
            <a:off x="731520" y="3163824"/>
            <a:ext cx="457200" cy="457200"/>
          </a:xfrm>
          <a:prstGeom prst="ellipse">
            <a:avLst/>
          </a:prstGeom>
          <a:solidFill>
            <a:srgbClr val="F97316"/>
          </a:solidFill>
          <a:ln/>
        </p:spPr>
      </p:sp>
      <p:sp>
        <p:nvSpPr>
          <p:cNvPr id="16" name="Text 14"/>
          <p:cNvSpPr/>
          <p:nvPr/>
        </p:nvSpPr>
        <p:spPr>
          <a:xfrm>
            <a:off x="731520" y="3163824"/>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7" name="Text 15"/>
          <p:cNvSpPr/>
          <p:nvPr/>
        </p:nvSpPr>
        <p:spPr>
          <a:xfrm>
            <a:off x="1371600" y="3017520"/>
            <a:ext cx="7086600" cy="749808"/>
          </a:xfrm>
          <a:prstGeom prst="rect">
            <a:avLst/>
          </a:prstGeom>
          <a:noFill/>
          <a:ln/>
        </p:spPr>
        <p:txBody>
          <a:bodyPr wrap="square" rtlCol="0" anchor="ctr"/>
          <a:lstStyle/>
          <a:p>
            <a:pPr algn="l" indent="0" marL="0">
              <a:buNone/>
            </a:pPr>
            <a:r>
              <a:rPr lang="en-US" sz="1100" b="1" dirty="0">
                <a:solidFill>
                  <a:srgbClr val="1E293B"/>
                </a:solidFill>
                <a:latin typeface="Calibri" pitchFamily="34" charset="0"/>
                <a:ea typeface="Calibri" pitchFamily="34" charset="-122"/>
                <a:cs typeface="Calibri" pitchFamily="34" charset="-120"/>
              </a:rPr>
              <a:t xml:space="preserve">      Kendi çevrenizde (okulda/sosyal medyada) gençlerin büyüklere nasıl hitap ettiğini gözlemleyin.</a:t>
            </a:r>
            <a:endParaRPr lang="en-US" sz="1100" dirty="0"/>
          </a:p>
        </p:txBody>
      </p:sp>
      <p:pic>
        <p:nvPicPr>
          <p:cNvPr id="27" name="Emoji 27" descr="emoji"/>
          <p:cNvPicPr>
            <a:picLocks noChangeAspect="1"/>
          </p:cNvPicPr>
          <p:nvPr/>
        </p:nvPicPr>
        <p:blipFill>
          <a:blip r:embed="rId103"/>
          <a:stretch>
            <a:fillRect/>
          </a:stretch>
        </p:blipFill>
        <p:spPr>
          <a:xfrm>
            <a:off x="1456356" y="3322574"/>
            <a:ext cx="139700" cy="139700"/>
          </a:xfrm>
          <a:prstGeom prst="rect">
            <a:avLst/>
          </a:prstGeom>
        </p:spPr>
      </p:pic>
      <p:sp>
        <p:nvSpPr>
          <p:cNvPr id="18" name="Shape 16"/>
          <p:cNvSpPr/>
          <p:nvPr/>
        </p:nvSpPr>
        <p:spPr>
          <a:xfrm>
            <a:off x="502920" y="3886200"/>
            <a:ext cx="8138160" cy="749808"/>
          </a:xfrm>
          <a:prstGeom prst="roundRect">
            <a:avLst>
              <a:gd name="adj" fmla="val 14634"/>
            </a:avLst>
          </a:prstGeom>
          <a:solidFill>
            <a:srgbClr val="FFFFFF"/>
          </a:solidFill>
          <a:ln w="12700">
            <a:solidFill>
              <a:srgbClr val="FFFFFF"/>
            </a:solidFill>
            <a:prstDash val="solid"/>
          </a:ln>
          <a:effectLst>
            <a:outerShdw sx="100000" sy="100000" kx="0" ky="0" algn="bl" rotWithShape="0" blurRad="76200" dist="25400" dir="5400000">
              <a:srgbClr val="1A2E5A">
                <a:alpha val="18000"/>
              </a:srgbClr>
            </a:outerShdw>
          </a:effectLst>
        </p:spPr>
      </p:sp>
      <p:sp>
        <p:nvSpPr>
          <p:cNvPr id="19" name="Shape 17"/>
          <p:cNvSpPr/>
          <p:nvPr/>
        </p:nvSpPr>
        <p:spPr>
          <a:xfrm>
            <a:off x="731520" y="4032504"/>
            <a:ext cx="457200" cy="457200"/>
          </a:xfrm>
          <a:prstGeom prst="ellipse">
            <a:avLst/>
          </a:prstGeom>
          <a:solidFill>
            <a:srgbClr val="F97316"/>
          </a:solidFill>
          <a:ln/>
        </p:spPr>
      </p:sp>
      <p:sp>
        <p:nvSpPr>
          <p:cNvPr id="20" name="Text 18"/>
          <p:cNvSpPr/>
          <p:nvPr/>
        </p:nvSpPr>
        <p:spPr>
          <a:xfrm>
            <a:off x="731520" y="4032504"/>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1" name="Text 19"/>
          <p:cNvSpPr/>
          <p:nvPr/>
        </p:nvSpPr>
        <p:spPr>
          <a:xfrm>
            <a:off x="1371600" y="3886200"/>
            <a:ext cx="7086600" cy="749808"/>
          </a:xfrm>
          <a:prstGeom prst="rect">
            <a:avLst/>
          </a:prstGeom>
          <a:noFill/>
          <a:ln/>
        </p:spPr>
        <p:txBody>
          <a:bodyPr wrap="square" rtlCol="0" anchor="ctr"/>
          <a:lstStyle/>
          <a:p>
            <a:pPr algn="l" indent="0" marL="0">
              <a:buNone/>
            </a:pPr>
            <a:r>
              <a:rPr lang="en-US" sz="1100" b="1" dirty="0">
                <a:solidFill>
                  <a:srgbClr val="1E293B"/>
                </a:solidFill>
                <a:latin typeface="Calibri" pitchFamily="34" charset="0"/>
                <a:ea typeface="Calibri" pitchFamily="34" charset="-122"/>
                <a:cs typeface="Calibri" pitchFamily="34" charset="-120"/>
              </a:rPr>
              <a:t xml:space="preserve">      İki nesil arasındaki farkı analiz eden ve kendi görüşünüzü savunan 1 sayfalık bir değerlendirme raporu yazın.</a:t>
            </a:r>
            <a:endParaRPr lang="en-US" sz="1100" dirty="0"/>
          </a:p>
        </p:txBody>
      </p:sp>
      <p:pic>
        <p:nvPicPr>
          <p:cNvPr id="28" name="Emoji 28" descr="emoji"/>
          <p:cNvPicPr>
            <a:picLocks noChangeAspect="1"/>
          </p:cNvPicPr>
          <p:nvPr/>
        </p:nvPicPr>
        <p:blipFill>
          <a:blip r:embed="rId104"/>
          <a:stretch>
            <a:fillRect/>
          </a:stretch>
        </p:blipFill>
        <p:spPr>
          <a:xfrm>
            <a:off x="1456356" y="4191254"/>
            <a:ext cx="139700" cy="139700"/>
          </a:xfrm>
          <a:prstGeom prst="rect">
            <a:avLst/>
          </a:prstGeom>
        </p:spPr>
      </p:pic>
      <p:sp>
        <p:nvSpPr>
          <p:cNvPr id="22" name="Shape 20"/>
          <p:cNvSpPr/>
          <p:nvPr/>
        </p:nvSpPr>
        <p:spPr>
          <a:xfrm>
            <a:off x="1188720" y="4590288"/>
            <a:ext cx="6766560" cy="438912"/>
          </a:xfrm>
          <a:prstGeom prst="roundRect">
            <a:avLst>
              <a:gd name="adj" fmla="val 50000"/>
            </a:avLst>
          </a:prstGeom>
          <a:solidFill>
            <a:srgbClr val="F97316"/>
          </a:solidFill>
          <a:ln/>
        </p:spPr>
      </p:sp>
      <p:sp>
        <p:nvSpPr>
          <p:cNvPr id="23" name="Text 21"/>
          <p:cNvSpPr/>
          <p:nvPr/>
        </p:nvSpPr>
        <p:spPr>
          <a:xfrm>
            <a:off x="1188720" y="4590288"/>
            <a:ext cx="6766560" cy="438912"/>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xml:space="preserve">Raporunuzu bir sonraki derse getirin — sınıfta tartışacağız!     </a:t>
            </a:r>
            <a:endParaRPr lang="en-US" sz="1200" dirty="0"/>
          </a:p>
        </p:txBody>
      </p:sp>
      <p:pic>
        <p:nvPicPr>
          <p:cNvPr id="29" name="Emoji 29" descr="emoji"/>
          <p:cNvPicPr>
            <a:picLocks noChangeAspect="1"/>
          </p:cNvPicPr>
          <p:nvPr/>
        </p:nvPicPr>
        <p:blipFill>
          <a:blip r:embed="rId105"/>
          <a:stretch>
            <a:fillRect/>
          </a:stretch>
        </p:blipFill>
        <p:spPr>
          <a:xfrm>
            <a:off x="6357468" y="4733544"/>
            <a:ext cx="152400" cy="1524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A2E5A"/>
          </a:solidFill>
          <a:ln/>
        </p:spPr>
      </p:sp>
      <p:sp>
        <p:nvSpPr>
          <p:cNvPr id="3" name="Text 1"/>
          <p:cNvSpPr/>
          <p:nvPr/>
        </p:nvSpPr>
        <p:spPr>
          <a:xfrm>
            <a:off x="274320" y="182880"/>
            <a:ext cx="365760" cy="365760"/>
          </a:xfrm>
          <a:prstGeom prst="rect">
            <a:avLst/>
          </a:prstGeom>
          <a:noFill/>
          <a:ln/>
        </p:spPr>
        <p:txBody>
          <a:bodyPr wrap="square" rtlCol="0" anchor="ctr"/>
          <a:lstStyle/>
          <a:p>
            <a:pPr algn="ctr" indent="0" marL="0">
              <a:buNone/>
            </a:pPr>
            <a:r>
              <a:rPr lang="en-US" sz="1600" dirty="0">
                <a:solidFill>
                  <a:srgbClr val="FBBF24"/>
                </a:solidFill>
              </a:rPr>
              <a:t>★</a:t>
            </a:r>
            <a:endParaRPr lang="en-US" sz="1600" dirty="0"/>
          </a:p>
        </p:txBody>
      </p:sp>
      <p:sp>
        <p:nvSpPr>
          <p:cNvPr id="4" name="Text 2"/>
          <p:cNvSpPr/>
          <p:nvPr/>
        </p:nvSpPr>
        <p:spPr>
          <a:xfrm>
            <a:off x="8321040" y="182880"/>
            <a:ext cx="365760" cy="365760"/>
          </a:xfrm>
          <a:prstGeom prst="rect">
            <a:avLst/>
          </a:prstGeom>
          <a:noFill/>
          <a:ln/>
        </p:spPr>
        <p:txBody>
          <a:bodyPr wrap="square" rtlCol="0" anchor="ctr"/>
          <a:lstStyle/>
          <a:p>
            <a:pPr algn="ctr" indent="0" marL="0">
              <a:buNone/>
            </a:pPr>
            <a:r>
              <a:rPr lang="en-US" sz="1600" dirty="0">
                <a:solidFill>
                  <a:srgbClr val="FBBF24"/>
                </a:solidFill>
              </a:rPr>
              <a:t>★</a:t>
            </a:r>
            <a:endParaRPr lang="en-US" sz="1600" dirty="0"/>
          </a:p>
        </p:txBody>
      </p:sp>
      <p:sp>
        <p:nvSpPr>
          <p:cNvPr id="5" name="Text 3"/>
          <p:cNvSpPr/>
          <p:nvPr/>
        </p:nvSpPr>
        <p:spPr>
          <a:xfrm>
            <a:off x="274320" y="4480560"/>
            <a:ext cx="365760" cy="365760"/>
          </a:xfrm>
          <a:prstGeom prst="rect">
            <a:avLst/>
          </a:prstGeom>
          <a:noFill/>
          <a:ln/>
        </p:spPr>
        <p:txBody>
          <a:bodyPr wrap="square" rtlCol="0" anchor="ctr"/>
          <a:lstStyle/>
          <a:p>
            <a:pPr algn="ctr" indent="0" marL="0">
              <a:buNone/>
            </a:pPr>
            <a:r>
              <a:rPr lang="en-US" sz="1600" dirty="0">
                <a:solidFill>
                  <a:srgbClr val="FBBF24"/>
                </a:solidFill>
              </a:rPr>
              <a:t>★</a:t>
            </a:r>
            <a:endParaRPr lang="en-US" sz="1600" dirty="0"/>
          </a:p>
        </p:txBody>
      </p:sp>
      <p:sp>
        <p:nvSpPr>
          <p:cNvPr id="6" name="Text 4"/>
          <p:cNvSpPr/>
          <p:nvPr/>
        </p:nvSpPr>
        <p:spPr>
          <a:xfrm>
            <a:off x="8321040" y="4480560"/>
            <a:ext cx="365760" cy="365760"/>
          </a:xfrm>
          <a:prstGeom prst="rect">
            <a:avLst/>
          </a:prstGeom>
          <a:noFill/>
          <a:ln/>
        </p:spPr>
        <p:txBody>
          <a:bodyPr wrap="square" rtlCol="0" anchor="ctr"/>
          <a:lstStyle/>
          <a:p>
            <a:pPr algn="ctr" indent="0" marL="0">
              <a:buNone/>
            </a:pPr>
            <a:r>
              <a:rPr lang="en-US" sz="1600" dirty="0">
                <a:solidFill>
                  <a:srgbClr val="FBBF24"/>
                </a:solidFill>
              </a:rPr>
              <a:t>★</a:t>
            </a:r>
            <a:endParaRPr lang="en-US" sz="1600" dirty="0"/>
          </a:p>
        </p:txBody>
      </p:sp>
      <p:sp>
        <p:nvSpPr>
          <p:cNvPr id="7" name="Text 5"/>
          <p:cNvSpPr/>
          <p:nvPr/>
        </p:nvSpPr>
        <p:spPr>
          <a:xfrm>
            <a:off x="457200" y="502920"/>
            <a:ext cx="8229600" cy="640080"/>
          </a:xfrm>
          <a:prstGeom prst="rect">
            <a:avLst/>
          </a:prstGeom>
          <a:noFill/>
          <a:ln/>
        </p:spPr>
        <p:txBody>
          <a:bodyPr wrap="square" rtlCol="0" anchor="ctr"/>
          <a:lstStyle/>
          <a:p>
            <a:pPr algn="ctr" indent="0" marL="0">
              <a:buNone/>
            </a:pPr>
            <a:r>
              <a:rPr lang="en-US" sz="3200" b="1" dirty="0">
                <a:solidFill>
                  <a:srgbClr val="FBBF24"/>
                </a:solidFill>
                <a:latin typeface="Cambria" pitchFamily="34" charset="0"/>
                <a:ea typeface="Cambria" pitchFamily="34" charset="-122"/>
                <a:cs typeface="Cambria" pitchFamily="34" charset="-120"/>
              </a:rPr>
              <a:t>GÖREV TAMAMLANDI!</a:t>
            </a:r>
            <a:endParaRPr lang="en-US" sz="3200" dirty="0"/>
          </a:p>
        </p:txBody>
      </p:sp>
      <p:sp>
        <p:nvSpPr>
          <p:cNvPr id="8" name="Shape 6"/>
          <p:cNvSpPr/>
          <p:nvPr/>
        </p:nvSpPr>
        <p:spPr>
          <a:xfrm>
            <a:off x="388620" y="2011680"/>
            <a:ext cx="1600200" cy="1371600"/>
          </a:xfrm>
          <a:prstGeom prst="roundRect">
            <a:avLst>
              <a:gd name="adj" fmla="val 8000"/>
            </a:avLst>
          </a:prstGeom>
          <a:solidFill>
            <a:srgbClr val="F97316"/>
          </a:solidFill>
          <a:ln/>
        </p:spPr>
      </p:sp>
      <p:sp>
        <p:nvSpPr>
          <p:cNvPr id="9" name="Text 7"/>
          <p:cNvSpPr/>
          <p:nvPr/>
        </p:nvSpPr>
        <p:spPr>
          <a:xfrm>
            <a:off x="388620" y="2011680"/>
            <a:ext cx="1600200" cy="13716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 xml:space="preserve">Onlu Yıllar</a:t>
            </a:r>
            <a:endParaRPr lang="en-US" sz="1100" dirty="0"/>
          </a:p>
        </p:txBody>
      </p:sp>
      <p:sp>
        <p:nvSpPr>
          <p:cNvPr id="10" name="Shape 8"/>
          <p:cNvSpPr/>
          <p:nvPr/>
        </p:nvSpPr>
        <p:spPr>
          <a:xfrm>
            <a:off x="2080260" y="2011680"/>
            <a:ext cx="1600200" cy="1371600"/>
          </a:xfrm>
          <a:prstGeom prst="roundRect">
            <a:avLst>
              <a:gd name="adj" fmla="val 8000"/>
            </a:avLst>
          </a:prstGeom>
          <a:solidFill>
            <a:srgbClr val="2563EB"/>
          </a:solidFill>
          <a:ln/>
        </p:spPr>
      </p:sp>
      <p:sp>
        <p:nvSpPr>
          <p:cNvPr id="11" name="Text 9"/>
          <p:cNvSpPr/>
          <p:nvPr/>
        </p:nvSpPr>
        <p:spPr>
          <a:xfrm>
            <a:off x="2080260" y="2011680"/>
            <a:ext cx="1600200" cy="13716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Eskiden/Şimdi</a:t>
            </a:r>
            <a:endParaRPr lang="en-US" sz="1100" dirty="0"/>
          </a:p>
        </p:txBody>
      </p:sp>
      <p:sp>
        <p:nvSpPr>
          <p:cNvPr id="12" name="Shape 10"/>
          <p:cNvSpPr/>
          <p:nvPr/>
        </p:nvSpPr>
        <p:spPr>
          <a:xfrm>
            <a:off x="3771900" y="2011680"/>
            <a:ext cx="1600200" cy="1371600"/>
          </a:xfrm>
          <a:prstGeom prst="roundRect">
            <a:avLst>
              <a:gd name="adj" fmla="val 8000"/>
            </a:avLst>
          </a:prstGeom>
          <a:solidFill>
            <a:srgbClr val="4338CA"/>
          </a:solidFill>
          <a:ln/>
        </p:spPr>
      </p:sp>
      <p:sp>
        <p:nvSpPr>
          <p:cNvPr id="13" name="Text 11"/>
          <p:cNvSpPr/>
          <p:nvPr/>
        </p:nvSpPr>
        <p:spPr>
          <a:xfrm>
            <a:off x="3771900" y="2011680"/>
            <a:ext cx="1600200" cy="13716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Toplumsal Dönüşüm</a:t>
            </a:r>
            <a:endParaRPr lang="en-US" sz="1100" dirty="0"/>
          </a:p>
        </p:txBody>
      </p:sp>
      <p:sp>
        <p:nvSpPr>
          <p:cNvPr id="14" name="Shape 12"/>
          <p:cNvSpPr/>
          <p:nvPr/>
        </p:nvSpPr>
        <p:spPr>
          <a:xfrm>
            <a:off x="5463540" y="2011680"/>
            <a:ext cx="1600200" cy="1371600"/>
          </a:xfrm>
          <a:prstGeom prst="roundRect">
            <a:avLst>
              <a:gd name="adj" fmla="val 8000"/>
            </a:avLst>
          </a:prstGeom>
          <a:solidFill>
            <a:srgbClr val="16A34A"/>
          </a:solidFill>
          <a:ln/>
        </p:spPr>
      </p:sp>
      <p:sp>
        <p:nvSpPr>
          <p:cNvPr id="15" name="Text 13"/>
          <p:cNvSpPr/>
          <p:nvPr/>
        </p:nvSpPr>
        <p:spPr>
          <a:xfrm>
            <a:off x="5463540" y="2011680"/>
            <a:ext cx="1600200" cy="13716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Saygı Analizi</a:t>
            </a:r>
            <a:endParaRPr lang="en-US" sz="1100" dirty="0"/>
          </a:p>
        </p:txBody>
      </p:sp>
      <p:sp>
        <p:nvSpPr>
          <p:cNvPr id="16" name="Shape 14"/>
          <p:cNvSpPr/>
          <p:nvPr/>
        </p:nvSpPr>
        <p:spPr>
          <a:xfrm>
            <a:off x="7155180" y="2011680"/>
            <a:ext cx="1600200" cy="1371600"/>
          </a:xfrm>
          <a:prstGeom prst="roundRect">
            <a:avLst>
              <a:gd name="adj" fmla="val 8000"/>
            </a:avLst>
          </a:prstGeom>
          <a:solidFill>
            <a:srgbClr val="7C3AED"/>
          </a:solidFill>
          <a:ln/>
        </p:spPr>
      </p:sp>
      <p:sp>
        <p:nvSpPr>
          <p:cNvPr id="17" name="Text 15"/>
          <p:cNvSpPr/>
          <p:nvPr/>
        </p:nvSpPr>
        <p:spPr>
          <a:xfrm>
            <a:off x="7155180" y="2011680"/>
            <a:ext cx="1600200" cy="13716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 xml:space="preserve">Kuşak Aktarımı</a:t>
            </a:r>
            <a:endParaRPr lang="en-US" sz="1100" dirty="0"/>
          </a:p>
        </p:txBody>
      </p:sp>
      <p:sp>
        <p:nvSpPr>
          <p:cNvPr id="18" name="Text 16"/>
          <p:cNvSpPr/>
          <p:nvPr/>
        </p:nvSpPr>
        <p:spPr>
          <a:xfrm>
            <a:off x="457200" y="3931920"/>
            <a:ext cx="8229600" cy="548640"/>
          </a:xfrm>
          <a:prstGeom prst="rect">
            <a:avLst/>
          </a:prstGeom>
          <a:noFill/>
          <a:ln/>
        </p:spPr>
        <p:txBody>
          <a:bodyPr wrap="square" rtlCol="0" anchor="ctr"/>
          <a:lstStyle/>
          <a:p>
            <a:pPr algn="ctr" indent="0" marL="0">
              <a:buNone/>
            </a:pPr>
            <a:r>
              <a:rPr lang="en-US" sz="1500" i="1" dirty="0">
                <a:solidFill>
                  <a:srgbClr val="FFFFFF"/>
                </a:solidFill>
                <a:latin typeface="Calibri" pitchFamily="34" charset="0"/>
                <a:ea typeface="Calibri" pitchFamily="34" charset="-122"/>
                <a:cs typeface="Calibri" pitchFamily="34" charset="-120"/>
              </a:rPr>
              <a:t xml:space="preserve">Bir sonraki görevde görüşmek üzere!     </a:t>
            </a:r>
            <a:endParaRPr lang="en-US" sz="1500" dirty="0"/>
          </a:p>
        </p:txBody>
      </p:sp>
      <p:pic>
        <p:nvPicPr>
          <p:cNvPr id="19" name="Emoji 19" descr="emoji"/>
          <p:cNvPicPr>
            <a:picLocks noChangeAspect="1"/>
          </p:cNvPicPr>
          <p:nvPr/>
        </p:nvPicPr>
        <p:blipFill>
          <a:blip r:embed="rId100"/>
          <a:stretch>
            <a:fillRect/>
          </a:stretch>
        </p:blipFill>
        <p:spPr>
          <a:xfrm>
            <a:off x="5905324" y="4110990"/>
            <a:ext cx="190500" cy="1905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7ED"/>
          </a:solidFill>
          <a:ln/>
        </p:spPr>
      </p:sp>
      <p:sp>
        <p:nvSpPr>
          <p:cNvPr id="3" name="Shape 1"/>
          <p:cNvSpPr/>
          <p:nvPr/>
        </p:nvSpPr>
        <p:spPr>
          <a:xfrm>
            <a:off x="0" y="0"/>
            <a:ext cx="9144000" cy="658368"/>
          </a:xfrm>
          <a:prstGeom prst="rect">
            <a:avLst/>
          </a:prstGeom>
          <a:solidFill>
            <a:srgbClr val="F97316"/>
          </a:solidFill>
          <a:ln/>
        </p:spPr>
      </p:sp>
      <p:sp>
        <p:nvSpPr>
          <p:cNvPr id="4" name="Text 2"/>
          <p:cNvSpPr/>
          <p:nvPr/>
        </p:nvSpPr>
        <p:spPr>
          <a:xfrm>
            <a:off x="365760" y="0"/>
            <a:ext cx="8412480" cy="658368"/>
          </a:xfrm>
          <a:prstGeom prst="rect">
            <a:avLst/>
          </a:prstGeom>
          <a:noFill/>
          <a:ln/>
        </p:spPr>
        <p:txBody>
          <a:bodyPr wrap="square" rtlCol="0" anchor="ctr"/>
          <a:lstStyle/>
          <a:p>
            <a:pPr algn="l" indent="0" marL="0">
              <a:buNone/>
            </a:pPr>
            <a:r>
              <a:rPr lang="en-US" sz="1700" b="1" dirty="0">
                <a:solidFill>
                  <a:srgbClr val="1A2E5A"/>
                </a:solidFill>
                <a:latin typeface="Cambria" pitchFamily="34" charset="0"/>
                <a:ea typeface="Cambria" pitchFamily="34" charset="-122"/>
                <a:cs typeface="Cambria" pitchFamily="34" charset="-120"/>
              </a:rPr>
              <a:t xml:space="preserve">      ZAMAN TÜNELİ: ONLU YILLAR VE YÜZYILLAR</a:t>
            </a:r>
            <a:endParaRPr lang="en-US" sz="1700" dirty="0"/>
          </a:p>
        </p:txBody>
      </p:sp>
      <p:pic>
        <p:nvPicPr>
          <p:cNvPr id="18" name="Emoji 18" descr="emoji"/>
          <p:cNvPicPr>
            <a:picLocks noChangeAspect="1"/>
          </p:cNvPicPr>
          <p:nvPr/>
        </p:nvPicPr>
        <p:blipFill>
          <a:blip r:embed="rId100"/>
          <a:stretch>
            <a:fillRect/>
          </a:stretch>
        </p:blipFill>
        <p:spPr>
          <a:xfrm>
            <a:off x="444246" y="221234"/>
            <a:ext cx="215900" cy="215900"/>
          </a:xfrm>
          <a:prstGeom prst="rect">
            <a:avLst/>
          </a:prstGeom>
        </p:spPr>
      </p:pic>
      <p:sp>
        <p:nvSpPr>
          <p:cNvPr id="5" name="Shape 3"/>
          <p:cNvSpPr/>
          <p:nvPr/>
        </p:nvSpPr>
        <p:spPr>
          <a:xfrm>
            <a:off x="548640" y="868680"/>
            <a:ext cx="8046720" cy="960120"/>
          </a:xfrm>
          <a:prstGeom prst="roundRect">
            <a:avLst>
              <a:gd name="adj" fmla="val 11429"/>
            </a:avLst>
          </a:prstGeom>
          <a:solidFill>
            <a:srgbClr val="FFFFFF"/>
          </a:solidFill>
          <a:ln w="12700">
            <a:solidFill>
              <a:srgbClr val="FFFFFF"/>
            </a:solidFill>
            <a:prstDash val="solid"/>
          </a:ln>
          <a:effectLst>
            <a:outerShdw sx="100000" sy="100000" kx="0" ky="0" algn="bl" rotWithShape="0" blurRad="76200" dist="25400" dir="5400000">
              <a:srgbClr val="1A2E5A">
                <a:alpha val="18000"/>
              </a:srgbClr>
            </a:outerShdw>
          </a:effectLst>
        </p:spPr>
      </p:sp>
      <p:sp>
        <p:nvSpPr>
          <p:cNvPr id="6" name="Text 4"/>
          <p:cNvSpPr/>
          <p:nvPr/>
        </p:nvSpPr>
        <p:spPr>
          <a:xfrm>
            <a:off x="822960" y="868680"/>
            <a:ext cx="7498080" cy="960120"/>
          </a:xfrm>
          <a:prstGeom prst="rect">
            <a:avLst/>
          </a:prstGeom>
          <a:noFill/>
          <a:ln/>
        </p:spPr>
        <p:txBody>
          <a:bodyPr wrap="square" rtlCol="0" anchor="ctr"/>
          <a:lstStyle/>
          <a:p>
            <a:pPr algn="l" indent="0" marL="0">
              <a:buNone/>
            </a:pPr>
            <a:r>
              <a:rPr lang="en-US" sz="1500" dirty="0">
                <a:solidFill>
                  <a:srgbClr val="1E1E1E"/>
                </a:solidFill>
                <a:latin typeface="Calibri" pitchFamily="34" charset="0"/>
                <a:ea typeface="Calibri" pitchFamily="34" charset="-122"/>
                <a:cs typeface="Calibri" pitchFamily="34" charset="-120"/>
              </a:rPr>
              <a:t xml:space="preserve">      1960'lı yıllar = altmışlı yıllar  •  1980'li yıllar = seksenli yıllar  •  21. yüzyıl</a:t>
            </a:r>
            <a:endParaRPr lang="en-US" sz="1500" dirty="0"/>
          </a:p>
        </p:txBody>
      </p:sp>
      <p:pic>
        <p:nvPicPr>
          <p:cNvPr id="19" name="Emoji 19" descr="emoji"/>
          <p:cNvPicPr>
            <a:picLocks noChangeAspect="1"/>
          </p:cNvPicPr>
          <p:nvPr/>
        </p:nvPicPr>
        <p:blipFill>
          <a:blip r:embed="rId101"/>
          <a:stretch>
            <a:fillRect/>
          </a:stretch>
        </p:blipFill>
        <p:spPr>
          <a:xfrm>
            <a:off x="905285" y="1253490"/>
            <a:ext cx="190500" cy="190500"/>
          </a:xfrm>
          <a:prstGeom prst="rect">
            <a:avLst/>
          </a:prstGeom>
        </p:spPr>
      </p:pic>
      <p:sp>
        <p:nvSpPr>
          <p:cNvPr id="7" name="Shape 5"/>
          <p:cNvSpPr/>
          <p:nvPr/>
        </p:nvSpPr>
        <p:spPr>
          <a:xfrm>
            <a:off x="685800" y="2011680"/>
            <a:ext cx="2468880" cy="1143000"/>
          </a:xfrm>
          <a:prstGeom prst="roundRect">
            <a:avLst>
              <a:gd name="adj" fmla="val 9600"/>
            </a:avLst>
          </a:prstGeom>
          <a:solidFill>
            <a:srgbClr val="FFFFFF"/>
          </a:solidFill>
          <a:ln w="12700">
            <a:solidFill>
              <a:srgbClr val="FFFFFF"/>
            </a:solidFill>
            <a:prstDash val="solid"/>
          </a:ln>
        </p:spPr>
      </p:sp>
      <p:sp>
        <p:nvSpPr>
          <p:cNvPr id="8" name="Text 6"/>
          <p:cNvSpPr/>
          <p:nvPr/>
        </p:nvSpPr>
        <p:spPr>
          <a:xfrm>
            <a:off x="685800" y="2084832"/>
            <a:ext cx="2468880" cy="594360"/>
          </a:xfrm>
          <a:prstGeom prst="rect">
            <a:avLst/>
          </a:prstGeom>
          <a:noFill/>
          <a:ln/>
        </p:spPr>
        <p:txBody>
          <a:bodyPr wrap="square" rtlCol="0" anchor="ctr"/>
          <a:lstStyle/>
          <a:p>
            <a:pPr algn="ctr" indent="0" marL="0">
              <a:buNone/>
            </a:pPr>
            <a:r>
              <a:rPr lang="en-US" sz="3000" dirty="0">
                <a:solidFill>
                  <a:srgbClr val="000000"/>
                </a:solidFill>
              </a:rPr>
              <a:t xml:space="preserve">    </a:t>
            </a:r>
            <a:endParaRPr lang="en-US" sz="3000" dirty="0"/>
          </a:p>
        </p:txBody>
      </p:sp>
      <p:pic>
        <p:nvPicPr>
          <p:cNvPr id="20" name="Emoji 20" descr="emoji"/>
          <p:cNvPicPr>
            <a:picLocks noChangeAspect="1"/>
          </p:cNvPicPr>
          <p:nvPr/>
        </p:nvPicPr>
        <p:blipFill>
          <a:blip r:embed="rId102"/>
          <a:stretch>
            <a:fillRect/>
          </a:stretch>
        </p:blipFill>
        <p:spPr>
          <a:xfrm>
            <a:off x="1729740" y="2191512"/>
            <a:ext cx="381000" cy="381000"/>
          </a:xfrm>
          <a:prstGeom prst="rect">
            <a:avLst/>
          </a:prstGeom>
        </p:spPr>
      </p:pic>
      <p:sp>
        <p:nvSpPr>
          <p:cNvPr id="9" name="Text 7"/>
          <p:cNvSpPr/>
          <p:nvPr/>
        </p:nvSpPr>
        <p:spPr>
          <a:xfrm>
            <a:off x="685800" y="2651760"/>
            <a:ext cx="2468880" cy="411480"/>
          </a:xfrm>
          <a:prstGeom prst="rect">
            <a:avLst/>
          </a:prstGeom>
          <a:noFill/>
          <a:ln/>
        </p:spPr>
        <p:txBody>
          <a:bodyPr wrap="square" rtlCol="0" anchor="ctr"/>
          <a:lstStyle/>
          <a:p>
            <a:pPr algn="ctr" indent="0" marL="0">
              <a:buNone/>
            </a:pPr>
            <a:r>
              <a:rPr lang="en-US" sz="1150" b="1" dirty="0">
                <a:solidFill>
                  <a:srgbClr val="1E293B"/>
                </a:solidFill>
                <a:latin typeface="Calibri" pitchFamily="34" charset="0"/>
                <a:ea typeface="Calibri" pitchFamily="34" charset="-122"/>
                <a:cs typeface="Calibri" pitchFamily="34" charset="-120"/>
              </a:rPr>
              <a:t xml:space="preserve">Dedem — 1958</a:t>
            </a:r>
            <a:endParaRPr lang="en-US" sz="1150" dirty="0"/>
          </a:p>
        </p:txBody>
      </p:sp>
      <p:sp>
        <p:nvSpPr>
          <p:cNvPr id="10" name="Shape 8"/>
          <p:cNvSpPr/>
          <p:nvPr/>
        </p:nvSpPr>
        <p:spPr>
          <a:xfrm>
            <a:off x="3337560" y="2011680"/>
            <a:ext cx="2468880" cy="1143000"/>
          </a:xfrm>
          <a:prstGeom prst="roundRect">
            <a:avLst>
              <a:gd name="adj" fmla="val 9600"/>
            </a:avLst>
          </a:prstGeom>
          <a:solidFill>
            <a:srgbClr val="FFFFFF"/>
          </a:solidFill>
          <a:ln w="12700">
            <a:solidFill>
              <a:srgbClr val="FFFFFF"/>
            </a:solidFill>
            <a:prstDash val="solid"/>
          </a:ln>
        </p:spPr>
      </p:sp>
      <p:sp>
        <p:nvSpPr>
          <p:cNvPr id="11" name="Text 9"/>
          <p:cNvSpPr/>
          <p:nvPr/>
        </p:nvSpPr>
        <p:spPr>
          <a:xfrm>
            <a:off x="3337560" y="2084832"/>
            <a:ext cx="2468880" cy="594360"/>
          </a:xfrm>
          <a:prstGeom prst="rect">
            <a:avLst/>
          </a:prstGeom>
          <a:noFill/>
          <a:ln/>
        </p:spPr>
        <p:txBody>
          <a:bodyPr wrap="square" rtlCol="0" anchor="ctr"/>
          <a:lstStyle/>
          <a:p>
            <a:pPr algn="ctr" indent="0" marL="0">
              <a:buNone/>
            </a:pPr>
            <a:r>
              <a:rPr lang="en-US" sz="3000" dirty="0">
                <a:solidFill>
                  <a:srgbClr val="000000"/>
                </a:solidFill>
              </a:rPr>
              <a:t xml:space="preserve">    </a:t>
            </a:r>
            <a:endParaRPr lang="en-US" sz="3000" dirty="0"/>
          </a:p>
        </p:txBody>
      </p:sp>
      <p:pic>
        <p:nvPicPr>
          <p:cNvPr id="21" name="Emoji 21" descr="emoji"/>
          <p:cNvPicPr>
            <a:picLocks noChangeAspect="1"/>
          </p:cNvPicPr>
          <p:nvPr/>
        </p:nvPicPr>
        <p:blipFill>
          <a:blip r:embed="rId103"/>
          <a:stretch>
            <a:fillRect/>
          </a:stretch>
        </p:blipFill>
        <p:spPr>
          <a:xfrm>
            <a:off x="4381500" y="2191512"/>
            <a:ext cx="381000" cy="381000"/>
          </a:xfrm>
          <a:prstGeom prst="rect">
            <a:avLst/>
          </a:prstGeom>
        </p:spPr>
      </p:pic>
      <p:sp>
        <p:nvSpPr>
          <p:cNvPr id="12" name="Text 10"/>
          <p:cNvSpPr/>
          <p:nvPr/>
        </p:nvSpPr>
        <p:spPr>
          <a:xfrm>
            <a:off x="3337560" y="2651760"/>
            <a:ext cx="2468880" cy="411480"/>
          </a:xfrm>
          <a:prstGeom prst="rect">
            <a:avLst/>
          </a:prstGeom>
          <a:noFill/>
          <a:ln/>
        </p:spPr>
        <p:txBody>
          <a:bodyPr wrap="square" rtlCol="0" anchor="ctr"/>
          <a:lstStyle/>
          <a:p>
            <a:pPr algn="ctr" indent="0" marL="0">
              <a:buNone/>
            </a:pPr>
            <a:r>
              <a:rPr lang="en-US" sz="1150" b="1" dirty="0">
                <a:solidFill>
                  <a:srgbClr val="1E293B"/>
                </a:solidFill>
                <a:latin typeface="Calibri" pitchFamily="34" charset="0"/>
                <a:ea typeface="Calibri" pitchFamily="34" charset="-122"/>
                <a:cs typeface="Calibri" pitchFamily="34" charset="-120"/>
              </a:rPr>
              <a:t xml:space="preserve">Annem — 1985</a:t>
            </a:r>
            <a:endParaRPr lang="en-US" sz="1150" dirty="0"/>
          </a:p>
        </p:txBody>
      </p:sp>
      <p:sp>
        <p:nvSpPr>
          <p:cNvPr id="13" name="Shape 11"/>
          <p:cNvSpPr/>
          <p:nvPr/>
        </p:nvSpPr>
        <p:spPr>
          <a:xfrm>
            <a:off x="5989320" y="2011680"/>
            <a:ext cx="2468880" cy="1143000"/>
          </a:xfrm>
          <a:prstGeom prst="roundRect">
            <a:avLst>
              <a:gd name="adj" fmla="val 9600"/>
            </a:avLst>
          </a:prstGeom>
          <a:solidFill>
            <a:srgbClr val="FFFFFF"/>
          </a:solidFill>
          <a:ln w="12700">
            <a:solidFill>
              <a:srgbClr val="FFFFFF"/>
            </a:solidFill>
            <a:prstDash val="solid"/>
          </a:ln>
        </p:spPr>
      </p:sp>
      <p:sp>
        <p:nvSpPr>
          <p:cNvPr id="14" name="Text 12"/>
          <p:cNvSpPr/>
          <p:nvPr/>
        </p:nvSpPr>
        <p:spPr>
          <a:xfrm>
            <a:off x="5989320" y="2084832"/>
            <a:ext cx="2468880" cy="594360"/>
          </a:xfrm>
          <a:prstGeom prst="rect">
            <a:avLst/>
          </a:prstGeom>
          <a:noFill/>
          <a:ln/>
        </p:spPr>
        <p:txBody>
          <a:bodyPr wrap="square" rtlCol="0" anchor="ctr"/>
          <a:lstStyle/>
          <a:p>
            <a:pPr algn="ctr" indent="0" marL="0">
              <a:buNone/>
            </a:pPr>
            <a:r>
              <a:rPr lang="en-US" sz="3000" dirty="0">
                <a:solidFill>
                  <a:srgbClr val="000000"/>
                </a:solidFill>
              </a:rPr>
              <a:t xml:space="preserve">    </a:t>
            </a:r>
            <a:endParaRPr lang="en-US" sz="3000" dirty="0"/>
          </a:p>
        </p:txBody>
      </p:sp>
      <p:pic>
        <p:nvPicPr>
          <p:cNvPr id="22" name="Emoji 22" descr="emoji"/>
          <p:cNvPicPr>
            <a:picLocks noChangeAspect="1"/>
          </p:cNvPicPr>
          <p:nvPr/>
        </p:nvPicPr>
        <p:blipFill>
          <a:blip r:embed="rId104"/>
          <a:stretch>
            <a:fillRect/>
          </a:stretch>
        </p:blipFill>
        <p:spPr>
          <a:xfrm>
            <a:off x="7033260" y="2191512"/>
            <a:ext cx="381000" cy="381000"/>
          </a:xfrm>
          <a:prstGeom prst="rect">
            <a:avLst/>
          </a:prstGeom>
        </p:spPr>
      </p:pic>
      <p:sp>
        <p:nvSpPr>
          <p:cNvPr id="15" name="Text 13"/>
          <p:cNvSpPr/>
          <p:nvPr/>
        </p:nvSpPr>
        <p:spPr>
          <a:xfrm>
            <a:off x="5989320" y="2651760"/>
            <a:ext cx="2468880" cy="411480"/>
          </a:xfrm>
          <a:prstGeom prst="rect">
            <a:avLst/>
          </a:prstGeom>
          <a:noFill/>
          <a:ln/>
        </p:spPr>
        <p:txBody>
          <a:bodyPr wrap="square" rtlCol="0" anchor="ctr"/>
          <a:lstStyle/>
          <a:p>
            <a:pPr algn="ctr" indent="0" marL="0">
              <a:buNone/>
            </a:pPr>
            <a:r>
              <a:rPr lang="en-US" sz="1150" b="1" dirty="0">
                <a:solidFill>
                  <a:srgbClr val="1E293B"/>
                </a:solidFill>
                <a:latin typeface="Calibri" pitchFamily="34" charset="0"/>
                <a:ea typeface="Calibri" pitchFamily="34" charset="-122"/>
                <a:cs typeface="Calibri" pitchFamily="34" charset="-120"/>
              </a:rPr>
              <a:t xml:space="preserve">Ben — 2011</a:t>
            </a:r>
            <a:endParaRPr lang="en-US" sz="1150" dirty="0"/>
          </a:p>
        </p:txBody>
      </p:sp>
      <p:sp>
        <p:nvSpPr>
          <p:cNvPr id="16" name="Shape 14"/>
          <p:cNvSpPr/>
          <p:nvPr/>
        </p:nvSpPr>
        <p:spPr>
          <a:xfrm>
            <a:off x="548640" y="3337560"/>
            <a:ext cx="8046720" cy="1234440"/>
          </a:xfrm>
          <a:prstGeom prst="roundRect">
            <a:avLst>
              <a:gd name="adj" fmla="val 8889"/>
            </a:avLst>
          </a:prstGeom>
          <a:solidFill>
            <a:srgbClr val="FFEDD5"/>
          </a:solidFill>
          <a:ln w="12700">
            <a:solidFill>
              <a:srgbClr val="FFFFFF"/>
            </a:solidFill>
            <a:prstDash val="solid"/>
          </a:ln>
        </p:spPr>
      </p:sp>
      <p:sp>
        <p:nvSpPr>
          <p:cNvPr id="17" name="Text 15"/>
          <p:cNvSpPr/>
          <p:nvPr/>
        </p:nvSpPr>
        <p:spPr>
          <a:xfrm>
            <a:off x="822960" y="3337560"/>
            <a:ext cx="7498080" cy="1234440"/>
          </a:xfrm>
          <a:prstGeom prst="rect">
            <a:avLst/>
          </a:prstGeom>
          <a:noFill/>
          <a:ln/>
        </p:spPr>
        <p:txBody>
          <a:bodyPr wrap="square" rtlCol="0" anchor="ctr"/>
          <a:lstStyle/>
          <a:p>
            <a:pPr algn="l" indent="0" marL="0">
              <a:lnSpc>
                <a:spcPct val="125000"/>
              </a:lnSpc>
              <a:buNone/>
            </a:pPr>
            <a:r>
              <a:rPr lang="en-US" sz="1350" dirty="0">
                <a:solidFill>
                  <a:srgbClr val="1E293B"/>
                </a:solidFill>
                <a:latin typeface="Calibri" pitchFamily="34" charset="0"/>
                <a:ea typeface="Calibri" pitchFamily="34" charset="-122"/>
                <a:cs typeface="Calibri" pitchFamily="34" charset="-120"/>
              </a:rPr>
              <a:t xml:space="preserve">Dedem 1958'de doğdu, altmışlı yıllarda çocuktu. Annem seksenli yıllarda, ben 21. yüzyılda doğdum.</a:t>
            </a:r>
            <a:endParaRPr lang="en-US" sz="1350" dirty="0"/>
          </a:p>
          <a:p>
            <a:pPr algn="l" indent="0" marL="0">
              <a:lnSpc>
                <a:spcPct val="125000"/>
              </a:lnSpc>
              <a:buNone/>
            </a:pPr>
            <a:r>
              <a:rPr lang="en-US" sz="1350" dirty="0">
                <a:solidFill>
                  <a:srgbClr val="1E293B"/>
                </a:solidFill>
                <a:latin typeface="Calibri" pitchFamily="34" charset="0"/>
                <a:ea typeface="Calibri" pitchFamily="34" charset="-122"/>
                <a:cs typeface="Calibri" pitchFamily="34" charset="-120"/>
              </a:rPr>
              <a:t xml:space="preserve">Sıra sende: Ailenin üç neslini onlu yıllarla anlat!</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2026-07-30T14:23:46Z</dcterms:created>
  <dcterms:modified xsi:type="dcterms:W3CDTF">2026-07-30T14:23:46Z</dcterms:modified>
</cp:coreProperties>
</file>