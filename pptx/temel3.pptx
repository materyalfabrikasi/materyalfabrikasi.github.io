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58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'Merhaba dedektifler! Bugün zamanın şifrelerini çözeceğiz.' de. Kum saatini göster: 'Başlangıç seviyesinde 20'ye kadar saymıştık. Bugün 100'e kadar gidiyoruz!' de, bir sonraki slayta geç.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'Bugün üç gizli görevimiz var!' de. Kartları sırayla oku: 'Bir: 100'e kadar sayıp doğum günümüzü söyleyeceğiz. İki: Büyüklere Kaç yaşındasınız? diye soracağız. Üç: Yaşa göre doğru hitabı seçeceğiz.' Her kartta kısa bir duraklama bırak, sonra 'Hazır mısınız?' diye 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'Başlangıç seviyesinde arkadaşımıza ne sormuştuk?' diye sor, bekle. (Kaç yaşındasın?) 'Peki yeni tanıştığımız bir büyüğe, örneğin öğretmenimize nasıl sorarız?' de, bekle. 'Kaç yaşındasınız?' de ve -sınız ekini vurgula. Heceleri birlikte tekrar et: Kaç ya-şın-da-sı-nız? Alt cümleyi oku: büyüklere ve yeni tanıştığımız yetişkinlere 'siz' deriz.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Onluk sayıları birlikte oku: on, yirmi, otuz, kırk, elli, altmış, yetmiş, seksen, doksan, yüz. Sonra birleştirme kuralını göster: 'Yirmi artı üç: yirmi üç.' Birkaç sayı sor: 45? 67? 99? Ardından ayları birlikte oku ve mevsimleri tanıt. 'Sen hangi ayda doğdun? O ay hangi mevsimde?' diye 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İskeleti birlikte oku. Eki açıkla: ay adlarından sonra kesme işareti koyarız, son sese göre -da/-de/-ta/-te gelir: Ocak'ta, Mart'ta, Nisan'da, Eylül'de. Mevsim adlarında kesme işareti yoktur. Örneği okut, sonra her öğrenci kendi doğum gününü söylesin: 'Doğum günüm ... . ... mevsiminde doğdum.'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Kartları göster: çocuk, genç, yetişkin. 'Sen hangi gruptasın?' diye sor, bekle. 13-16 yaşındaki öğrenciler 'Ben gencim.' desin. 'Ailendeki yetişkinler kimler?' diye sor: annem, babam, öğretmenim… Yetişkinlere ve yeni tanıştığımız büyüklere 'siz' dediğimizi hatırlat.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İki kartı karşılaştır: 'Elif 14 yaşında, senin akranın. Ona Kaç yaşındasın? deriz. Fatma Teyze komşumuz, bizden büyük. Ona Kaç yaşındasınız? deriz.' Sonra ikili rol oyunu yaptır: biri Elif, biri Fatma Teyze olsun, sonra rolleri değiştirsinler. Kültür notu: Gerçek hayatta büyüklere yaş sormak her zaman kibar sayılmaz; bu bir dil alıştırmasıdır. Büyüklere en çok 'Nasılsınız?' diye sorarız.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Kartları tanıt: 'Ayşe 7 yaşında. Fatma 17 yaşında. Hüseyin 45 yaşında.' 'Ayşe, Fatma'ya nasıl seslenir?' diye sor, bekle. (Fatma Abla.) 'Peki Hüseyin'e?' (Hüseyin Amca.) Kuralı özetle: bizden büyük gençlere Abi/Abla, yetişkinlere Amca/Teyze, akranlarımıza sadece ismiyle sesleniriz. 'Abi' kelimesinin aslının 'ağabey' olduğunu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Görevi adım adım anlat. Abi/Abla ile genellikle 'sen' kullanırız: 'Elif Abla, nasılsın?' Amca/Teyze ile çoğunlukla 'siz' kullanırız: 'Ayşe Teyze, nasılsınız?' Kaydı öğrencinin kendisinin yapacağını, anı kendi sözleriyle anlatacağını belirt. Bir sonraki derste kayıtları birlikte dinleyeceğinizi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'Görev tamamlandı dedektifler!' de. Kartları sırayla okut: 100'e kadar sayılar, doğum günü, mevsimler, siz hitabı, hitaplar. 'Bir sonraki görevde görüşmek üzere, kendinize iyi bakın!' diyerek kapat.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640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    </a:t>
            </a:r>
            <a:endParaRPr lang="en-US" sz="4400" dirty="0"/>
          </a:p>
        </p:txBody>
      </p:sp>
      <p:pic>
        <p:nvPicPr>
          <p:cNvPr id="16" name="Emoji 16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909320"/>
            <a:ext cx="558800" cy="55880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DEDEKTİFİ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SEVİYE 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KİŞİSEL TARİH VE ZAMAN KODLARI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68880" y="32918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3291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Sayılar (1-100) • Takvim • Siz Hitabı</a:t>
            </a:r>
            <a:endParaRPr lang="en-US" sz="1300" dirty="0"/>
          </a:p>
        </p:txBody>
      </p:sp>
      <p:pic>
        <p:nvPicPr>
          <p:cNvPr id="17" name="Emoji 17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752" y="3437890"/>
            <a:ext cx="165100" cy="165100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dedektif zamanın şifrelerini de çözer!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BUGÜNKÜ GİZLİ GÖREVLERİMİZ</a:t>
            </a:r>
            <a:endParaRPr lang="en-US" sz="1900" dirty="0"/>
          </a:p>
        </p:txBody>
      </p:sp>
      <p:pic>
        <p:nvPicPr>
          <p:cNvPr id="18" name="Emoji 18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548640" y="694944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TTKD Öğretim Programı — 2. Seviye: </a:t>
            </a:r>
            <a:r>
              <a:rPr lang="tr-TR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3A3</a:t>
            </a:r>
            <a:r>
              <a:rPr lang="tr-T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3. Seviye: 1A2, 1B1, </a:t>
            </a:r>
            <a:r>
              <a:rPr lang="tr-TR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1B3</a:t>
            </a:r>
            <a:r>
              <a:rPr lang="tr-T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3A5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07592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07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    </a:t>
            </a:r>
            <a:endParaRPr lang="en-US" sz="2200" dirty="0"/>
          </a:p>
        </p:txBody>
      </p:sp>
      <p:pic>
        <p:nvPicPr>
          <p:cNvPr id="19" name="Emoji 19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80" y="1442212"/>
            <a:ext cx="279400" cy="27940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600200" y="105156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100'e kadar sayıp doğum günümüzü söyleyeceğiz.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4203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    </a:t>
            </a:r>
            <a:endParaRPr lang="en-US" sz="2200" dirty="0"/>
          </a:p>
        </p:txBody>
      </p:sp>
      <p:pic>
        <p:nvPicPr>
          <p:cNvPr id="20" name="Emoji 20" descr="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" y="2676652"/>
            <a:ext cx="279400" cy="27940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600200" y="22860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Büyüklere “Kaç yaşındasınız?” diye soracağız.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77647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76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    </a:t>
            </a:r>
            <a:endParaRPr lang="en-US" sz="2200" dirty="0"/>
          </a:p>
        </p:txBody>
      </p:sp>
      <p:pic>
        <p:nvPicPr>
          <p:cNvPr id="21" name="Emoji 21" descr="emoj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80" y="3911092"/>
            <a:ext cx="279400" cy="279400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1600200" y="35204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Yaşa göre doğru hitabı seçeceğiz: Abi, Abla, Amca, Teyze.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KÜLTÜR DEDEKTİFİ: “KAÇ YAŞINDASINIZ?”</a:t>
            </a:r>
            <a:endParaRPr lang="en-US" sz="1900" dirty="0"/>
          </a:p>
        </p:txBody>
      </p:sp>
      <p:pic>
        <p:nvPicPr>
          <p:cNvPr id="15" name="Emoji 15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seviyesinde akranımıza sormuştuk. Peki yeni tanıştığımız bir büyüğe nasıl sorarız?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Akrana / Küçüğe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"Kaç yaşındasın?"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Büyüğe (Saygıyla)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"Kaç yaşındasınız?"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54480" y="306324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1A2E5A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0632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ya-şın-da-sı-nız?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Büyüklere ve yeni tanıştığımız yetişkinlere “siz” deriz. Bu, saygı göstermenin bir yoludur.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100'E KADAR SAYI KODLARI VE TAKVİM</a:t>
            </a:r>
            <a:endParaRPr lang="en-US" sz="1900" dirty="0"/>
          </a:p>
        </p:txBody>
      </p:sp>
      <p:pic>
        <p:nvPicPr>
          <p:cNvPr id="40" name="Emoji 40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76072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80744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380744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yirmi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85416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185416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90088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990088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altmış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04104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04104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yetmiş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08776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13448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doksan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18120" y="868680"/>
            <a:ext cx="749808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8686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1965960"/>
            <a:ext cx="8046720" cy="8686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196596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Ocak · Şubat · Mart · Nisan · Mayıs · Haziran · Temmuz · Ağustos · Eylül · Ekim · Kasım · Aralık</a:t>
            </a:r>
            <a:endParaRPr lang="en-US" sz="1350" dirty="0"/>
          </a:p>
        </p:txBody>
      </p:sp>
      <p:sp>
        <p:nvSpPr>
          <p:cNvPr id="39" name="Text 39"/>
          <p:cNvSpPr txBox="1"/>
          <p:nvPr/>
        </p:nvSpPr>
        <p:spPr>
          <a:xfrm>
            <a:off x="548640" y="15636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Birleştir:  20 + 3 → yirmi üç   •   45 → kırk beş   •   99 → doksan dokuz</a:t>
            </a:r>
          </a:p>
        </p:txBody>
      </p:sp>
      <p:sp>
        <p:nvSpPr>
          <p:cNvPr id="27" name="Shape 25"/>
          <p:cNvSpPr/>
          <p:nvPr/>
        </p:nvSpPr>
        <p:spPr>
          <a:xfrm>
            <a:off x="553212" y="3063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İlkbahar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8932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Mart-Nisan-Mayıs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92324" y="3063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638044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38044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Haziran-Temmuz-Ağustos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1436" y="3063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677156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77156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Eylül-Ekim-Kasım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0548" y="3063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6716268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16268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Aralık-Ocak-Şubat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DİL İSKELETİ İSTASYONU</a:t>
            </a:r>
            <a:endParaRPr lang="en-US" sz="1900" dirty="0"/>
          </a:p>
        </p:txBody>
      </p:sp>
      <p:pic>
        <p:nvPicPr>
          <p:cNvPr id="11" name="Emoji 11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57200" y="914400"/>
            <a:ext cx="8229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b="1" dirty="0" err="1" smtClean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günüm ____ ____’da / ’de / ’ta / ’te.</a:t>
            </a:r>
            <a:endParaRPr lang="en-US" sz="17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mevsiminde doğdum.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Örnek</a:t>
            </a:r>
            <a:endParaRPr lang="en-US" sz="1300" dirty="0"/>
          </a:p>
        </p:txBody>
      </p:sp>
      <p:pic>
        <p:nvPicPr>
          <p:cNvPr id="12" name="Emoji 12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16" y="2912110"/>
            <a:ext cx="165100" cy="16510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“Doğum günüm 15 Mart’ta. İlkbahar mevsiminde doğdum.”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YAŞ GRUPLARI</a:t>
            </a:r>
            <a:endParaRPr lang="en-US" sz="1900" dirty="0"/>
          </a:p>
        </p:txBody>
      </p:sp>
      <p:pic>
        <p:nvPicPr>
          <p:cNvPr id="19" name="Emoji 19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731520" y="118872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    </a:t>
            </a:r>
            <a:endParaRPr lang="en-US" sz="4400" dirty="0"/>
          </a:p>
        </p:txBody>
      </p:sp>
      <p:pic>
        <p:nvPicPr>
          <p:cNvPr id="20" name="Emoji 20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840" y="1503680"/>
            <a:ext cx="558800" cy="55880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1005840" y="23774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    </a:t>
            </a:r>
            <a:endParaRPr lang="en-US" sz="4400" dirty="0"/>
          </a:p>
        </p:txBody>
      </p:sp>
      <p:pic>
        <p:nvPicPr>
          <p:cNvPr id="21" name="Emoji 21" descr="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0" y="1503680"/>
            <a:ext cx="558800" cy="55880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3657600" y="23774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    </a:t>
            </a:r>
            <a:endParaRPr lang="en-US" sz="4400" dirty="0"/>
          </a:p>
        </p:txBody>
      </p:sp>
      <p:pic>
        <p:nvPicPr>
          <p:cNvPr id="22" name="Emoji 22" descr="emoj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360" y="1503680"/>
            <a:ext cx="558800" cy="558800"/>
          </a:xfrm>
          <a:prstGeom prst="rect">
            <a:avLst/>
          </a:prstGeom>
        </p:spPr>
      </p:pic>
      <p:sp>
        <p:nvSpPr>
          <p:cNvPr id="15" name="Shape 13"/>
          <p:cNvSpPr/>
          <p:nvPr/>
        </p:nvSpPr>
        <p:spPr>
          <a:xfrm>
            <a:off x="6309360" y="23774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Yetişkin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918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hangi gruptasın? 13-16 yaş gençlik çağıdır! Peki ailendeki yetişkinler kimler? Annen, baban, öğretmenin…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ROL OYUNU: “SEN” Mİ, “SİZ” Mİ?</a:t>
            </a:r>
            <a:endParaRPr lang="en-US" sz="1900" dirty="0"/>
          </a:p>
        </p:txBody>
      </p:sp>
      <p:pic>
        <p:nvPicPr>
          <p:cNvPr id="16" name="Emoji 16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57200" y="96012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    </a:t>
            </a:r>
            <a:endParaRPr lang="en-US" sz="4200" dirty="0"/>
          </a:p>
        </p:txBody>
      </p:sp>
      <p:pic>
        <p:nvPicPr>
          <p:cNvPr id="17" name="Emoji 17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460" y="1287780"/>
            <a:ext cx="533400" cy="5334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5720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(14 yaş)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Akranın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"Kaç yaşındasın?"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    </a:t>
            </a:r>
            <a:endParaRPr lang="en-US" sz="4200" dirty="0"/>
          </a:p>
        </p:txBody>
      </p:sp>
      <p:pic>
        <p:nvPicPr>
          <p:cNvPr id="18" name="Emoji 18" descr="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140" y="1287780"/>
            <a:ext cx="533400" cy="53340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475488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Teyze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Komşun (Büyük)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651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"Kaç yaşındasınız?"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sende: Arkadaşınla rol oyunu yap! Biri Elif, biri Fatma Teyze olsun.     </a:t>
            </a:r>
            <a:endParaRPr lang="en-US" sz="1300" dirty="0"/>
          </a:p>
        </p:txBody>
      </p:sp>
      <p:pic>
        <p:nvPicPr>
          <p:cNvPr id="19" name="Emoji 19" descr="emoj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483" y="444373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KÜLTÜR KÖŞESİ – DEDEKTİF SIRRI!</a:t>
            </a:r>
            <a:endParaRPr lang="en-US" sz="1900" dirty="0"/>
          </a:p>
        </p:txBody>
      </p:sp>
      <p:pic>
        <p:nvPicPr>
          <p:cNvPr id="18" name="Emoji 18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48640" y="86868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86868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Büyüklere yalnızca isimle seslenmeyiz: “Ayşe Abla”, “Ali Amca”, “Elif Teyze” deriz.</a:t>
            </a:r>
            <a:endParaRPr lang="en-US" sz="1500" dirty="0"/>
          </a:p>
        </p:txBody>
      </p:sp>
      <p:pic>
        <p:nvPicPr>
          <p:cNvPr id="19" name="Emoji 19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85" y="1253490"/>
            <a:ext cx="190500" cy="19050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685800" y="201168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    </a:t>
            </a:r>
            <a:endParaRPr lang="en-US" sz="3000" dirty="0"/>
          </a:p>
        </p:txBody>
      </p:sp>
      <p:pic>
        <p:nvPicPr>
          <p:cNvPr id="20" name="Emoji 20" descr="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740" y="2191512"/>
            <a:ext cx="381000" cy="38100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68580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— 7 yaş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01168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084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    </a:t>
            </a:r>
            <a:endParaRPr lang="en-US" sz="3000" dirty="0"/>
          </a:p>
        </p:txBody>
      </p:sp>
      <p:pic>
        <p:nvPicPr>
          <p:cNvPr id="21" name="Emoji 21" descr="emoj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2191512"/>
            <a:ext cx="381000" cy="38100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333756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— 17 yaş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201168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084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    </a:t>
            </a:r>
            <a:endParaRPr lang="en-US" sz="3000" dirty="0"/>
          </a:p>
        </p:txBody>
      </p:sp>
      <p:pic>
        <p:nvPicPr>
          <p:cNvPr id="22" name="Emoji 22" descr="emoj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3260" y="2191512"/>
            <a:ext cx="381000" cy="381000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59893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Hüseyin — 45 yaş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3756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Ayşe, Fatma'ya: “Fatma Abla!”   •   Hüseyin'e: “Hüseyin Amca!”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Bizden büyük gençlere Abi/Abla, yetişkinlere Amca/Teyze deriz. Akranlarımıza sadece ismiyle sesleniriz.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      YENİ SAHA GÖREVİ</a:t>
            </a:r>
            <a:endParaRPr lang="en-US" sz="1900" dirty="0"/>
          </a:p>
        </p:txBody>
      </p:sp>
      <p:pic>
        <p:nvPicPr>
          <p:cNvPr id="24" name="Emoji 24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" y="208534"/>
            <a:ext cx="241300" cy="2413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kez görevin: “Abi, Abla, Amca, Teyze” hitaplarını GERÇEK bir bağlamda doğru kullanmak!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Çevrenizde (ailede, sokakta, okulda) sizden büyük birine rastlayın.</a:t>
            </a:r>
            <a:endParaRPr lang="en-US" sz="1250" dirty="0"/>
          </a:p>
        </p:txBody>
      </p:sp>
      <p:pic>
        <p:nvPicPr>
          <p:cNvPr id="25" name="Emoji 25" descr="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444" y="1575689"/>
            <a:ext cx="158750" cy="158750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502920" y="214884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Yaşını tahmin edin ve doğru hitabı seçin: Abi, Abla, Amca ya da Teyze.</a:t>
            </a:r>
            <a:endParaRPr lang="en-US" sz="1250" dirty="0"/>
          </a:p>
        </p:txBody>
      </p:sp>
      <p:pic>
        <p:nvPicPr>
          <p:cNvPr id="26" name="Emoji 26" descr="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444" y="2444369"/>
            <a:ext cx="158750" cy="158750"/>
          </a:xfrm>
          <a:prstGeom prst="rect">
            <a:avLst/>
          </a:prstGeom>
        </p:spPr>
      </p:pic>
      <p:sp>
        <p:nvSpPr>
          <p:cNvPr id="14" name="Shape 12"/>
          <p:cNvSpPr/>
          <p:nvPr/>
        </p:nvSpPr>
        <p:spPr>
          <a:xfrm>
            <a:off x="502920" y="30175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Doğru hitapla seslenin: “Elif Abla, nasılsın?” ya da “Ayşe Teyze, nasılsınız?”</a:t>
            </a:r>
            <a:endParaRPr lang="en-US" sz="1250" dirty="0"/>
          </a:p>
        </p:txBody>
      </p:sp>
      <p:pic>
        <p:nvPicPr>
          <p:cNvPr id="27" name="Emoji 27" descr="emoj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444" y="3313049"/>
            <a:ext cx="158750" cy="158750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  Bu anı kısaca anlatan bir video/ses kaydı yapın: kime, hangi hitabı, neden kullandığınızı açıklayın.</a:t>
            </a:r>
            <a:endParaRPr lang="en-US" sz="1250" dirty="0"/>
          </a:p>
        </p:txBody>
      </p:sp>
      <p:pic>
        <p:nvPicPr>
          <p:cNvPr id="28" name="Emoji 28" descr="emoj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444" y="4181729"/>
            <a:ext cx="158750" cy="158750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1463040" y="4590288"/>
            <a:ext cx="621792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459028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Videoyu ailenize gösterin — doğru hitabı yakaladınız mı?     </a:t>
            </a:r>
            <a:endParaRPr lang="en-US" sz="1200" dirty="0"/>
          </a:p>
        </p:txBody>
      </p:sp>
      <p:pic>
        <p:nvPicPr>
          <p:cNvPr id="29" name="Emoji 29" descr="emoj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929" y="473354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TAMAMLANDI!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6344" y="20116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20116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1-100 Sayılar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0116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20116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20116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0116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Mevsimler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58968" y="20116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5458968" y="20116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Hitabı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23176" y="20116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123176" y="20116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Hitaplar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görevde görüşmek üzere, kendinize iyi bakın!     </a:t>
            </a:r>
            <a:endParaRPr lang="en-US" sz="1500" dirty="0"/>
          </a:p>
        </p:txBody>
      </p:sp>
      <p:pic>
        <p:nvPicPr>
          <p:cNvPr id="19" name="Emoji 19" descr="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21" y="411099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934</Words>
  <Application>Microsoft Office PowerPoint</Application>
  <PresentationFormat>Ekran Gösterisi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Edibe YILMAZ</cp:lastModifiedBy>
  <cp:revision>7</cp:revision>
  <dcterms:created xsi:type="dcterms:W3CDTF">2026-07-23T14:59:19Z</dcterms:created>
  <dcterms:modified xsi:type="dcterms:W3CDTF">2026-10-27T06:58:21Z</dcterms:modified>
</cp:coreProperties>
</file>