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6" d="100"/>
          <a:sy n="156" d="100"/>
        </p:scale>
        <p:origin x="38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65854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r-TR" dirty="0"/>
              <a:t>'Merhaba dedektifler! Bugün zamanın şifrelerini çözeceğiz.' de. Kum saatini göster: 'Başlangıç seviyesinde 20'ye kadar saymıştık. Bugün 100'e kadar gidiyoruz!' de, bir sonraki slayta geç.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r-TR" dirty="0"/>
              <a:t>'Bugün üç gizli görevimiz var!' de. Kartları sırayla oku: 'Bir: 100'e kadar sayıp doğum günümüzü söyleyeceğiz. İki: Büyüklere Kaç yaşındasınız? diye soracağız. Üç: Yaşa göre doğru hitabı seçeceğiz.' Her kartta kısa bir duraklama bırak, sonra 'Hazır mısınız?' diye 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r-TR" dirty="0"/>
              <a:t>'Başlangıç seviyesinde arkadaşımıza ne sormuştuk?' diye sor, bekle. (Kaç yaşındasın?) 'Peki yeni tanıştığımız bir büyüğe, örneğin öğretmenimize nasıl sorarız?' de, bekle. 'Kaç yaşındasınız?' de ve -sınız ekini vurgula. Heceleri birlikte tekrar et: Kaç ya-şın-da-sı-nız? Alt cümleyi oku: büyüklere ve yeni tanıştığımız yetişkinlere 'siz' deriz.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r-TR" dirty="0"/>
              <a:t>Onluk sayıları birlikte oku: on, yirmi, otuz, kırk, elli, altmış, yetmiş, seksen, doksan, yüz. Sonra birleştirme kuralını göster: 'Yirmi artı üç: yirmi üç.' Birkaç sayı sor: 45? 67? 99? Ardından ayları birlikte oku ve mevsimleri tanıt. 'Sen hangi ayda doğdun? O ay hangi mevsimde?' diye 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r-TR" dirty="0"/>
              <a:t>İskeleti birlikte oku. Eki açıkla: ay adlarından sonra kesme işareti koyarız, son sese göre -da/-de/-ta/-te gelir: Ocak'ta, Mart'ta, Nisan'da, Eylül'de. Mevsim adlarında kesme işareti yoktur. Örneği okut, sonra her öğrenci kendi doğum gününü söylesin: 'Doğum günüm ... . ... mevsiminde doğdum.'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r-TR" dirty="0"/>
              <a:t>Kartları göster: çocuk, genç, yetişkin. 'Sen hangi gruptasın?' diye sor, bekle. 13-16 yaşındaki öğrenciler 'Ben gencim.' desin. 'Ailendeki yetişkinler kimler?' diye sor: annem, babam, öğretmenim… Yetişkinlere ve yeni tanıştığımız büyüklere 'siz' dediğimizi hatırlat.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r-TR" dirty="0"/>
              <a:t>İki kartı karşılaştır: 'Elif 14 yaşında, senin akranın. Ona Kaç yaşındasın? deriz. Fatma Teyze komşumuz, bizden büyük. Ona Kaç yaşındasınız? deriz.' Sonra ikili rol oyunu yaptır: biri Elif, biri Fatma Teyze olsun, sonra rolleri değiştirsinler. Kültür notu: Gerçek hayatta büyüklere yaş sormak her zaman kibar sayılmaz; bu bir dil alıştırmasıdır. Büyüklere en çok 'Nasılsınız?' diye sorarız.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r-TR" dirty="0"/>
              <a:t>Kartları tanıt: 'Ayşe 7 yaşında. Fatma 17 yaşında. Hüseyin 45 yaşında.' 'Ayşe, Fatma'ya nasıl seslenir?' diye sor, bekle. (Fatma Abla.) 'Peki Hüseyin'e?' (Hüseyin Amca.) Kuralı özetle: bizden büyük gençlere Abi/Abla, yetişkinlere Amca/Teyze, akranlarımıza sadece ismiyle sesleniriz. 'Abi' kelimesinin aslının 'ağabey' olduğunu söyle.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r-TR" dirty="0"/>
              <a:t>Görevi adım adım anlat. Abi/Abla ile genellikle 'sen' kullanırız: 'Elif Abla, nasılsın?' Amca/Teyze ile çoğunlukla 'siz' kullanırız: 'Ayşe Teyze, nasılsınız?' Kaydı öğrencinin kendisinin yapacağını, anı kendi sözleriyle anlatacağını belirt. Bir sonraki derste kayıtları birlikte dinleyeceğinizi söyle.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r-TR" dirty="0"/>
              <a:t>'Görev tamamlandı dedektifler!' de. Kartları sırayla okut: 100'e kadar sayılar, doğum günü, mevsimler, siz hitabı, hitaplar. 'Bir sonraki görevde görüşmek üzere, kendinize iyi bakın!' diyerek kapat.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E5A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82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BBF24"/>
                </a:solidFill>
              </a:rPr>
              <a:t>★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321040" y="182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BBF24"/>
                </a:solidFill>
              </a:rPr>
              <a:t>★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74320" y="4480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BBF24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321040" y="4480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BBF24"/>
                </a:solidFill>
              </a:rPr>
              <a:t>★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40233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BBF24"/>
                </a:solidFill>
              </a:rPr>
              <a:t>★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589520" y="640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BBF24"/>
                </a:solidFill>
              </a:rPr>
              <a:t>★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886200" y="502920"/>
            <a:ext cx="1371600" cy="1371600"/>
          </a:xfrm>
          <a:prstGeom prst="ellipse">
            <a:avLst/>
          </a:prstGeom>
          <a:solidFill>
            <a:srgbClr val="F97316"/>
          </a:solidFill>
          <a:ln/>
          <a:effectLst>
            <a:outerShdw blurRad="76200" dist="25400" dir="5400000" algn="bl" rotWithShape="0">
              <a:srgbClr val="1A2E5A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886200" y="5029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000000"/>
                </a:solidFill>
              </a:rPr>
              <a:t>    </a:t>
            </a:r>
            <a:endParaRPr lang="en-US" sz="4400" dirty="0"/>
          </a:p>
        </p:txBody>
      </p:sp>
      <p:pic>
        <p:nvPicPr>
          <p:cNvPr id="16" name="Emoji 16" descr="emoj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2600" y="909320"/>
            <a:ext cx="558800" cy="558800"/>
          </a:xfrm>
          <a:prstGeom prst="rect">
            <a:avLst/>
          </a:prstGeom>
        </p:spPr>
      </p:pic>
      <p:sp>
        <p:nvSpPr>
          <p:cNvPr id="11" name="Text 9"/>
          <p:cNvSpPr/>
          <p:nvPr/>
        </p:nvSpPr>
        <p:spPr>
          <a:xfrm>
            <a:off x="457200" y="21031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BB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DİL DEDEKTİFİ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57200" y="26974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TEMEL SEVİYE • 13-16 YAŞ • KİŞİSEL TARİH VE ZAMAN KODLARI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468880" y="3291840"/>
            <a:ext cx="4206240" cy="457200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2468880" y="329184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     Sayılar (1-100) • Takvim • Siz Hitabı</a:t>
            </a:r>
            <a:endParaRPr lang="en-US" sz="1300" dirty="0"/>
          </a:p>
        </p:txBody>
      </p:sp>
      <p:pic>
        <p:nvPicPr>
          <p:cNvPr id="17" name="Emoji 17" descr="emoji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6752" y="3437890"/>
            <a:ext cx="165100" cy="165100"/>
          </a:xfrm>
          <a:prstGeom prst="rect">
            <a:avLst/>
          </a:prstGeom>
        </p:spPr>
      </p:pic>
      <p:sp>
        <p:nvSpPr>
          <p:cNvPr id="15" name="Text 13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dedektif zamanın şifrelerini de çözer!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      BUGÜNKÜ GİZLİ GÖREVLERİMİZ</a:t>
            </a:r>
            <a:endParaRPr lang="en-US" sz="1900" dirty="0"/>
          </a:p>
        </p:txBody>
      </p:sp>
      <p:pic>
        <p:nvPicPr>
          <p:cNvPr id="18" name="Emoji 18" descr="emoj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722" y="208534"/>
            <a:ext cx="241300" cy="241300"/>
          </a:xfrm>
          <a:prstGeom prst="rect">
            <a:avLst/>
          </a:prstGeom>
        </p:spPr>
      </p:pic>
      <p:sp>
        <p:nvSpPr>
          <p:cNvPr id="17" name="Text 17"/>
          <p:cNvSpPr txBox="1"/>
          <p:nvPr/>
        </p:nvSpPr>
        <p:spPr>
          <a:xfrm>
            <a:off x="548640" y="694944"/>
            <a:ext cx="804672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tr-TR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TTKD Öğretim Programı — 2. Seviye: 1B3, 3A3; 3. Seviye: 1A2, 1B1, 1B2, 1B3, 3A5</a:t>
            </a:r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804672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1A2E5A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307592"/>
            <a:ext cx="548640" cy="5486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3075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    </a:t>
            </a:r>
            <a:endParaRPr lang="en-US" sz="2200" dirty="0"/>
          </a:p>
        </p:txBody>
      </p:sp>
      <p:pic>
        <p:nvPicPr>
          <p:cNvPr id="19" name="Emoji 19" descr="emoji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580" y="1442212"/>
            <a:ext cx="279400" cy="279400"/>
          </a:xfrm>
          <a:prstGeom prst="rect">
            <a:avLst/>
          </a:prstGeom>
        </p:spPr>
      </p:pic>
      <p:sp>
        <p:nvSpPr>
          <p:cNvPr id="8" name="Text 6"/>
          <p:cNvSpPr/>
          <p:nvPr/>
        </p:nvSpPr>
        <p:spPr>
          <a:xfrm>
            <a:off x="1600200" y="1051560"/>
            <a:ext cx="6766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100'e kadar sayıp doğum günümüzü söyleyeceğiz.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48640" y="2286000"/>
            <a:ext cx="804672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1A2E5A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2542032"/>
            <a:ext cx="548640" cy="54864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5420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    </a:t>
            </a:r>
            <a:endParaRPr lang="en-US" sz="2200" dirty="0"/>
          </a:p>
        </p:txBody>
      </p:sp>
      <p:pic>
        <p:nvPicPr>
          <p:cNvPr id="20" name="Emoji 20" descr="emoji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7580" y="2676652"/>
            <a:ext cx="279400" cy="279400"/>
          </a:xfrm>
          <a:prstGeom prst="rect">
            <a:avLst/>
          </a:prstGeom>
        </p:spPr>
      </p:pic>
      <p:sp>
        <p:nvSpPr>
          <p:cNvPr id="12" name="Text 10"/>
          <p:cNvSpPr/>
          <p:nvPr/>
        </p:nvSpPr>
        <p:spPr>
          <a:xfrm>
            <a:off x="1600200" y="2286000"/>
            <a:ext cx="6766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Büyüklere “Kaç yaşındasınız?” diye soracağız.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548640" y="3520440"/>
            <a:ext cx="804672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1A2E5A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2960" y="3776472"/>
            <a:ext cx="548640" cy="5486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37764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    </a:t>
            </a:r>
            <a:endParaRPr lang="en-US" sz="2200" dirty="0"/>
          </a:p>
        </p:txBody>
      </p:sp>
      <p:pic>
        <p:nvPicPr>
          <p:cNvPr id="21" name="Emoji 21" descr="emoji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7580" y="3911092"/>
            <a:ext cx="279400" cy="279400"/>
          </a:xfrm>
          <a:prstGeom prst="rect">
            <a:avLst/>
          </a:prstGeom>
        </p:spPr>
      </p:pic>
      <p:sp>
        <p:nvSpPr>
          <p:cNvPr id="16" name="Text 14"/>
          <p:cNvSpPr/>
          <p:nvPr/>
        </p:nvSpPr>
        <p:spPr>
          <a:xfrm>
            <a:off x="1600200" y="3520440"/>
            <a:ext cx="6766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Yaşa göre doğru hitabı seçeceğiz: Abi, Abla, Amca, Teyze.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      KÜLTÜR DEDEKTİFİ: “KAÇ YAŞINDASINIZ?”</a:t>
            </a:r>
            <a:endParaRPr lang="en-US" sz="1900" dirty="0"/>
          </a:p>
        </p:txBody>
      </p:sp>
      <p:pic>
        <p:nvPicPr>
          <p:cNvPr id="15" name="Emoji 15" descr="emoj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722" y="208534"/>
            <a:ext cx="241300" cy="241300"/>
          </a:xfrm>
          <a:prstGeom prst="rect">
            <a:avLst/>
          </a:prstGeom>
        </p:spPr>
      </p:pic>
      <p:sp>
        <p:nvSpPr>
          <p:cNvPr id="5" name="Text 3"/>
          <p:cNvSpPr/>
          <p:nvPr/>
        </p:nvSpPr>
        <p:spPr>
          <a:xfrm>
            <a:off x="457200" y="868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Başlangıç seviyesinde akranımıza sormuştuk. Peki yeni tanıştığımız bir büyüğe nasıl sorarız?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1554480"/>
            <a:ext cx="35661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1A2E5A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6002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Akrana / Küçüğe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196596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"Kaç yaşındasın?"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754880" y="1554480"/>
            <a:ext cx="35661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1A2E5A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6002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Büyüğe (Saygıyla)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54880" y="196596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973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"Kaç yaşındasınız?"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554480" y="3063240"/>
            <a:ext cx="6035040" cy="548640"/>
          </a:xfrm>
          <a:prstGeom prst="roundRect">
            <a:avLst>
              <a:gd name="adj" fmla="val 50000"/>
            </a:avLst>
          </a:prstGeom>
          <a:solidFill>
            <a:srgbClr val="1A2E5A"/>
          </a:solidFill>
          <a:ln/>
        </p:spPr>
      </p:sp>
      <p:sp>
        <p:nvSpPr>
          <p:cNvPr id="13" name="Text 11"/>
          <p:cNvSpPr/>
          <p:nvPr/>
        </p:nvSpPr>
        <p:spPr>
          <a:xfrm>
            <a:off x="1554480" y="3063240"/>
            <a:ext cx="6035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Kaç ya-şın-da-sı-nız?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Büyüklere ve yeni tanıştığımız yetişkinlere “siz” deriz. Bu, saygı göstermenin bir yoludur.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      100'E KADAR SAYI KODLARI VE TAKVİM</a:t>
            </a:r>
            <a:endParaRPr lang="en-US" sz="1900" dirty="0"/>
          </a:p>
        </p:txBody>
      </p:sp>
      <p:pic>
        <p:nvPicPr>
          <p:cNvPr id="40" name="Emoji 40" descr="emoj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722" y="208534"/>
            <a:ext cx="241300" cy="241300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576072" y="868680"/>
            <a:ext cx="749808" cy="594360"/>
          </a:xfrm>
          <a:prstGeom prst="roundRect">
            <a:avLst>
              <a:gd name="adj" fmla="val 15385"/>
            </a:avLst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576072" y="868680"/>
            <a:ext cx="7498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380744" y="868680"/>
            <a:ext cx="749808" cy="594360"/>
          </a:xfrm>
          <a:prstGeom prst="roundRect">
            <a:avLst>
              <a:gd name="adj" fmla="val 15385"/>
            </a:avLst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1380744" y="868680"/>
            <a:ext cx="7498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3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yirmi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185416" y="868680"/>
            <a:ext cx="749808" cy="594360"/>
          </a:xfrm>
          <a:prstGeom prst="roundRect">
            <a:avLst>
              <a:gd name="adj" fmla="val 15385"/>
            </a:avLst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2185416" y="868680"/>
            <a:ext cx="7498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3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otuz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990088" y="868680"/>
            <a:ext cx="749808" cy="594360"/>
          </a:xfrm>
          <a:prstGeom prst="roundRect">
            <a:avLst>
              <a:gd name="adj" fmla="val 15385"/>
            </a:avLst>
          </a:prstGeom>
          <a:solidFill>
            <a:srgbClr val="2563EB"/>
          </a:solidFill>
          <a:ln/>
        </p:spPr>
      </p:sp>
      <p:sp>
        <p:nvSpPr>
          <p:cNvPr id="12" name="Text 10"/>
          <p:cNvSpPr/>
          <p:nvPr/>
        </p:nvSpPr>
        <p:spPr>
          <a:xfrm>
            <a:off x="2990088" y="868680"/>
            <a:ext cx="7498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3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kırk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794760" y="868680"/>
            <a:ext cx="749808" cy="594360"/>
          </a:xfrm>
          <a:prstGeom prst="roundRect">
            <a:avLst>
              <a:gd name="adj" fmla="val 15385"/>
            </a:avLst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3794760" y="868680"/>
            <a:ext cx="7498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3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elli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99432" y="868680"/>
            <a:ext cx="749808" cy="594360"/>
          </a:xfrm>
          <a:prstGeom prst="roundRect">
            <a:avLst>
              <a:gd name="adj" fmla="val 15385"/>
            </a:avLst>
          </a:prstGeom>
          <a:solidFill>
            <a:srgbClr val="2563EB"/>
          </a:solidFill>
          <a:ln/>
        </p:spPr>
      </p:sp>
      <p:sp>
        <p:nvSpPr>
          <p:cNvPr id="16" name="Text 14"/>
          <p:cNvSpPr/>
          <p:nvPr/>
        </p:nvSpPr>
        <p:spPr>
          <a:xfrm>
            <a:off x="4599432" y="868680"/>
            <a:ext cx="7498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3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altmış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04104" y="868680"/>
            <a:ext cx="749808" cy="594360"/>
          </a:xfrm>
          <a:prstGeom prst="roundRect">
            <a:avLst>
              <a:gd name="adj" fmla="val 15385"/>
            </a:avLst>
          </a:prstGeom>
          <a:solidFill>
            <a:srgbClr val="2563EB"/>
          </a:solidFill>
          <a:ln/>
        </p:spPr>
      </p:sp>
      <p:sp>
        <p:nvSpPr>
          <p:cNvPr id="18" name="Text 16"/>
          <p:cNvSpPr/>
          <p:nvPr/>
        </p:nvSpPr>
        <p:spPr>
          <a:xfrm>
            <a:off x="5404104" y="868680"/>
            <a:ext cx="7498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13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yetmiş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08776" y="868680"/>
            <a:ext cx="749808" cy="594360"/>
          </a:xfrm>
          <a:prstGeom prst="roundRect">
            <a:avLst>
              <a:gd name="adj" fmla="val 15385"/>
            </a:avLst>
          </a:prstGeom>
          <a:solidFill>
            <a:srgbClr val="2563EB"/>
          </a:solidFill>
          <a:ln/>
        </p:spPr>
      </p:sp>
      <p:sp>
        <p:nvSpPr>
          <p:cNvPr id="20" name="Text 18"/>
          <p:cNvSpPr/>
          <p:nvPr/>
        </p:nvSpPr>
        <p:spPr>
          <a:xfrm>
            <a:off x="6208776" y="868680"/>
            <a:ext cx="7498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3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seksen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013448" y="868680"/>
            <a:ext cx="749808" cy="594360"/>
          </a:xfrm>
          <a:prstGeom prst="roundRect">
            <a:avLst>
              <a:gd name="adj" fmla="val 15385"/>
            </a:avLst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7013448" y="868680"/>
            <a:ext cx="7498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</a:t>
            </a:r>
            <a:endParaRPr lang="en-US" sz="13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doksan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818120" y="868680"/>
            <a:ext cx="749808" cy="594360"/>
          </a:xfrm>
          <a:prstGeom prst="roundRect">
            <a:avLst>
              <a:gd name="adj" fmla="val 15385"/>
            </a:avLst>
          </a:prstGeom>
          <a:solidFill>
            <a:srgbClr val="2563EB"/>
          </a:solidFill>
          <a:ln/>
        </p:spPr>
      </p:sp>
      <p:sp>
        <p:nvSpPr>
          <p:cNvPr id="24" name="Text 22"/>
          <p:cNvSpPr/>
          <p:nvPr/>
        </p:nvSpPr>
        <p:spPr>
          <a:xfrm>
            <a:off x="7818120" y="868680"/>
            <a:ext cx="7498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3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yüz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48640" y="1965960"/>
            <a:ext cx="8046720" cy="86868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1A2E5A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22960" y="1965960"/>
            <a:ext cx="7498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Ocak · Şubat · Mart · Nisan · Mayıs · Haziran · Temmuz · Ağustos · Eylül · Ekim · Kasım · Aralık</a:t>
            </a:r>
            <a:endParaRPr lang="en-US" sz="1350" dirty="0"/>
          </a:p>
        </p:txBody>
      </p:sp>
      <p:sp>
        <p:nvSpPr>
          <p:cNvPr id="39" name="Text 39"/>
          <p:cNvSpPr txBox="1"/>
          <p:nvPr/>
        </p:nvSpPr>
        <p:spPr>
          <a:xfrm>
            <a:off x="548640" y="1563624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tr-TR" sz="12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Birleştir:  20 + 3 → yirmi üç   •   45 → kırk beş   •   99 → doksan dokuz</a:t>
            </a:r>
          </a:p>
        </p:txBody>
      </p:sp>
      <p:sp>
        <p:nvSpPr>
          <p:cNvPr id="27" name="Shape 25"/>
          <p:cNvSpPr/>
          <p:nvPr/>
        </p:nvSpPr>
        <p:spPr>
          <a:xfrm>
            <a:off x="553212" y="3063240"/>
            <a:ext cx="1920240" cy="1188720"/>
          </a:xfrm>
          <a:prstGeom prst="roundRect">
            <a:avLst>
              <a:gd name="adj" fmla="val 7692"/>
            </a:avLst>
          </a:prstGeom>
          <a:solidFill>
            <a:srgbClr val="16A34A"/>
          </a:solidFill>
          <a:ln/>
        </p:spPr>
      </p:sp>
      <p:sp>
        <p:nvSpPr>
          <p:cNvPr id="28" name="Text 26"/>
          <p:cNvSpPr/>
          <p:nvPr/>
        </p:nvSpPr>
        <p:spPr>
          <a:xfrm>
            <a:off x="598932" y="32004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İlkbahar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98932" y="36576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Mart-Nisan-Mayıs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2592324" y="3063240"/>
            <a:ext cx="1920240" cy="1188720"/>
          </a:xfrm>
          <a:prstGeom prst="roundRect">
            <a:avLst>
              <a:gd name="adj" fmla="val 7692"/>
            </a:avLst>
          </a:prstGeom>
          <a:solidFill>
            <a:srgbClr val="F59E0B"/>
          </a:solidFill>
          <a:ln/>
        </p:spPr>
      </p:sp>
      <p:sp>
        <p:nvSpPr>
          <p:cNvPr id="31" name="Text 29"/>
          <p:cNvSpPr/>
          <p:nvPr/>
        </p:nvSpPr>
        <p:spPr>
          <a:xfrm>
            <a:off x="2638044" y="32004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Yaz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2638044" y="36576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Haziran-Temmuz-Ağustos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631436" y="3063240"/>
            <a:ext cx="1920240" cy="1188720"/>
          </a:xfrm>
          <a:prstGeom prst="roundRect">
            <a:avLst>
              <a:gd name="adj" fmla="val 7692"/>
            </a:avLst>
          </a:prstGeom>
          <a:solidFill>
            <a:srgbClr val="F97316"/>
          </a:solidFill>
          <a:ln/>
        </p:spPr>
      </p:sp>
      <p:sp>
        <p:nvSpPr>
          <p:cNvPr id="34" name="Text 32"/>
          <p:cNvSpPr/>
          <p:nvPr/>
        </p:nvSpPr>
        <p:spPr>
          <a:xfrm>
            <a:off x="4677156" y="32004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Sonbahar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677156" y="36576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Eylül-Ekim-Kasım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670548" y="3063240"/>
            <a:ext cx="1920240" cy="1188720"/>
          </a:xfrm>
          <a:prstGeom prst="roundRect">
            <a:avLst>
              <a:gd name="adj" fmla="val 7692"/>
            </a:avLst>
          </a:prstGeom>
          <a:solidFill>
            <a:srgbClr val="1E3A8A"/>
          </a:solidFill>
          <a:ln/>
        </p:spPr>
      </p:sp>
      <p:sp>
        <p:nvSpPr>
          <p:cNvPr id="37" name="Text 35"/>
          <p:cNvSpPr/>
          <p:nvPr/>
        </p:nvSpPr>
        <p:spPr>
          <a:xfrm>
            <a:off x="6716268" y="32004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Kış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716268" y="36576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Aralık-Ocak-Şubat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      DİL İSKELETİ İSTASYONU</a:t>
            </a:r>
            <a:endParaRPr lang="en-US" sz="1900" dirty="0"/>
          </a:p>
        </p:txBody>
      </p:sp>
      <p:pic>
        <p:nvPicPr>
          <p:cNvPr id="11" name="Emoji 11" descr="emoj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722" y="208534"/>
            <a:ext cx="241300" cy="241300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457200" y="914400"/>
            <a:ext cx="822960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1A2E5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914400"/>
            <a:ext cx="76809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700" b="1" dirty="0" err="1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Doğum günüm ____ ____’da / ’de / ’ta / ’te.</a:t>
            </a:r>
            <a:endParaRPr lang="en-US" sz="17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 mevsiminde doğdum.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2788920"/>
            <a:ext cx="2011680" cy="411480"/>
          </a:xfrm>
          <a:prstGeom prst="roundRect">
            <a:avLst>
              <a:gd name="adj" fmla="val 48889"/>
            </a:avLst>
          </a:prstGeom>
          <a:solidFill>
            <a:srgbClr val="16A34A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7889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     Örnek</a:t>
            </a:r>
            <a:endParaRPr lang="en-US" sz="1300" dirty="0"/>
          </a:p>
        </p:txBody>
      </p:sp>
      <p:pic>
        <p:nvPicPr>
          <p:cNvPr id="12" name="Emoji 12" descr="emoji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516" y="2912110"/>
            <a:ext cx="165100" cy="165100"/>
          </a:xfrm>
          <a:prstGeom prst="rect">
            <a:avLst/>
          </a:prstGeom>
        </p:spPr>
      </p:pic>
      <p:sp>
        <p:nvSpPr>
          <p:cNvPr id="9" name="Shape 7"/>
          <p:cNvSpPr/>
          <p:nvPr/>
        </p:nvSpPr>
        <p:spPr>
          <a:xfrm>
            <a:off x="457200" y="3291840"/>
            <a:ext cx="8229600" cy="1371600"/>
          </a:xfrm>
          <a:prstGeom prst="roundRect">
            <a:avLst>
              <a:gd name="adj" fmla="val 8000"/>
            </a:avLst>
          </a:prstGeom>
          <a:solidFill>
            <a:srgbClr val="DCFCE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29184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“Doğum günüm 15 Mart’ta. İlkbahar mevsiminde doğdum.”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DE9F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      YAŞ GRUPLARI</a:t>
            </a:r>
            <a:endParaRPr lang="en-US" sz="1900" dirty="0"/>
          </a:p>
        </p:txBody>
      </p:sp>
      <p:pic>
        <p:nvPicPr>
          <p:cNvPr id="19" name="Emoji 19" descr="emoj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722" y="208534"/>
            <a:ext cx="241300" cy="241300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731520" y="1188720"/>
            <a:ext cx="23774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1A2E5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32588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000000"/>
                </a:solidFill>
              </a:rPr>
              <a:t>    </a:t>
            </a:r>
            <a:endParaRPr lang="en-US" sz="4400" dirty="0"/>
          </a:p>
        </p:txBody>
      </p:sp>
      <p:pic>
        <p:nvPicPr>
          <p:cNvPr id="20" name="Emoji 20" descr="emoji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0840" y="1503680"/>
            <a:ext cx="558800" cy="558800"/>
          </a:xfrm>
          <a:prstGeom prst="rect">
            <a:avLst/>
          </a:prstGeom>
        </p:spPr>
      </p:pic>
      <p:sp>
        <p:nvSpPr>
          <p:cNvPr id="7" name="Shape 5"/>
          <p:cNvSpPr/>
          <p:nvPr/>
        </p:nvSpPr>
        <p:spPr>
          <a:xfrm>
            <a:off x="1005840" y="237744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3774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Çocuk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83280" y="1188720"/>
            <a:ext cx="23774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1A2E5A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383280" y="132588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000000"/>
                </a:solidFill>
              </a:rPr>
              <a:t>    </a:t>
            </a:r>
            <a:endParaRPr lang="en-US" sz="4400" dirty="0"/>
          </a:p>
        </p:txBody>
      </p:sp>
      <p:pic>
        <p:nvPicPr>
          <p:cNvPr id="21" name="Emoji 21" descr="emoji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2600" y="1503680"/>
            <a:ext cx="558800" cy="558800"/>
          </a:xfrm>
          <a:prstGeom prst="rect">
            <a:avLst/>
          </a:prstGeom>
        </p:spPr>
      </p:pic>
      <p:sp>
        <p:nvSpPr>
          <p:cNvPr id="11" name="Shape 9"/>
          <p:cNvSpPr/>
          <p:nvPr/>
        </p:nvSpPr>
        <p:spPr>
          <a:xfrm>
            <a:off x="3657600" y="237744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0" y="23774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Genç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035040" y="1188720"/>
            <a:ext cx="23774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1A2E5A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35040" y="132588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000000"/>
                </a:solidFill>
              </a:rPr>
              <a:t>    </a:t>
            </a:r>
            <a:endParaRPr lang="en-US" sz="4400" dirty="0"/>
          </a:p>
        </p:txBody>
      </p:sp>
      <p:pic>
        <p:nvPicPr>
          <p:cNvPr id="22" name="Emoji 22" descr="emoji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4360" y="1503680"/>
            <a:ext cx="558800" cy="558800"/>
          </a:xfrm>
          <a:prstGeom prst="rect">
            <a:avLst/>
          </a:prstGeom>
        </p:spPr>
      </p:pic>
      <p:sp>
        <p:nvSpPr>
          <p:cNvPr id="15" name="Shape 13"/>
          <p:cNvSpPr/>
          <p:nvPr/>
        </p:nvSpPr>
        <p:spPr>
          <a:xfrm>
            <a:off x="6309360" y="237744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0" y="23774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Yetişkin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3291840"/>
            <a:ext cx="804672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1A2E5A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22960" y="3291840"/>
            <a:ext cx="7498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 hangi gruptasın? 13-16 yaş gençlik çağıdır! Peki ailendeki yetişkinler kimler? Annen, baban, öğretmenin…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1827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      ROL OYUNU: “SEN” Mİ, “SİZ” Mİ?</a:t>
            </a:r>
            <a:endParaRPr lang="en-US" sz="1900" dirty="0"/>
          </a:p>
        </p:txBody>
      </p:sp>
      <p:pic>
        <p:nvPicPr>
          <p:cNvPr id="16" name="Emoji 16" descr="emoj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722" y="208534"/>
            <a:ext cx="241300" cy="241300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457200" y="960120"/>
            <a:ext cx="3931920" cy="3108960"/>
          </a:xfrm>
          <a:prstGeom prst="roundRect">
            <a:avLst>
              <a:gd name="adj" fmla="val 3529"/>
            </a:avLst>
          </a:prstGeom>
          <a:solidFill>
            <a:srgbClr val="DBEAFE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1A2E5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143000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dirty="0">
                <a:solidFill>
                  <a:srgbClr val="000000"/>
                </a:solidFill>
              </a:rPr>
              <a:t>    </a:t>
            </a:r>
            <a:endParaRPr lang="en-US" sz="4200" dirty="0"/>
          </a:p>
        </p:txBody>
      </p:sp>
      <p:pic>
        <p:nvPicPr>
          <p:cNvPr id="17" name="Emoji 17" descr="emoji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56460" y="1287780"/>
            <a:ext cx="533400" cy="533400"/>
          </a:xfrm>
          <a:prstGeom prst="rect">
            <a:avLst/>
          </a:prstGeom>
        </p:spPr>
      </p:pic>
      <p:sp>
        <p:nvSpPr>
          <p:cNvPr id="7" name="Text 5"/>
          <p:cNvSpPr/>
          <p:nvPr/>
        </p:nvSpPr>
        <p:spPr>
          <a:xfrm>
            <a:off x="457200" y="196596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Elif (14 yaş)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Akranın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800" y="2651760"/>
            <a:ext cx="3474720" cy="822960"/>
          </a:xfrm>
          <a:prstGeom prst="roundRect">
            <a:avLst>
              <a:gd name="adj" fmla="val 13333"/>
            </a:avLst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2651760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"Kaç yaşındasın?"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754880" y="960120"/>
            <a:ext cx="3931920" cy="3108960"/>
          </a:xfrm>
          <a:prstGeom prst="roundRect">
            <a:avLst>
              <a:gd name="adj" fmla="val 3529"/>
            </a:avLst>
          </a:prstGeom>
          <a:solidFill>
            <a:srgbClr val="FFEDD5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1A2E5A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54880" y="1143000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dirty="0">
                <a:solidFill>
                  <a:srgbClr val="000000"/>
                </a:solidFill>
              </a:rPr>
              <a:t>    </a:t>
            </a:r>
            <a:endParaRPr lang="en-US" sz="4200" dirty="0"/>
          </a:p>
        </p:txBody>
      </p:sp>
      <p:pic>
        <p:nvPicPr>
          <p:cNvPr id="18" name="Emoji 18" descr="emoji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4140" y="1287780"/>
            <a:ext cx="533400" cy="533400"/>
          </a:xfrm>
          <a:prstGeom prst="rect">
            <a:avLst/>
          </a:prstGeom>
        </p:spPr>
      </p:pic>
      <p:sp>
        <p:nvSpPr>
          <p:cNvPr id="12" name="Text 10"/>
          <p:cNvSpPr/>
          <p:nvPr/>
        </p:nvSpPr>
        <p:spPr>
          <a:xfrm>
            <a:off x="4754880" y="196596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Fatma Teyze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Komşun (Büyük)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983480" y="2651760"/>
            <a:ext cx="3474720" cy="822960"/>
          </a:xfrm>
          <a:prstGeom prst="roundRect">
            <a:avLst>
              <a:gd name="adj" fmla="val 13333"/>
            </a:avLst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983480" y="2651760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"Kaç yaşındasınız?"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Sıra sende: Arkadaşınla rol oyunu yap! Biri Elif, biri Fatma Teyze olsun.     </a:t>
            </a:r>
            <a:endParaRPr lang="en-US" sz="1300" dirty="0"/>
          </a:p>
        </p:txBody>
      </p:sp>
      <p:pic>
        <p:nvPicPr>
          <p:cNvPr id="19" name="Emoji 19" descr="emoji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29483" y="4443730"/>
            <a:ext cx="165100" cy="1651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A2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      KÜLTÜR KÖŞESİ – DEDEKTİF SIRRI!</a:t>
            </a:r>
            <a:endParaRPr lang="en-US" sz="1900" dirty="0"/>
          </a:p>
        </p:txBody>
      </p:sp>
      <p:pic>
        <p:nvPicPr>
          <p:cNvPr id="18" name="Emoji 18" descr="emoj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722" y="208534"/>
            <a:ext cx="241300" cy="241300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548640" y="868680"/>
            <a:ext cx="804672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1A2E5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868680"/>
            <a:ext cx="7498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     Büyüklere yalnızca isimle seslenmeyiz: “Ayşe Abla”, “Ali Amca”, “Elif Teyze” deriz.</a:t>
            </a:r>
            <a:endParaRPr lang="en-US" sz="1500" dirty="0"/>
          </a:p>
        </p:txBody>
      </p:sp>
      <p:pic>
        <p:nvPicPr>
          <p:cNvPr id="19" name="Emoji 19" descr="emoji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85" y="1253490"/>
            <a:ext cx="190500" cy="190500"/>
          </a:xfrm>
          <a:prstGeom prst="rect">
            <a:avLst/>
          </a:prstGeom>
        </p:spPr>
      </p:pic>
      <p:sp>
        <p:nvSpPr>
          <p:cNvPr id="7" name="Shape 5"/>
          <p:cNvSpPr/>
          <p:nvPr/>
        </p:nvSpPr>
        <p:spPr>
          <a:xfrm>
            <a:off x="685800" y="2011680"/>
            <a:ext cx="246888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08483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    </a:t>
            </a:r>
            <a:endParaRPr lang="en-US" sz="3000" dirty="0"/>
          </a:p>
        </p:txBody>
      </p:sp>
      <p:pic>
        <p:nvPicPr>
          <p:cNvPr id="20" name="Emoji 20" descr="emoji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29740" y="2191512"/>
            <a:ext cx="381000" cy="381000"/>
          </a:xfrm>
          <a:prstGeom prst="rect">
            <a:avLst/>
          </a:prstGeom>
        </p:spPr>
      </p:pic>
      <p:sp>
        <p:nvSpPr>
          <p:cNvPr id="9" name="Text 7"/>
          <p:cNvSpPr/>
          <p:nvPr/>
        </p:nvSpPr>
        <p:spPr>
          <a:xfrm>
            <a:off x="685800" y="26517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— 7 yaş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37560" y="2011680"/>
            <a:ext cx="246888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7560" y="208483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    </a:t>
            </a:r>
            <a:endParaRPr lang="en-US" sz="3000" dirty="0"/>
          </a:p>
        </p:txBody>
      </p:sp>
      <p:pic>
        <p:nvPicPr>
          <p:cNvPr id="21" name="Emoji 21" descr="emoji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1500" y="2191512"/>
            <a:ext cx="381000" cy="381000"/>
          </a:xfrm>
          <a:prstGeom prst="rect">
            <a:avLst/>
          </a:prstGeom>
        </p:spPr>
      </p:pic>
      <p:sp>
        <p:nvSpPr>
          <p:cNvPr id="12" name="Text 10"/>
          <p:cNvSpPr/>
          <p:nvPr/>
        </p:nvSpPr>
        <p:spPr>
          <a:xfrm>
            <a:off x="3337560" y="26517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Fatma — 17 yaş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989320" y="2011680"/>
            <a:ext cx="246888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89320" y="208483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    </a:t>
            </a:r>
            <a:endParaRPr lang="en-US" sz="3000" dirty="0"/>
          </a:p>
        </p:txBody>
      </p:sp>
      <p:pic>
        <p:nvPicPr>
          <p:cNvPr id="22" name="Emoji 22" descr="emoji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33260" y="2191512"/>
            <a:ext cx="381000" cy="381000"/>
          </a:xfrm>
          <a:prstGeom prst="rect">
            <a:avLst/>
          </a:prstGeom>
        </p:spPr>
      </p:pic>
      <p:sp>
        <p:nvSpPr>
          <p:cNvPr id="15" name="Text 13"/>
          <p:cNvSpPr/>
          <p:nvPr/>
        </p:nvSpPr>
        <p:spPr>
          <a:xfrm>
            <a:off x="5989320" y="26517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Hüseyin — 45 yaş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337560"/>
            <a:ext cx="8046720" cy="1234440"/>
          </a:xfrm>
          <a:prstGeom prst="roundRect">
            <a:avLst>
              <a:gd name="adj" fmla="val 8889"/>
            </a:avLst>
          </a:prstGeom>
          <a:solidFill>
            <a:srgbClr val="FFE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337560"/>
            <a:ext cx="74980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Ayşe, Fatma'ya: “Fatma Abla!”   •   Hüseyin'e: “Hüseyin Amca!”</a:t>
            </a:r>
            <a:endParaRPr lang="en-US" sz="135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Bizden büyük </a:t>
            </a:r>
            <a:r>
              <a:rPr lang="en-US" sz="13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gençlere</a:t>
            </a: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“Abi/Abla”, </a:t>
            </a:r>
            <a:r>
              <a:rPr lang="en-US" sz="13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yetişkinlere</a:t>
            </a: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“</a:t>
            </a:r>
            <a:r>
              <a:rPr lang="en-US" sz="13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Amca</a:t>
            </a: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n-US" sz="13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Teyze</a:t>
            </a:r>
            <a:r>
              <a:rPr lang="en-US" sz="135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 </a:t>
            </a: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deriz. Akranlarımıza sadece ismiyle sesleniriz.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      YENİ SAHA GÖREVİ</a:t>
            </a:r>
            <a:endParaRPr lang="en-US" sz="1900" dirty="0"/>
          </a:p>
        </p:txBody>
      </p:sp>
      <p:pic>
        <p:nvPicPr>
          <p:cNvPr id="24" name="Emoji 24" descr="emoj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722" y="208534"/>
            <a:ext cx="241300" cy="241300"/>
          </a:xfrm>
          <a:prstGeom prst="rect">
            <a:avLst/>
          </a:prstGeom>
        </p:spPr>
      </p:pic>
      <p:sp>
        <p:nvSpPr>
          <p:cNvPr id="5" name="Text 3"/>
          <p:cNvSpPr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i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kez görevin: “Abi, Abla, Amca, Teyze” hitaplarını GERÇEK bir bağlamda doğru kullanmak!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813816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1A2E5A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426464"/>
            <a:ext cx="457200" cy="45720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4264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1280160"/>
            <a:ext cx="70866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     Çevrenizde (ailede, sokakta, okulda) sizden büyük birine rastlayın.</a:t>
            </a:r>
            <a:endParaRPr lang="en-US" sz="1250" dirty="0"/>
          </a:p>
        </p:txBody>
      </p:sp>
      <p:pic>
        <p:nvPicPr>
          <p:cNvPr id="25" name="Emoji 25" descr="emoji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5444" y="1575689"/>
            <a:ext cx="158750" cy="158750"/>
          </a:xfrm>
          <a:prstGeom prst="rect">
            <a:avLst/>
          </a:prstGeom>
        </p:spPr>
      </p:pic>
      <p:sp>
        <p:nvSpPr>
          <p:cNvPr id="10" name="Shape 8"/>
          <p:cNvSpPr/>
          <p:nvPr/>
        </p:nvSpPr>
        <p:spPr>
          <a:xfrm>
            <a:off x="502920" y="2148840"/>
            <a:ext cx="813816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1A2E5A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31520" y="2295144"/>
            <a:ext cx="457200" cy="45720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2951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71600" y="2148840"/>
            <a:ext cx="70866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     Yaşını tahmin edin ve doğru hitabı seçin: Abi, Abla, Amca ya da Teyze.</a:t>
            </a:r>
            <a:endParaRPr lang="en-US" sz="1250" dirty="0"/>
          </a:p>
        </p:txBody>
      </p:sp>
      <p:pic>
        <p:nvPicPr>
          <p:cNvPr id="26" name="Emoji 26" descr="emoji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55444" y="2444369"/>
            <a:ext cx="158750" cy="158750"/>
          </a:xfrm>
          <a:prstGeom prst="rect">
            <a:avLst/>
          </a:prstGeom>
        </p:spPr>
      </p:pic>
      <p:sp>
        <p:nvSpPr>
          <p:cNvPr id="14" name="Shape 12"/>
          <p:cNvSpPr/>
          <p:nvPr/>
        </p:nvSpPr>
        <p:spPr>
          <a:xfrm>
            <a:off x="502920" y="3017520"/>
            <a:ext cx="813816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1A2E5A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3163824"/>
            <a:ext cx="457200" cy="45720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1638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71600" y="3017520"/>
            <a:ext cx="70866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     Doğru hitapla seslenin: “Elif Abla, nasılsın?” ya da “Ayşe Teyze, nasılsınız?”</a:t>
            </a:r>
            <a:endParaRPr lang="en-US" sz="1250" dirty="0"/>
          </a:p>
        </p:txBody>
      </p:sp>
      <p:pic>
        <p:nvPicPr>
          <p:cNvPr id="27" name="Emoji 27" descr="emoji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55444" y="3313049"/>
            <a:ext cx="158750" cy="158750"/>
          </a:xfrm>
          <a:prstGeom prst="rect">
            <a:avLst/>
          </a:prstGeom>
        </p:spPr>
      </p:pic>
      <p:sp>
        <p:nvSpPr>
          <p:cNvPr id="18" name="Shape 16"/>
          <p:cNvSpPr/>
          <p:nvPr/>
        </p:nvSpPr>
        <p:spPr>
          <a:xfrm>
            <a:off x="502920" y="3886200"/>
            <a:ext cx="813816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1A2E5A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31520" y="4032504"/>
            <a:ext cx="457200" cy="45720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40325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71600" y="3886200"/>
            <a:ext cx="70866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     Bu anı kısaca anlatan bir video/ses kaydı yapın: kime, hangi hitabı, neden kullandığınızı açıklayın.</a:t>
            </a:r>
            <a:endParaRPr lang="en-US" sz="1250" dirty="0"/>
          </a:p>
        </p:txBody>
      </p:sp>
      <p:pic>
        <p:nvPicPr>
          <p:cNvPr id="28" name="Emoji 28" descr="emoji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55444" y="4181729"/>
            <a:ext cx="158750" cy="158750"/>
          </a:xfrm>
          <a:prstGeom prst="rect">
            <a:avLst/>
          </a:prstGeom>
        </p:spPr>
      </p:pic>
      <p:sp>
        <p:nvSpPr>
          <p:cNvPr id="22" name="Shape 20"/>
          <p:cNvSpPr/>
          <p:nvPr/>
        </p:nvSpPr>
        <p:spPr>
          <a:xfrm>
            <a:off x="1463040" y="4590288"/>
            <a:ext cx="6217920" cy="438912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/>
        </p:spPr>
      </p:sp>
      <p:sp>
        <p:nvSpPr>
          <p:cNvPr id="23" name="Text 21"/>
          <p:cNvSpPr/>
          <p:nvPr/>
        </p:nvSpPr>
        <p:spPr>
          <a:xfrm>
            <a:off x="1463040" y="4590288"/>
            <a:ext cx="6217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Videoyu ailenize gösterin — doğru hitabı yakaladınız mı?     </a:t>
            </a:r>
            <a:endParaRPr lang="en-US" sz="1200" dirty="0"/>
          </a:p>
        </p:txBody>
      </p:sp>
      <p:pic>
        <p:nvPicPr>
          <p:cNvPr id="29" name="Emoji 29" descr="emoji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95929" y="4733544"/>
            <a:ext cx="152400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E5A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82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BBF24"/>
                </a:solidFill>
              </a:rPr>
              <a:t>★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321040" y="182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BBF24"/>
                </a:solidFill>
              </a:rPr>
              <a:t>★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74320" y="4480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BBF24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321040" y="4480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BBF24"/>
                </a:solidFill>
              </a:rPr>
              <a:t>★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BB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GÖREV TAMAMLANDI!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466344" y="2011680"/>
            <a:ext cx="1554480" cy="1371600"/>
          </a:xfrm>
          <a:prstGeom prst="roundRect">
            <a:avLst>
              <a:gd name="adj" fmla="val 8000"/>
            </a:avLst>
          </a:prstGeom>
          <a:solidFill>
            <a:srgbClr val="F97316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" y="2011680"/>
            <a:ext cx="1554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1-100 Sayılar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130552" y="2011680"/>
            <a:ext cx="1554480" cy="13716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2130552" y="2011680"/>
            <a:ext cx="1554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Doğum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tr-TR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Günü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794760" y="2011680"/>
            <a:ext cx="1554480" cy="1371600"/>
          </a:xfrm>
          <a:prstGeom prst="roundRect">
            <a:avLst>
              <a:gd name="adj" fmla="val 8000"/>
            </a:avLst>
          </a:prstGeom>
          <a:solidFill>
            <a:srgbClr val="16A34A"/>
          </a:solidFill>
          <a:ln/>
        </p:spPr>
      </p:sp>
      <p:sp>
        <p:nvSpPr>
          <p:cNvPr id="13" name="Text 11"/>
          <p:cNvSpPr/>
          <p:nvPr/>
        </p:nvSpPr>
        <p:spPr>
          <a:xfrm>
            <a:off x="3794760" y="2011680"/>
            <a:ext cx="1554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Mevsimler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58968" y="2011680"/>
            <a:ext cx="1554480" cy="1371600"/>
          </a:xfrm>
          <a:prstGeom prst="roundRect">
            <a:avLst>
              <a:gd name="adj" fmla="val 8000"/>
            </a:avLst>
          </a:prstGeom>
          <a:solidFill>
            <a:srgbClr val="4338CA"/>
          </a:solidFill>
          <a:ln/>
        </p:spPr>
      </p:sp>
      <p:sp>
        <p:nvSpPr>
          <p:cNvPr id="15" name="Text 13"/>
          <p:cNvSpPr/>
          <p:nvPr/>
        </p:nvSpPr>
        <p:spPr>
          <a:xfrm>
            <a:off x="5458968" y="2011680"/>
            <a:ext cx="1554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 Hitabı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123176" y="2011680"/>
            <a:ext cx="1554480" cy="13716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/>
        </p:spPr>
      </p:sp>
      <p:sp>
        <p:nvSpPr>
          <p:cNvPr id="17" name="Text 15"/>
          <p:cNvSpPr/>
          <p:nvPr/>
        </p:nvSpPr>
        <p:spPr>
          <a:xfrm>
            <a:off x="7123176" y="2011680"/>
            <a:ext cx="1554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Hitaplar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sonraki görevde görüşmek üzere, kendinize iyi bakın!     </a:t>
            </a:r>
            <a:endParaRPr lang="en-US" sz="1500" dirty="0"/>
          </a:p>
        </p:txBody>
      </p:sp>
      <p:pic>
        <p:nvPicPr>
          <p:cNvPr id="19" name="Emoji 19" descr="emoj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0121" y="4110990"/>
            <a:ext cx="190500" cy="190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1123</Words>
  <Application>Microsoft Macintosh PowerPoint</Application>
  <PresentationFormat>Ekran Gösterisi (16:9)</PresentationFormat>
  <Paragraphs>133</Paragraphs>
  <Slides>10</Slides>
  <Notes>10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3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</vt:lpstr>
      <vt:lpstr>Office Theme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Esma TOKCAN TEKİN</cp:lastModifiedBy>
  <cp:revision>5</cp:revision>
  <dcterms:created xsi:type="dcterms:W3CDTF">2026-07-23T14:59:19Z</dcterms:created>
  <dcterms:modified xsi:type="dcterms:W3CDTF">2026-10-16T08:52:36Z</dcterms:modified>
</cp:coreProperties>
</file>