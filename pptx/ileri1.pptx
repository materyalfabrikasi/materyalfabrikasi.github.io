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3022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pic>
        <p:nvPicPr>
          <p:cNvPr id="3015" name="Icon30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259080"/>
            <a:ext cx="213360" cy="213360"/>
          </a:xfrm>
          <a:prstGeom prst="rect">
            <a:avLst/>
          </a:prstGeom>
        </p:spPr>
      </p:pic>
      <p:pic>
        <p:nvPicPr>
          <p:cNvPr id="3016" name="Icon30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259080"/>
            <a:ext cx="213360" cy="213360"/>
          </a:xfrm>
          <a:prstGeom prst="rect">
            <a:avLst/>
          </a:prstGeom>
        </p:spPr>
      </p:pic>
      <p:pic>
        <p:nvPicPr>
          <p:cNvPr id="3017" name="Icon3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4556760"/>
            <a:ext cx="213360" cy="213360"/>
          </a:xfrm>
          <a:prstGeom prst="rect">
            <a:avLst/>
          </a:prstGeom>
        </p:spPr>
      </p:pic>
      <p:pic>
        <p:nvPicPr>
          <p:cNvPr id="3018" name="Icon30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4556760"/>
            <a:ext cx="213360" cy="213360"/>
          </a:xfrm>
          <a:prstGeom prst="rect">
            <a:avLst/>
          </a:prstGeom>
        </p:spPr>
      </p:pic>
      <p:pic>
        <p:nvPicPr>
          <p:cNvPr id="3019" name="Icon30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40" y="4099560"/>
            <a:ext cx="213360" cy="213360"/>
          </a:xfrm>
          <a:prstGeom prst="rect">
            <a:avLst/>
          </a:prstGeom>
        </p:spPr>
      </p:pic>
      <p:pic>
        <p:nvPicPr>
          <p:cNvPr id="3020" name="Icon30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720" y="716280"/>
            <a:ext cx="213360" cy="213360"/>
          </a:xfrm>
          <a:prstGeom prst="rect">
            <a:avLst/>
          </a:prstGeom>
        </p:spPr>
      </p:pic>
      <p:sp>
        <p:nvSpPr>
          <p:cNvPr id="9" name="Shape 7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pic>
        <p:nvPicPr>
          <p:cNvPr id="3021" name="Icon30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8630" y="895350"/>
            <a:ext cx="586740" cy="586740"/>
          </a:xfrm>
          <a:prstGeom prst="rect">
            <a:avLst/>
          </a:prstGeom>
        </p:spPr>
      </p:pic>
      <p:sp>
        <p:nvSpPr>
          <p:cNvPr id="11" name="Text 9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DEDEKTİFİ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2988676" y="4094163"/>
            <a:ext cx="3264837" cy="531457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767747" y="413129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İleri Seviye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57200" y="303332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VE TÜRK KÜLTÜRÜ ÖĞRENME </a:t>
            </a:r>
            <a:r>
              <a:rPr lang="en-US" sz="2600" kern="0" spc="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MACERASI</a:t>
            </a:r>
            <a:r>
              <a:rPr lang="tr-TR" sz="2600" kern="0" spc="400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2600" kern="0" spc="40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HER YÖNÜMLE BEN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GÖREV RAPORUMUZ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307592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pic>
        <p:nvPicPr>
          <p:cNvPr id="3030" name="Icon30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95" y="1435227"/>
            <a:ext cx="293370" cy="29337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1600200" y="105156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“Bir kültürü selamlaması mı ele verir?” sorusunu analiz edip yazımıza entegre edeceğiz.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542032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031" name="Icon30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595" y="2669667"/>
            <a:ext cx="293370" cy="293370"/>
          </a:xfrm>
          <a:prstGeom prst="rect">
            <a:avLst/>
          </a:prstGeom>
        </p:spPr>
      </p:pic>
      <p:sp>
        <p:nvSpPr>
          <p:cNvPr id="12" name="Text 10"/>
          <p:cNvSpPr/>
          <p:nvPr/>
        </p:nvSpPr>
        <p:spPr>
          <a:xfrm>
            <a:off x="1600200" y="228600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Kişilik özelliklerimizi, güçlü/zayıf yönlerimizi ve kariyer hedeflerimizi derinlemesine betimleyeceğiz.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" y="3776472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032" name="Icon30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595" y="3904107"/>
            <a:ext cx="293370" cy="293370"/>
          </a:xfrm>
          <a:prstGeom prst="rect">
            <a:avLst/>
          </a:prstGeom>
        </p:spPr>
      </p:pic>
      <p:sp>
        <p:nvSpPr>
          <p:cNvPr id="16" name="Text 14"/>
          <p:cNvSpPr/>
          <p:nvPr/>
        </p:nvSpPr>
        <p:spPr>
          <a:xfrm>
            <a:off x="1600200" y="35204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İkidilliliğin kimliğimize kattığı değerleri sorgulayacağız.</a:t>
            </a:r>
            <a:endParaRPr lang="en-US" sz="1450" dirty="0"/>
          </a:p>
        </p:txBody>
      </p:sp>
      <p:sp>
        <p:nvSpPr>
          <p:cNvPr id="30" name="CurriculumNote"/>
          <p:cNvSpPr/>
          <p:nvPr/>
        </p:nvSpPr>
        <p:spPr>
          <a:xfrm>
            <a:off x="365760" y="680000"/>
            <a:ext cx="841248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— 6. Seviye: </a:t>
            </a:r>
            <a:r>
              <a:rPr lang="tr-TR" sz="900" dirty="0" smtClean="0">
                <a:solidFill>
                  <a:srgbClr val="94A3B8"/>
                </a:solidFill>
                <a:latin typeface="Calibri" pitchFamily="34" charset="0"/>
              </a:rPr>
              <a:t>1A2 </a:t>
            </a:r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| 7. Seviye: 1A1, 1A2 </a:t>
            </a:r>
            <a:endParaRPr lang="tr-T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SELAMLAMA </a:t>
            </a:r>
            <a:r>
              <a:rPr lang="tr-TR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ŞEKİLLERİ</a:t>
            </a:r>
            <a:r>
              <a:rPr lang="en-US" sz="17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TOPLUMSAL KİMLİK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938947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9144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"Bir toplumu selamlamasından anlayabilirsiniz."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2286000"/>
            <a:ext cx="78638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99655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toplumun selamlaşma şekli (sarılmak, el öpmek, sadece başıyla selam vermek) o toplumun insana, mesafeye ve sıcaklığa bakışını gerçekten ele verir mi?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Katılıyor musun, yoksa karşı argümanların var mı?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24547"/>
            <a:ext cx="91440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İLGİ ALANLARI VE YETENEKLER</a:t>
            </a:r>
          </a:p>
        </p:txBody>
      </p:sp>
      <p:sp>
        <p:nvSpPr>
          <p:cNvPr id="6" name="Subtitle"/>
          <p:cNvSpPr/>
          <p:nvPr/>
        </p:nvSpPr>
        <p:spPr>
          <a:xfrm>
            <a:off x="365760" y="730000"/>
            <a:ext cx="84124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dirty="0">
                <a:solidFill>
                  <a:srgbClr val="1E293B"/>
                </a:solidFill>
                <a:latin typeface="Calibri" pitchFamily="34" charset="0"/>
              </a:rPr>
              <a:t>Güçlü yönlerini anlatırken </a:t>
            </a:r>
            <a:r>
              <a:rPr lang="tr-TR" sz="1400" dirty="0" smtClean="0">
                <a:solidFill>
                  <a:srgbClr val="1E293B"/>
                </a:solidFill>
                <a:latin typeface="Calibri" pitchFamily="34" charset="0"/>
              </a:rPr>
              <a:t>kullanabileceğimiz kelimeler:</a:t>
            </a:r>
            <a:endParaRPr lang="tr-TR" sz="1400" dirty="0">
              <a:solidFill>
                <a:srgbClr val="1E293B"/>
              </a:solidFill>
              <a:latin typeface="Calibri" pitchFamily="34" charset="0"/>
            </a:endParaRPr>
          </a:p>
        </p:txBody>
      </p:sp>
      <p:sp>
        <p:nvSpPr>
          <p:cNvPr id="20" name="CardRect20"/>
          <p:cNvSpPr/>
          <p:nvPr/>
        </p:nvSpPr>
        <p:spPr>
          <a:xfrm>
            <a:off x="3657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1" name="CardText21"/>
          <p:cNvSpPr/>
          <p:nvPr/>
        </p:nvSpPr>
        <p:spPr>
          <a:xfrm>
            <a:off x="5486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F97316"/>
                </a:solidFill>
                <a:latin typeface="Calibri" pitchFamily="34" charset="0"/>
              </a:rPr>
              <a:t>Analitik Düşünme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Bir problemi parçalara ayırıp mantıklı adımlarla çözme yeteneği.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“Matematik derslerinde analitik düşünme yeteneğim sayesinde karmaşık problemleri kolayca çözerim.”</a:t>
            </a:r>
          </a:p>
        </p:txBody>
      </p:sp>
      <p:sp>
        <p:nvSpPr>
          <p:cNvPr id="22" name="BadgeRect22"/>
          <p:cNvSpPr/>
          <p:nvPr/>
        </p:nvSpPr>
        <p:spPr>
          <a:xfrm>
            <a:off x="27848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BadgeText23"/>
          <p:cNvSpPr/>
          <p:nvPr/>
        </p:nvSpPr>
        <p:spPr>
          <a:xfrm>
            <a:off x="27848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Yetenek Alanı</a:t>
            </a:r>
          </a:p>
        </p:txBody>
      </p:sp>
      <p:sp>
        <p:nvSpPr>
          <p:cNvPr id="24" name="CardRect24"/>
          <p:cNvSpPr/>
          <p:nvPr/>
        </p:nvSpPr>
        <p:spPr>
          <a:xfrm>
            <a:off x="47091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CE7F3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5" name="CardText25"/>
          <p:cNvSpPr/>
          <p:nvPr/>
        </p:nvSpPr>
        <p:spPr>
          <a:xfrm>
            <a:off x="48920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DB2777"/>
                </a:solidFill>
                <a:latin typeface="Calibri" pitchFamily="34" charset="0"/>
              </a:rPr>
              <a:t>Yaratıcılık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Özgün fikirler üretme, sıra dışı çözümler bulabilme yeteneği.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“Sanat projelerimde yaratıcılığımı kullanarak herkesten farklı bir şey ortaya koyarım.”</a:t>
            </a:r>
          </a:p>
        </p:txBody>
      </p:sp>
      <p:sp>
        <p:nvSpPr>
          <p:cNvPr id="26" name="BadgeRect26"/>
          <p:cNvSpPr/>
          <p:nvPr/>
        </p:nvSpPr>
        <p:spPr>
          <a:xfrm>
            <a:off x="71282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7" name="BadgeText27"/>
          <p:cNvSpPr/>
          <p:nvPr/>
        </p:nvSpPr>
        <p:spPr>
          <a:xfrm>
            <a:off x="71282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Yetenek Alanı</a:t>
            </a:r>
          </a:p>
        </p:txBody>
      </p:sp>
      <p:sp>
        <p:nvSpPr>
          <p:cNvPr id="28" name="CardRect28"/>
          <p:cNvSpPr/>
          <p:nvPr/>
        </p:nvSpPr>
        <p:spPr>
          <a:xfrm>
            <a:off x="3657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9" name="CardText29"/>
          <p:cNvSpPr/>
          <p:nvPr/>
        </p:nvSpPr>
        <p:spPr>
          <a:xfrm>
            <a:off x="5486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16A34A"/>
                </a:solidFill>
                <a:latin typeface="Calibri" pitchFamily="34" charset="0"/>
              </a:rPr>
              <a:t>Liderlik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Bir grubu ortak bir hedefe yönlendirip sorumluluk alabilme becerisi.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“Okul projesinde liderlik yaparak grubumuzu başarıyla yönlendirdim.”</a:t>
            </a:r>
          </a:p>
        </p:txBody>
      </p:sp>
      <p:sp>
        <p:nvSpPr>
          <p:cNvPr id="30" name="BadgeRect30"/>
          <p:cNvSpPr/>
          <p:nvPr/>
        </p:nvSpPr>
        <p:spPr>
          <a:xfrm>
            <a:off x="27848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1" name="BadgeText31"/>
          <p:cNvSpPr/>
          <p:nvPr/>
        </p:nvSpPr>
        <p:spPr>
          <a:xfrm>
            <a:off x="27848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Beceri</a:t>
            </a:r>
          </a:p>
        </p:txBody>
      </p:sp>
      <p:sp>
        <p:nvSpPr>
          <p:cNvPr id="32" name="CardRect32"/>
          <p:cNvSpPr/>
          <p:nvPr/>
        </p:nvSpPr>
        <p:spPr>
          <a:xfrm>
            <a:off x="47091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33" name="CardText33"/>
          <p:cNvSpPr/>
          <p:nvPr/>
        </p:nvSpPr>
        <p:spPr>
          <a:xfrm>
            <a:off x="48920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2563EB"/>
                </a:solidFill>
                <a:latin typeface="Calibri" pitchFamily="34" charset="0"/>
              </a:rPr>
              <a:t>Takım Çalışması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Ortak bir amaç için uyum içinde çalışabilme becerisi.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“Takım çalışması sayesinde projeyi zamanında tamamladık.”</a:t>
            </a:r>
          </a:p>
        </p:txBody>
      </p:sp>
      <p:sp>
        <p:nvSpPr>
          <p:cNvPr id="34" name="BadgeRect34"/>
          <p:cNvSpPr/>
          <p:nvPr/>
        </p:nvSpPr>
        <p:spPr>
          <a:xfrm>
            <a:off x="71282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BadgeText35"/>
          <p:cNvSpPr/>
          <p:nvPr/>
        </p:nvSpPr>
        <p:spPr>
          <a:xfrm>
            <a:off x="71282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Beceri</a:t>
            </a:r>
          </a:p>
        </p:txBody>
      </p:sp>
      <p:sp>
        <p:nvSpPr>
          <p:cNvPr id="36" name="CardRect36"/>
          <p:cNvSpPr/>
          <p:nvPr/>
        </p:nvSpPr>
        <p:spPr>
          <a:xfrm>
            <a:off x="3657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37" name="CardText37"/>
          <p:cNvSpPr/>
          <p:nvPr/>
        </p:nvSpPr>
        <p:spPr>
          <a:xfrm>
            <a:off x="5486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7C3AED"/>
                </a:solidFill>
                <a:latin typeface="Calibri" pitchFamily="34" charset="0"/>
              </a:rPr>
              <a:t>Problem Çözme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Karşılaşılan zorluklara pratik ve etkili çözümler bulabilme becerisi.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“Problem çözme becerim, zor durumlarda sakin kalıp doğru kararlar vermemi sağlıyor.”</a:t>
            </a:r>
          </a:p>
        </p:txBody>
      </p:sp>
      <p:sp>
        <p:nvSpPr>
          <p:cNvPr id="38" name="BadgeRect38"/>
          <p:cNvSpPr/>
          <p:nvPr/>
        </p:nvSpPr>
        <p:spPr>
          <a:xfrm>
            <a:off x="27848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9" name="BadgeText39"/>
          <p:cNvSpPr/>
          <p:nvPr/>
        </p:nvSpPr>
        <p:spPr>
          <a:xfrm>
            <a:off x="27848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Beceri</a:t>
            </a:r>
          </a:p>
        </p:txBody>
      </p:sp>
      <p:sp>
        <p:nvSpPr>
          <p:cNvPr id="40" name="CardRect40"/>
          <p:cNvSpPr/>
          <p:nvPr/>
        </p:nvSpPr>
        <p:spPr>
          <a:xfrm>
            <a:off x="47091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41" name="CardText41"/>
          <p:cNvSpPr/>
          <p:nvPr/>
        </p:nvSpPr>
        <p:spPr>
          <a:xfrm>
            <a:off x="48920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600" b="1" dirty="0">
                <a:solidFill>
                  <a:srgbClr val="0D9488"/>
                </a:solidFill>
                <a:latin typeface="Calibri" pitchFamily="34" charset="0"/>
              </a:rPr>
              <a:t>İletişim Becerisi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Duygu ve düşünceleri açık, etkili bir şekilde ifade edebilme yeteneği.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“İletişim becerim güçlü olduğu için insanlarla kolayca bağ kurabiliyorum.”</a:t>
            </a:r>
          </a:p>
        </p:txBody>
      </p:sp>
      <p:sp>
        <p:nvSpPr>
          <p:cNvPr id="42" name="BadgeRect42"/>
          <p:cNvSpPr/>
          <p:nvPr/>
        </p:nvSpPr>
        <p:spPr>
          <a:xfrm>
            <a:off x="71282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3" name="BadgeText43"/>
          <p:cNvSpPr/>
          <p:nvPr/>
        </p:nvSpPr>
        <p:spPr>
          <a:xfrm>
            <a:off x="71282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Beceri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9" grpId="0" animBg="1"/>
      <p:bldP spid="33" grpId="0" animBg="1"/>
      <p:bldP spid="37" grpId="0" animBg="1"/>
      <p:bldP spid="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TASARIMI</a:t>
            </a:r>
          </a:p>
        </p:txBody>
      </p:sp>
      <p:sp>
        <p:nvSpPr>
          <p:cNvPr id="6" name="Subtitle"/>
          <p:cNvSpPr/>
          <p:nvPr/>
        </p:nvSpPr>
        <p:spPr>
          <a:xfrm>
            <a:off x="365760" y="730000"/>
            <a:ext cx="84124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dirty="0">
                <a:solidFill>
                  <a:srgbClr val="1E293B"/>
                </a:solidFill>
                <a:latin typeface="Calibri" pitchFamily="34" charset="0"/>
              </a:rPr>
              <a:t>Geleceğini </a:t>
            </a:r>
            <a:r>
              <a:rPr lang="tr-TR" sz="1400" dirty="0" smtClean="0">
                <a:solidFill>
                  <a:srgbClr val="1E293B"/>
                </a:solidFill>
                <a:latin typeface="Calibri" pitchFamily="34" charset="0"/>
              </a:rPr>
              <a:t>konuşurken…:</a:t>
            </a:r>
            <a:endParaRPr lang="tr-TR" sz="1400" dirty="0">
              <a:solidFill>
                <a:srgbClr val="1E293B"/>
              </a:solidFill>
              <a:latin typeface="Calibri" pitchFamily="34" charset="0"/>
            </a:endParaRPr>
          </a:p>
        </p:txBody>
      </p:sp>
      <p:sp>
        <p:nvSpPr>
          <p:cNvPr id="20" name="CardRect20"/>
          <p:cNvSpPr/>
          <p:nvPr/>
        </p:nvSpPr>
        <p:spPr>
          <a:xfrm>
            <a:off x="3657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1" name="CardText21"/>
          <p:cNvSpPr/>
          <p:nvPr/>
        </p:nvSpPr>
        <p:spPr>
          <a:xfrm>
            <a:off x="5486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F97316"/>
                </a:solidFill>
                <a:latin typeface="Calibri" pitchFamily="34" charset="0"/>
              </a:rPr>
              <a:t>Kariyer Hedefi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Gelecekte ulaşmak istediğin mesleki amaç.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“Kariyer hedefim doktor olup insanlara yardım etmek.”</a:t>
            </a:r>
          </a:p>
        </p:txBody>
      </p:sp>
      <p:sp>
        <p:nvSpPr>
          <p:cNvPr id="22" name="BadgeRect22"/>
          <p:cNvSpPr/>
          <p:nvPr/>
        </p:nvSpPr>
        <p:spPr>
          <a:xfrm>
            <a:off x="27848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BadgeText23"/>
          <p:cNvSpPr/>
          <p:nvPr/>
        </p:nvSpPr>
        <p:spPr>
          <a:xfrm>
            <a:off x="27848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Kariyer</a:t>
            </a:r>
          </a:p>
        </p:txBody>
      </p:sp>
      <p:sp>
        <p:nvSpPr>
          <p:cNvPr id="24" name="CardRect24"/>
          <p:cNvSpPr/>
          <p:nvPr/>
        </p:nvSpPr>
        <p:spPr>
          <a:xfrm>
            <a:off x="47091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CE7F3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5" name="CardText25"/>
          <p:cNvSpPr/>
          <p:nvPr/>
        </p:nvSpPr>
        <p:spPr>
          <a:xfrm>
            <a:off x="48920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DB2777"/>
                </a:solidFill>
                <a:latin typeface="Calibri" pitchFamily="34" charset="0"/>
              </a:rPr>
              <a:t>Meslek Seçimi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İleride yapmak istediğin işi belirleme süreci.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“Meslek seçimimi yaparken ilgi alanlarımı ve yeteneklerimi düşündüm.”</a:t>
            </a:r>
          </a:p>
        </p:txBody>
      </p:sp>
      <p:sp>
        <p:nvSpPr>
          <p:cNvPr id="26" name="BadgeRect26"/>
          <p:cNvSpPr/>
          <p:nvPr/>
        </p:nvSpPr>
        <p:spPr>
          <a:xfrm>
            <a:off x="71282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27" name="BadgeText27"/>
          <p:cNvSpPr/>
          <p:nvPr/>
        </p:nvSpPr>
        <p:spPr>
          <a:xfrm>
            <a:off x="71282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Kariyer</a:t>
            </a:r>
          </a:p>
        </p:txBody>
      </p:sp>
      <p:sp>
        <p:nvSpPr>
          <p:cNvPr id="28" name="CardRect28"/>
          <p:cNvSpPr/>
          <p:nvPr/>
        </p:nvSpPr>
        <p:spPr>
          <a:xfrm>
            <a:off x="3657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9" name="CardText29"/>
          <p:cNvSpPr/>
          <p:nvPr/>
        </p:nvSpPr>
        <p:spPr>
          <a:xfrm>
            <a:off x="5486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16A34A"/>
                </a:solidFill>
                <a:latin typeface="Calibri" pitchFamily="34" charset="0"/>
              </a:rPr>
              <a:t>Sorumluluk Almak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Bir işin sonucundan kendini sorumlu tutup görevi üstlenme.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“Okul projesinde sorumluluk alarak en zor kısmı ben üstlendim.”</a:t>
            </a:r>
          </a:p>
        </p:txBody>
      </p:sp>
      <p:sp>
        <p:nvSpPr>
          <p:cNvPr id="30" name="BadgeRect30"/>
          <p:cNvSpPr/>
          <p:nvPr/>
        </p:nvSpPr>
        <p:spPr>
          <a:xfrm>
            <a:off x="27848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1" name="BadgeText31"/>
          <p:cNvSpPr/>
          <p:nvPr/>
        </p:nvSpPr>
        <p:spPr>
          <a:xfrm>
            <a:off x="27848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Nitelik</a:t>
            </a:r>
          </a:p>
        </p:txBody>
      </p:sp>
      <p:sp>
        <p:nvSpPr>
          <p:cNvPr id="32" name="CardRect32"/>
          <p:cNvSpPr/>
          <p:nvPr/>
        </p:nvSpPr>
        <p:spPr>
          <a:xfrm>
            <a:off x="47091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33" name="CardText33"/>
          <p:cNvSpPr/>
          <p:nvPr/>
        </p:nvSpPr>
        <p:spPr>
          <a:xfrm>
            <a:off x="48920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2563EB"/>
                </a:solidFill>
                <a:latin typeface="Calibri" pitchFamily="34" charset="0"/>
              </a:rPr>
              <a:t>Başarılı Olmak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Hedeflenen bir sonuca ulaşıp istenen düzeyde performans gösterme.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“Sınavda başarılı olmak için her gün düzenli çalıştım.”</a:t>
            </a:r>
          </a:p>
        </p:txBody>
      </p:sp>
      <p:sp>
        <p:nvSpPr>
          <p:cNvPr id="34" name="BadgeRect34"/>
          <p:cNvSpPr/>
          <p:nvPr/>
        </p:nvSpPr>
        <p:spPr>
          <a:xfrm>
            <a:off x="71282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35" name="BadgeText35"/>
          <p:cNvSpPr/>
          <p:nvPr/>
        </p:nvSpPr>
        <p:spPr>
          <a:xfrm>
            <a:off x="71282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Nitelik</a:t>
            </a:r>
          </a:p>
        </p:txBody>
      </p:sp>
      <p:sp>
        <p:nvSpPr>
          <p:cNvPr id="36" name="CardRect36"/>
          <p:cNvSpPr/>
          <p:nvPr/>
        </p:nvSpPr>
        <p:spPr>
          <a:xfrm>
            <a:off x="3657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37" name="CardText37"/>
          <p:cNvSpPr/>
          <p:nvPr/>
        </p:nvSpPr>
        <p:spPr>
          <a:xfrm>
            <a:off x="5486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7C3AED"/>
                </a:solidFill>
                <a:latin typeface="Calibri" pitchFamily="34" charset="0"/>
              </a:rPr>
              <a:t>Deneyim Kazanmak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Bir işi yaparak ya da yaşayarak pratik bilgi ve tecrübe edinme.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“Yaz tatilinde bir kafede çalışarak iş hayatında deneyim kazandım.”</a:t>
            </a:r>
          </a:p>
        </p:txBody>
      </p:sp>
      <p:sp>
        <p:nvSpPr>
          <p:cNvPr id="38" name="BadgeRect38"/>
          <p:cNvSpPr/>
          <p:nvPr/>
        </p:nvSpPr>
        <p:spPr>
          <a:xfrm>
            <a:off x="27848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9" name="BadgeText39"/>
          <p:cNvSpPr/>
          <p:nvPr/>
        </p:nvSpPr>
        <p:spPr>
          <a:xfrm>
            <a:off x="27848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Kariyer</a:t>
            </a:r>
          </a:p>
        </p:txBody>
      </p:sp>
      <p:sp>
        <p:nvSpPr>
          <p:cNvPr id="40" name="CardRect40"/>
          <p:cNvSpPr/>
          <p:nvPr/>
        </p:nvSpPr>
        <p:spPr>
          <a:xfrm>
            <a:off x="47091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41" name="CardText41"/>
          <p:cNvSpPr/>
          <p:nvPr/>
        </p:nvSpPr>
        <p:spPr>
          <a:xfrm>
            <a:off x="48920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0D9488"/>
                </a:solidFill>
                <a:latin typeface="Calibri" pitchFamily="34" charset="0"/>
              </a:rPr>
              <a:t>Azimli Olmak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dirty="0">
                <a:solidFill>
                  <a:srgbClr val="1E293B"/>
                </a:solidFill>
                <a:latin typeface="Calibri" pitchFamily="34" charset="0"/>
              </a:rPr>
              <a:t>Zorluklara rağmen hedeften vazgeçmeden çalışmaya devam etme.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950" i="1" dirty="0">
                <a:solidFill>
                  <a:srgbClr val="475569"/>
                </a:solidFill>
                <a:latin typeface="Calibri" pitchFamily="34" charset="0"/>
              </a:rPr>
              <a:t>“Azimli olduğum için sınava üç kez girip sonunda kazandım.”</a:t>
            </a:r>
          </a:p>
        </p:txBody>
      </p:sp>
      <p:sp>
        <p:nvSpPr>
          <p:cNvPr id="42" name="BadgeRect42"/>
          <p:cNvSpPr/>
          <p:nvPr/>
        </p:nvSpPr>
        <p:spPr>
          <a:xfrm>
            <a:off x="71282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43" name="BadgeText43"/>
          <p:cNvSpPr/>
          <p:nvPr/>
        </p:nvSpPr>
        <p:spPr>
          <a:xfrm>
            <a:off x="71282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Kişisel Nitelik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9" grpId="0" animBg="1"/>
      <p:bldP spid="33" grpId="0" animBg="1"/>
      <p:bldP spid="37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DİL İSKELETİ: YETENEKLER VE GELECEK TASARIMI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güçlü yanım ____, gelecekte ____ olmak istiyorum çünkü ____.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Geliştirmem gereken yanım </a:t>
            </a:r>
            <a:r>
              <a:rPr lang="tr-TR" sz="1550" b="1" dirty="0" smtClean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 . Bunun </a:t>
            </a: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 ____ yapıyorum.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Meslek seçimimi yaparken ____ </a:t>
            </a:r>
            <a:r>
              <a:rPr lang="tr-TR" sz="1550" b="1" dirty="0" smtClean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çünkü </a:t>
            </a: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80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Örnek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8328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 güçlü yanım analitik düşünme </a:t>
            </a:r>
            <a:r>
              <a:rPr lang="tr-TR" sz="125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yeteneğim. </a:t>
            </a:r>
            <a:r>
              <a:rPr lang="tr-TR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Gelecekte mimar olmak istiyorum çünkü yaratıcılığımı kullanarak insanlara faydalı mekanlar tasarlamak istiyorum. Geliştirmem gereken yanım </a:t>
            </a:r>
            <a:r>
              <a:rPr lang="tr-TR" sz="125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liderlik. Bunun </a:t>
            </a:r>
            <a:r>
              <a:rPr lang="tr-TR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için okul kulübünde sorumluluk alıyorum. Meslek seçimimi yaparken deneyim kazanmak </a:t>
            </a:r>
            <a:r>
              <a:rPr lang="tr-TR" sz="1250" i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 </a:t>
            </a:r>
            <a:r>
              <a:rPr lang="tr-TR" sz="12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çünkü kariyer hedefime azimle ilerlemek istiyorum."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İKİDİLLİLİK VE KİMLİK ZENGİNLİĞİ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80467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96012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dile ve iki kültüre ev sahipliği yapmak: bu bir “kültürel zenginlik” mi, yoksa zaman zaman yaşanan bir “kimlik karmaşası” mı?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2316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Zenginlik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 bakış açısı, iki dünya, çift kültürel bilinç.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17720" y="2423160"/>
            <a:ext cx="3794760" cy="13716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Karmaşası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Aidiyet sorusu, 'hangisi gerçekten benim' hissi.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300" i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Hadi, nedenleriyle tartışalım</a:t>
            </a:r>
            <a:r>
              <a:rPr lang="en-US" sz="1300" i="1" dirty="0" smtClean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KAPSAMLI TANITIM METNİ ATÖLYESİ: “HER YÖNÜYLE BEN”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1430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005840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 1: Kişilik ve güçlü/gelişime açık yönler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1901952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39112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039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901952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 2: Yetenek alanları ve gelecek/kariyer hedefleri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2798064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2935224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935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2798064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 3: İkidillilik ve kültürel kimlik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831336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313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54480" y="3694176"/>
            <a:ext cx="6675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 4: Selamlama ritüellerinin Türk kültüründeki yeri ve kimliği yansıtma gücü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KÖŞESİ – DEDEKTİF SIRRI!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TÜRKLERDE SELAMLAŞMA</a:t>
            </a:r>
            <a:endParaRPr lang="en-US" sz="2600" dirty="0"/>
          </a:p>
        </p:txBody>
      </p:sp>
      <p:sp>
        <p:nvSpPr>
          <p:cNvPr id="20" name="CardRect20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4" name="Icon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718310"/>
            <a:ext cx="266700" cy="266700"/>
          </a:xfrm>
          <a:prstGeom prst="rect">
            <a:avLst/>
          </a:prstGeom>
        </p:spPr>
      </p:pic>
      <p:sp>
        <p:nvSpPr>
          <p:cNvPr id="22" name="CardText22"/>
          <p:cNvSpPr/>
          <p:nvPr/>
        </p:nvSpPr>
        <p:spPr>
          <a:xfrm>
            <a:off x="146304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Tanıdıklarımızı görünce elimizi kaldırıp sallayarak selamlarız.</a:t>
            </a:r>
            <a:endParaRPr lang="tr-TR" sz="1400" dirty="0"/>
          </a:p>
        </p:txBody>
      </p:sp>
      <p:sp>
        <p:nvSpPr>
          <p:cNvPr id="23" name="CardRect23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5" name="Icon10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" y="2312670"/>
            <a:ext cx="266700" cy="266700"/>
          </a:xfrm>
          <a:prstGeom prst="rect">
            <a:avLst/>
          </a:prstGeom>
        </p:spPr>
      </p:pic>
      <p:sp>
        <p:nvSpPr>
          <p:cNvPr id="25" name="CardText25"/>
          <p:cNvSpPr/>
          <p:nvPr/>
        </p:nvSpPr>
        <p:spPr>
          <a:xfrm>
            <a:off x="1463040" y="21945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Uzaktaki birine başımızı hafifçe öne eğerek selam veririz.</a:t>
            </a:r>
            <a:endParaRPr lang="tr-TR" sz="1400" dirty="0"/>
          </a:p>
        </p:txBody>
      </p:sp>
      <p:sp>
        <p:nvSpPr>
          <p:cNvPr id="26" name="CardRect26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6" name="Icon10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2907030"/>
            <a:ext cx="266700" cy="266700"/>
          </a:xfrm>
          <a:prstGeom prst="rect">
            <a:avLst/>
          </a:prstGeom>
        </p:spPr>
      </p:pic>
      <p:sp>
        <p:nvSpPr>
          <p:cNvPr id="28" name="CardText28"/>
          <p:cNvSpPr/>
          <p:nvPr/>
        </p:nvSpPr>
        <p:spPr>
          <a:xfrm>
            <a:off x="1463040" y="2788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Arkadaşlarımız ve büyüklerimizle tokalaşarak selamlaşırız.</a:t>
            </a:r>
            <a:endParaRPr lang="tr-TR" sz="1400" dirty="0"/>
          </a:p>
        </p:txBody>
      </p:sp>
      <p:sp>
        <p:nvSpPr>
          <p:cNvPr id="29" name="CardRect29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7" name="Icon10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70" y="3501390"/>
            <a:ext cx="266700" cy="266700"/>
          </a:xfrm>
          <a:prstGeom prst="rect">
            <a:avLst/>
          </a:prstGeom>
        </p:spPr>
      </p:pic>
      <p:sp>
        <p:nvSpPr>
          <p:cNvPr id="31" name="CardText31"/>
          <p:cNvSpPr/>
          <p:nvPr/>
        </p:nvSpPr>
        <p:spPr>
          <a:xfrm>
            <a:off x="1463040" y="33832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Çok yakın arkadaşlarımızı iki yanağından öperek selamlarız.</a:t>
            </a:r>
            <a:endParaRPr lang="tr-TR" sz="1400" dirty="0"/>
          </a:p>
        </p:txBody>
      </p:sp>
      <p:sp>
        <p:nvSpPr>
          <p:cNvPr id="32" name="CardRect32"/>
          <p:cNvSpPr/>
          <p:nvPr/>
        </p:nvSpPr>
        <p:spPr>
          <a:xfrm>
            <a:off x="731520" y="397764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8" name="Icon10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70" y="4095750"/>
            <a:ext cx="266700" cy="266700"/>
          </a:xfrm>
          <a:prstGeom prst="rect">
            <a:avLst/>
          </a:prstGeom>
        </p:spPr>
      </p:pic>
      <p:sp>
        <p:nvSpPr>
          <p:cNvPr id="34" name="CardText34"/>
          <p:cNvSpPr/>
          <p:nvPr/>
        </p:nvSpPr>
        <p:spPr>
          <a:xfrm>
            <a:off x="1463040" y="3977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Bayramlarda büyüklerimizin elini öpüp alnımıza götürürüz.</a:t>
            </a:r>
            <a:endParaRPr lang="tr-T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31" grpId="0" animBg="1"/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YENİ SAHA GÖREVİ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kez görevin: Selamlama ritüellerini gözlemleyip ANALİZ ETMEK ve bir karşı görüşle TARTIŞMAK!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Yaşadığınız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ülkede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resm</a:t>
            </a:r>
            <a:r>
              <a:rPr lang="tr-TR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ortamda (okul/banka vb.) selamlaşma ritüellerini gözlemleyin.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Türk aile toplantısında/buluşmasında selamlaşma ritüellerini gözlemleyin.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“Selamlama biçimleri bu iki toplumun karakterini nasıl yansıtıyor?” sorusuna yanıt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veren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gözlem</a:t>
            </a:r>
            <a:r>
              <a:rPr lang="en-US" sz="1200" b="1" dirty="0" smtClean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 yazın.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Raporunuza en az bir karşıt görüş/itiraz ekleyerek analizinizi derinleştirin.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188720" y="4590288"/>
            <a:ext cx="676656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590288"/>
            <a:ext cx="6766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Raporunu bir </a:t>
            </a:r>
            <a:r>
              <a:rPr lang="en-US" sz="1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derse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getir</a:t>
            </a:r>
            <a:r>
              <a:rPr lang="tr-T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misin?</a:t>
            </a:r>
            <a:r>
              <a:rPr lang="en-US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 birlikte tartışalım! 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pic>
        <p:nvPicPr>
          <p:cNvPr id="3051" name="Icon30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259080"/>
            <a:ext cx="213360" cy="213360"/>
          </a:xfrm>
          <a:prstGeom prst="rect">
            <a:avLst/>
          </a:prstGeom>
        </p:spPr>
      </p:pic>
      <p:pic>
        <p:nvPicPr>
          <p:cNvPr id="3052" name="Icon30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259080"/>
            <a:ext cx="213360" cy="213360"/>
          </a:xfrm>
          <a:prstGeom prst="rect">
            <a:avLst/>
          </a:prstGeom>
        </p:spPr>
      </p:pic>
      <p:pic>
        <p:nvPicPr>
          <p:cNvPr id="3053" name="Icon305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20" y="4556760"/>
            <a:ext cx="213360" cy="213360"/>
          </a:xfrm>
          <a:prstGeom prst="rect">
            <a:avLst/>
          </a:prstGeom>
        </p:spPr>
      </p:pic>
      <p:pic>
        <p:nvPicPr>
          <p:cNvPr id="3054" name="Icon30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240" y="4556760"/>
            <a:ext cx="213360" cy="213360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TAMAMLANDI!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8862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38862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 &amp; Kimlik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08026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08026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Yetenekler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77190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</p:sp>
      <p:sp>
        <p:nvSpPr>
          <p:cNvPr id="13" name="Text 11"/>
          <p:cNvSpPr/>
          <p:nvPr/>
        </p:nvSpPr>
        <p:spPr>
          <a:xfrm>
            <a:off x="377190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İkidillilik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6354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546354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Tanıtım Metni</a:t>
            </a:r>
            <a:endParaRPr lang="en-US" sz="1150" dirty="0"/>
          </a:p>
        </p:txBody>
      </p:sp>
      <p:sp>
        <p:nvSpPr>
          <p:cNvPr id="50" name="Shape 50"/>
          <p:cNvSpPr/>
          <p:nvPr/>
        </p:nvSpPr>
        <p:spPr>
          <a:xfrm>
            <a:off x="715518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</p:sp>
      <p:sp>
        <p:nvSpPr>
          <p:cNvPr id="51" name="Text 50"/>
          <p:cNvSpPr/>
          <p:nvPr/>
        </p:nvSpPr>
        <p:spPr>
          <a:xfrm>
            <a:off x="715518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Gelecek Tasarımı</a:t>
            </a:r>
            <a:endParaRPr lang="tr-TR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</a:t>
            </a:r>
            <a:r>
              <a:rPr lang="en-US" sz="15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500" i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görevde</a:t>
            </a:r>
            <a:r>
              <a:rPr lang="en-US" sz="1500" i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görüşmek üzere! 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772</Words>
  <Application>Microsoft Office PowerPoint</Application>
  <PresentationFormat>Ekran Gösterisi (16:9)</PresentationFormat>
  <Paragraphs>120</Paragraphs>
  <Slides>11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Edibe YILMAZ</cp:lastModifiedBy>
  <cp:revision>9</cp:revision>
  <dcterms:created xsi:type="dcterms:W3CDTF">2026-07-28T10:18:44Z</dcterms:created>
  <dcterms:modified xsi:type="dcterms:W3CDTF">2026-09-11T07:18:49Z</dcterms:modified>
</cp:coreProperties>
</file>