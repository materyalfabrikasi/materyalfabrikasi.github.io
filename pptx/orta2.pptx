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65" r:id="rId4"/>
    <p:sldId id="266" r:id="rId5"/>
    <p:sldId id="267" r:id="rId6"/>
    <p:sldId id="268" r:id="rId7"/>
    <p:sldId id="269" r:id="rId8"/>
    <p:sldId id="270" r:id="rId9"/>
    <p:sldId id="271" r:id="rId10"/>
    <p:sldId id="272" r:id="rId11"/>
    <p:sldId id="261" r:id="rId12"/>
    <p:sldId id="262" r:id="rId13"/>
    <p:sldId id="263" r:id="rId14"/>
    <p:sldId id="264"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2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50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Sıcak bir girişle başla: 'Dil Dedektifleri, Başlangıç’ta nerede yaşadığımızı, Temel’de ailemizin nereli olduğunu öğrendik. Bugün bir adım ileri gidiyoruz: Bir şehri ve kendi memleketimizi tanıtacağız!'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Görevleri sırayla oku. Sağdaki etiketler öğretim programındaki kazanım kodlarıdır (öğretmen için). Öğrencilere sor: 'Sizin memleketiniz neresi? Hiç İstanbul’a gittiniz mi?'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Sarmalı göster: 'Başlangıç’ta ülkemizi söyledik, Temel’de ailemizin bölgesini ve şehrini söyledik. Bugün bir yeri anlatacağız: nerede, nasıl bir yer, neyle ünlü?' Basamakları sırayla oku, öğrenciler kendi cümlelerini söylesin. Son soruyu tahtaya yaz: 'Bir yeri nasıl tanıtırız?' Cevapları topla: konum, iklim, ünlü yerler, yemekler…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'İstanbul, iki kıtada kurulmuş bir şehir: Asya ve Avrupa. Boğaz, şehri ikiye ayırır ve Karadeniz’i Marmara Denizi’ne bağlar.' Kartları sırayla oku. Sultan Ahmed Camii: altı minareli, içi mavi İznik çinileriyle süslü, bu yüzden 'Mavi Cami' de denir. Ayasofya-i Kebir Camii: yaklaşık 1500 yıllık, dev kubbesiyle ünlü. Adalar: Marmara Denizi’nde, en büyüğü Büyükada, vapurla gidilir. İstiklal Caddesi: Taksim’den Tünel’e uzanır, nostaljik kırmızı tramvayıyla ünlü. Soru: 'Sen İstanbul’da ilk nereye gitmek isterdin? Neden?'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'İstanbul’u tanıtırken hep aynı şifreleri kullandık.' Her satırda renkli kalıbı göster ve öğrencilere tekrar ettir: '… Bölgesi’nde bulunur', '… ile ünlüdür', '… meşhurdur', 'Bence en güzel yeri … çünkü …'. Öğrencilerden İstanbul için kendi 'Bence' cümlelerini kurmalarını iste. Bu kalıpları memleket tanıtımında yeniden kullanacağız.</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 mekânı tanıt ve örneği göster. Köprü kartında dur: 'Başlangıç’ta Bosna Hersek’i hatırlıyor musunuz? Mostar Köprüsü 1566’da Osmanlılar tarafından yapıldı!' Oyun — 'Ben neyim?': Öğretmen tarif eder, öğrenciler mekânı bulur. 1) 'Eskiden yolcular ve develer bende gecelerdi.' (kervansaray) 2) 'Eskiden öğrenciler bende ders okurdu.' (medrese) 3) 'Susayan herkes benden su içerdi.' (çeşme) 4) 'İki yakayı birbirine bağlarım.' (köprü) 5) 'Minarelerim var.' (cami)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'Temel seviyede örnek öğrencimiz Trabzonluydu. Şimdi onun memleketini bir dedektif dosyası gibi açıyoruz.' Kartları oku: konum, iklim (Karadeniz iklimi: her mevsim yağışlı, yazları serin, kışları ılık), doğal güzellik (Uzungöl), tarihî yapı (Sümela Manastırı), lezzet (hamsi, Akçaabat köftesi). Sor: 'Senin memleketinin dosyasında hangi kartlar olurdu?'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'Coğrafi işaret, bir ürünün belli bir yere özgü olduğunu gösteren resmî işarettir. Yani o ürün memleketin imzasıdır!' Temel’deki 7 bölgeyi hatırlat: her kartın rengi bölgesini gösteriyor. Ürünleri bölgeleriyle eşleştir. Alt satırdaki yöresel lezzetleri oku (6.S 3C1). Sor: 'Senin memleketinin imzası ne? Ailen hangi ürünle övünür?'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İskeleti satır satır oku; öğrenciler boşlukları kendi memleketleriyle doldursun. Memleketini bilmeyen öğrenci ailesinin geldiği şehri ya da İstanbul’u seçebilir. Örneği birlikte oku, sonra ikili çalışma: biri tanıtsın, diğeri 'Neden?' diye sorsun.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Temel’deki örneği hatırlat: 'Ben İstanbul’da doğdum ama Rotterdam’da yaşıyorum. Ailem Trabzonlu.' Tabloyu birlikte oku ve '… ise …' yapısını vurgula: 'Trabzon’da insanlar dolmuşa biner, Rotterdam’da ise çok kişi bisiklete biner.' Benzerliği göster: ikisi de deniz kıyısında, ikisinde de balık sevilir. Saygı mesajını vurgula: 'Farklı, yanlış demek değildir.' Öğrenciler kendi iki şehirlerini karşılaştırsın.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Öğrenciler dil iskeletini kullanarak 5–6 cümlelik bir paragraf yazsın. Ardından bir rehber gibi sunsunlar; memleketin adını en son söylesinler, sınıf tahmin etsin. Aynı memleketten olanlar 'Hemşehrim!' diyebilir.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Görevi açıkla: Memleket Kartı; konum, iklim, meşhur yemek/ürün, tarihî mekân ve bir 'Bence' cümlesi içersin. Büyüklerle konuşmak kuşaklar arası aktarımı destekler (6. Seviye 2C1). Gelecek derste kartlar panoya asılır.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Kutulardaki kavramları birlikte tekrar et. Bir sonraki seviyenin (İleri) ipucunu ver: 'Bugün memleketimizi tanıttık; bir dahaki sefere Türkiye’yi dünyaya tanıtacağız!'</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19.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txBody>
          <a:bodyPr/>
          <a:lstStyle/>
          <a:p>
            <a:endParaRPr/>
          </a:p>
        </p:txBody>
      </p:sp>
      <p:sp>
        <p:nvSpPr>
          <p:cNvPr id="16" name="5-Point Star 15"/>
          <p:cNvSpPr/>
          <p:nvPr/>
        </p:nvSpPr>
        <p:spPr>
          <a:xfrm>
            <a:off x="36068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5-Point Star 16"/>
          <p:cNvSpPr/>
          <p:nvPr/>
        </p:nvSpPr>
        <p:spPr>
          <a:xfrm>
            <a:off x="840740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5-Point Star 17"/>
          <p:cNvSpPr/>
          <p:nvPr/>
        </p:nvSpPr>
        <p:spPr>
          <a:xfrm>
            <a:off x="36068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5-Point Star 18"/>
          <p:cNvSpPr/>
          <p:nvPr/>
        </p:nvSpPr>
        <p:spPr>
          <a:xfrm>
            <a:off x="840740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5-Point Star 19"/>
          <p:cNvSpPr/>
          <p:nvPr/>
        </p:nvSpPr>
        <p:spPr>
          <a:xfrm>
            <a:off x="1092200" y="41097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5-Point Star 20"/>
          <p:cNvSpPr/>
          <p:nvPr/>
        </p:nvSpPr>
        <p:spPr>
          <a:xfrm>
            <a:off x="7675880" y="7264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 7"/>
          <p:cNvSpPr/>
          <p:nvPr/>
        </p:nvSpPr>
        <p:spPr>
          <a:xfrm>
            <a:off x="3886200" y="502920"/>
            <a:ext cx="1371600" cy="1371600"/>
          </a:xfrm>
          <a:prstGeom prst="ellipse">
            <a:avLst/>
          </a:prstGeom>
          <a:solidFill>
            <a:srgbClr val="F97316"/>
          </a:solidFill>
          <a:ln/>
          <a:effectLst>
            <a:outerShdw blurRad="76200" dist="25400" dir="5400000" algn="bl" rotWithShape="0">
              <a:srgbClr val="1A2E5A">
                <a:alpha val="18000"/>
              </a:srgbClr>
            </a:outerShdw>
          </a:effectLst>
        </p:spPr>
        <p:txBody>
          <a:bodyPr/>
          <a:lstStyle/>
          <a:p>
            <a:endParaRPr/>
          </a:p>
        </p:txBody>
      </p:sp>
      <p:pic>
        <p:nvPicPr>
          <p:cNvPr id="22" name="Picture 21" descr="1f54c.png"/>
          <p:cNvPicPr>
            <a:picLocks noChangeAspect="1"/>
          </p:cNvPicPr>
          <p:nvPr/>
        </p:nvPicPr>
        <p:blipFill>
          <a:blip r:embed="rId3"/>
          <a:stretch>
            <a:fillRect/>
          </a:stretch>
        </p:blipFill>
        <p:spPr>
          <a:xfrm>
            <a:off x="4236720" y="853440"/>
            <a:ext cx="670560" cy="670560"/>
          </a:xfrm>
          <a:prstGeom prst="rect">
            <a:avLst/>
          </a:prstGeom>
        </p:spPr>
      </p:pic>
      <p:sp>
        <p:nvSpPr>
          <p:cNvPr id="11" name="Text 9"/>
          <p:cNvSpPr/>
          <p:nvPr/>
        </p:nvSpPr>
        <p:spPr>
          <a:xfrm>
            <a:off x="457200" y="2103120"/>
            <a:ext cx="8229600" cy="640080"/>
          </a:xfrm>
          <a:prstGeom prst="rect">
            <a:avLst/>
          </a:prstGeom>
          <a:noFill/>
          <a:ln/>
        </p:spPr>
        <p:txBody>
          <a:bodyPr wrap="square" rtlCol="0" anchor="ctr"/>
          <a:lstStyle/>
          <a:p>
            <a:pPr marL="0" indent="0" algn="ctr">
              <a:buNone/>
            </a:pPr>
            <a:r>
              <a:rPr lang="en-US" sz="4000" b="1" dirty="0">
                <a:solidFill>
                  <a:srgbClr val="FBBF24"/>
                </a:solidFill>
                <a:latin typeface="Cambria" pitchFamily="34" charset="0"/>
                <a:ea typeface="Cambria" pitchFamily="34" charset="-122"/>
                <a:cs typeface="Cambria" pitchFamily="34" charset="-120"/>
              </a:rPr>
              <a:t>DİL DEDEKTİFİ</a:t>
            </a:r>
            <a:endParaRPr lang="en-US" sz="4000" dirty="0"/>
          </a:p>
        </p:txBody>
      </p:sp>
      <p:sp>
        <p:nvSpPr>
          <p:cNvPr id="12" name="Text 10"/>
          <p:cNvSpPr/>
          <p:nvPr/>
        </p:nvSpPr>
        <p:spPr>
          <a:xfrm>
            <a:off x="457200" y="2697480"/>
            <a:ext cx="8229600" cy="4114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B1 SEVİYESİ • MEMLEKETİMİ TANITIYORUM</a:t>
            </a:r>
            <a:endParaRPr lang="en-US" sz="1600" dirty="0"/>
          </a:p>
        </p:txBody>
      </p:sp>
      <p:sp>
        <p:nvSpPr>
          <p:cNvPr id="13" name="Shape 11"/>
          <p:cNvSpPr/>
          <p:nvPr/>
        </p:nvSpPr>
        <p:spPr>
          <a:xfrm>
            <a:off x="1828800" y="3291840"/>
            <a:ext cx="5486400" cy="457200"/>
          </a:xfrm>
          <a:prstGeom prst="roundRect">
            <a:avLst>
              <a:gd name="adj" fmla="val 50000"/>
            </a:avLst>
          </a:prstGeom>
          <a:solidFill>
            <a:srgbClr val="F97316"/>
          </a:solidFill>
          <a:ln/>
        </p:spPr>
        <p:txBody>
          <a:bodyPr/>
          <a:lstStyle/>
          <a:p>
            <a:endParaRPr/>
          </a:p>
        </p:txBody>
      </p:sp>
      <p:sp>
        <p:nvSpPr>
          <p:cNvPr id="14" name="Text 12"/>
          <p:cNvSpPr/>
          <p:nvPr/>
        </p:nvSpPr>
        <p:spPr>
          <a:xfrm>
            <a:off x="1828800" y="3291840"/>
            <a:ext cx="5486400" cy="457200"/>
          </a:xfrm>
          <a:prstGeom prst="rect">
            <a:avLst/>
          </a:prstGeom>
          <a:noFill/>
          <a:ln/>
        </p:spPr>
        <p:txBody>
          <a:bodyPr wrap="square" lIns="33908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İstanbul • Tarihî Mekânlar • Memleketim</a:t>
            </a:r>
            <a:endParaRPr lang="en-US" sz="1300" dirty="0"/>
          </a:p>
        </p:txBody>
      </p:sp>
      <p:pic>
        <p:nvPicPr>
          <p:cNvPr id="23" name="Picture 22" descr="1f5fa_fe0f.png"/>
          <p:cNvPicPr>
            <a:picLocks noChangeAspect="1"/>
          </p:cNvPicPr>
          <p:nvPr/>
        </p:nvPicPr>
        <p:blipFill>
          <a:blip r:embed="rId4"/>
          <a:stretch>
            <a:fillRect/>
          </a:stretch>
        </p:blipFill>
        <p:spPr>
          <a:xfrm>
            <a:off x="3042987" y="3425508"/>
            <a:ext cx="189864" cy="189864"/>
          </a:xfrm>
          <a:prstGeom prst="rect">
            <a:avLst/>
          </a:prstGeom>
        </p:spPr>
      </p:pic>
      <p:sp>
        <p:nvSpPr>
          <p:cNvPr id="15" name="Text 13"/>
          <p:cNvSpPr/>
          <p:nvPr/>
        </p:nvSpPr>
        <p:spPr>
          <a:xfrm>
            <a:off x="457200" y="4114800"/>
            <a:ext cx="8229600" cy="457200"/>
          </a:xfrm>
          <a:prstGeom prst="rect">
            <a:avLst/>
          </a:prstGeom>
          <a:noFill/>
          <a:ln/>
        </p:spPr>
        <p:txBody>
          <a:bodyPr wrap="square" rtlCol="0" anchor="ctr"/>
          <a:lstStyle/>
          <a:p>
            <a:pPr marL="0" indent="0" algn="ctr">
              <a:buNone/>
            </a:pPr>
            <a:r>
              <a:rPr lang="en-US" sz="1400" i="1" dirty="0">
                <a:solidFill>
                  <a:srgbClr val="DBEAFE"/>
                </a:solidFill>
                <a:latin typeface="Calibri" pitchFamily="34" charset="0"/>
                <a:ea typeface="Calibri" pitchFamily="34" charset="-122"/>
                <a:cs typeface="Calibri" pitchFamily="34" charset="-120"/>
              </a:rPr>
              <a:t>Bir dedektif bir yeri bulmakla kalmaz, onu anlatmayı da bilir!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C"/>
          </a:solidFill>
          <a:ln/>
        </p:spPr>
        <p:txBody>
          <a:bodyPr/>
          <a:lstStyle/>
          <a:p>
            <a:endParaRPr/>
          </a:p>
        </p:txBody>
      </p:sp>
      <p:sp>
        <p:nvSpPr>
          <p:cNvPr id="3" name="Shape 1"/>
          <p:cNvSpPr/>
          <p:nvPr/>
        </p:nvSpPr>
        <p:spPr>
          <a:xfrm>
            <a:off x="0" y="0"/>
            <a:ext cx="9144000" cy="658368"/>
          </a:xfrm>
          <a:prstGeom prst="rect">
            <a:avLst/>
          </a:prstGeom>
          <a:solidFill>
            <a:srgbClr val="1E293B"/>
          </a:solidFill>
          <a:ln/>
        </p:spPr>
        <p:txBody>
          <a:bodyPr/>
          <a:lstStyle/>
          <a:p>
            <a:endParaRPr/>
          </a:p>
        </p:txBody>
      </p:sp>
      <p:sp>
        <p:nvSpPr>
          <p:cNvPr id="4" name="Text 2"/>
          <p:cNvSpPr/>
          <p:nvPr/>
        </p:nvSpPr>
        <p:spPr>
          <a:xfrm>
            <a:off x="365760" y="0"/>
            <a:ext cx="8412480" cy="658368"/>
          </a:xfrm>
          <a:prstGeom prst="rect">
            <a:avLst/>
          </a:prstGeom>
          <a:noFill/>
          <a:ln/>
        </p:spPr>
        <p:txBody>
          <a:bodyPr wrap="square" lIns="43434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GÖREV RAPORUMUZ</a:t>
            </a:r>
            <a:endParaRPr lang="en-US" sz="1800" dirty="0"/>
          </a:p>
        </p:txBody>
      </p:sp>
      <p:pic>
        <p:nvPicPr>
          <p:cNvPr id="30" name="Picture 29" descr="1f5c2_fe0f.png"/>
          <p:cNvPicPr>
            <a:picLocks noChangeAspect="1"/>
          </p:cNvPicPr>
          <p:nvPr/>
        </p:nvPicPr>
        <p:blipFill>
          <a:blip r:embed="rId3"/>
          <a:stretch>
            <a:fillRect/>
          </a:stretch>
        </p:blipFill>
        <p:spPr>
          <a:xfrm>
            <a:off x="457200" y="197739"/>
            <a:ext cx="262890" cy="262890"/>
          </a:xfrm>
          <a:prstGeom prst="rect">
            <a:avLst/>
          </a:prstGeom>
        </p:spPr>
      </p:pic>
      <p:sp>
        <p:nvSpPr>
          <p:cNvPr id="5" name="TextBox 4"/>
          <p:cNvSpPr txBox="1"/>
          <p:nvPr/>
        </p:nvSpPr>
        <p:spPr>
          <a:xfrm>
            <a:off x="73152" y="731520"/>
            <a:ext cx="9006840" cy="182880"/>
          </a:xfrm>
          <a:prstGeom prst="rect">
            <a:avLst/>
          </a:prstGeom>
          <a:noFill/>
        </p:spPr>
        <p:txBody>
          <a:bodyPr wrap="square" lIns="18288" tIns="45720" rIns="18288" bIns="45720" anchor="ctr"/>
          <a:lstStyle/>
          <a:p>
            <a:pPr algn="r"/>
            <a:r>
              <a:rPr lang="tr-TR" sz="800" b="0" i="0">
                <a:solidFill>
                  <a:srgbClr val="94A3B8"/>
                </a:solidFill>
                <a:latin typeface="Calibri"/>
              </a:rPr>
              <a:t>2026 TTKD Öğretim Programı — 5. Seviye: 2B1, 3B1, 4Ç1;  6. Seviye: 2C1, 3A1, 3A2, 3A3, 3B1, 3C1</a:t>
            </a:r>
          </a:p>
        </p:txBody>
      </p:sp>
      <p:sp>
        <p:nvSpPr>
          <p:cNvPr id="6" name="Rounded Rectangle 5"/>
          <p:cNvSpPr/>
          <p:nvPr/>
        </p:nvSpPr>
        <p:spPr>
          <a:xfrm>
            <a:off x="548640" y="987552"/>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170432"/>
            <a:ext cx="493776" cy="493776"/>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1f309.png"/>
          <p:cNvPicPr>
            <a:picLocks noChangeAspect="1"/>
          </p:cNvPicPr>
          <p:nvPr/>
        </p:nvPicPr>
        <p:blipFill>
          <a:blip r:embed="rId4"/>
          <a:stretch>
            <a:fillRect/>
          </a:stretch>
        </p:blipFill>
        <p:spPr>
          <a:xfrm>
            <a:off x="886968" y="1280160"/>
            <a:ext cx="274320" cy="274320"/>
          </a:xfrm>
          <a:prstGeom prst="rect">
            <a:avLst/>
          </a:prstGeom>
        </p:spPr>
      </p:pic>
      <p:sp>
        <p:nvSpPr>
          <p:cNvPr id="9" name="TextBox 8"/>
          <p:cNvSpPr txBox="1"/>
          <p:nvPr/>
        </p:nvSpPr>
        <p:spPr>
          <a:xfrm>
            <a:off x="1463040" y="987552"/>
            <a:ext cx="5120640" cy="859536"/>
          </a:xfrm>
          <a:prstGeom prst="rect">
            <a:avLst/>
          </a:prstGeom>
          <a:noFill/>
        </p:spPr>
        <p:txBody>
          <a:bodyPr wrap="square" lIns="73152" tIns="45720" rIns="73152" bIns="45720" anchor="ctr"/>
          <a:lstStyle/>
          <a:p>
            <a:pPr algn="l"/>
            <a:r>
              <a:rPr lang="tr-TR" sz="1400" b="1" i="0">
                <a:solidFill>
                  <a:srgbClr val="1E293B"/>
                </a:solidFill>
                <a:latin typeface="Calibri"/>
              </a:rPr>
              <a:t>1. İstanbul’u tarihî alanları ve yapılarıyla tanıyacağız.</a:t>
            </a:r>
          </a:p>
        </p:txBody>
      </p:sp>
      <p:sp>
        <p:nvSpPr>
          <p:cNvPr id="12" name="Rounded Rectangle 11"/>
          <p:cNvSpPr/>
          <p:nvPr/>
        </p:nvSpPr>
        <p:spPr>
          <a:xfrm>
            <a:off x="548640" y="1975104"/>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77240" y="2157984"/>
            <a:ext cx="493776" cy="49377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1f54c.png"/>
          <p:cNvPicPr>
            <a:picLocks noChangeAspect="1"/>
          </p:cNvPicPr>
          <p:nvPr/>
        </p:nvPicPr>
        <p:blipFill>
          <a:blip r:embed="rId5"/>
          <a:stretch>
            <a:fillRect/>
          </a:stretch>
        </p:blipFill>
        <p:spPr>
          <a:xfrm>
            <a:off x="886968" y="2267712"/>
            <a:ext cx="274320" cy="274320"/>
          </a:xfrm>
          <a:prstGeom prst="rect">
            <a:avLst/>
          </a:prstGeom>
        </p:spPr>
      </p:pic>
      <p:sp>
        <p:nvSpPr>
          <p:cNvPr id="15" name="TextBox 14"/>
          <p:cNvSpPr txBox="1"/>
          <p:nvPr/>
        </p:nvSpPr>
        <p:spPr>
          <a:xfrm>
            <a:off x="1463039" y="1975104"/>
            <a:ext cx="6533357" cy="859536"/>
          </a:xfrm>
          <a:prstGeom prst="rect">
            <a:avLst/>
          </a:prstGeom>
          <a:noFill/>
        </p:spPr>
        <p:txBody>
          <a:bodyPr wrap="square" lIns="73152" tIns="45720" rIns="73152" bIns="45720" anchor="ctr"/>
          <a:lstStyle/>
          <a:p>
            <a:pPr algn="l"/>
            <a:r>
              <a:rPr lang="tr-TR" sz="1400" b="1" i="0" dirty="0">
                <a:solidFill>
                  <a:srgbClr val="1E293B"/>
                </a:solidFill>
                <a:latin typeface="Calibri"/>
              </a:rPr>
              <a:t>2. Cami, çeşme, köprü, kervansaray ve medrese gibi tarihî mekânları ayırt edeceğiz.</a:t>
            </a:r>
          </a:p>
        </p:txBody>
      </p:sp>
      <p:sp>
        <p:nvSpPr>
          <p:cNvPr id="18" name="Rounded Rectangle 17"/>
          <p:cNvSpPr/>
          <p:nvPr/>
        </p:nvSpPr>
        <p:spPr>
          <a:xfrm>
            <a:off x="548640" y="2962656"/>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77240" y="3145536"/>
            <a:ext cx="493776" cy="493776"/>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1f5fa_fe0f.png"/>
          <p:cNvPicPr>
            <a:picLocks noChangeAspect="1"/>
          </p:cNvPicPr>
          <p:nvPr/>
        </p:nvPicPr>
        <p:blipFill>
          <a:blip r:embed="rId6"/>
          <a:stretch>
            <a:fillRect/>
          </a:stretch>
        </p:blipFill>
        <p:spPr>
          <a:xfrm>
            <a:off x="886968" y="3255264"/>
            <a:ext cx="274320" cy="274320"/>
          </a:xfrm>
          <a:prstGeom prst="rect">
            <a:avLst/>
          </a:prstGeom>
        </p:spPr>
      </p:pic>
      <p:sp>
        <p:nvSpPr>
          <p:cNvPr id="21" name="TextBox 20"/>
          <p:cNvSpPr txBox="1"/>
          <p:nvPr/>
        </p:nvSpPr>
        <p:spPr>
          <a:xfrm>
            <a:off x="1463040" y="2962656"/>
            <a:ext cx="6995160" cy="859536"/>
          </a:xfrm>
          <a:prstGeom prst="rect">
            <a:avLst/>
          </a:prstGeom>
          <a:noFill/>
        </p:spPr>
        <p:txBody>
          <a:bodyPr wrap="square" lIns="73152" tIns="45720" rIns="73152" bIns="45720" anchor="ctr"/>
          <a:lstStyle/>
          <a:p>
            <a:pPr algn="l"/>
            <a:r>
              <a:rPr lang="tr-TR" sz="1400" b="1" i="0" dirty="0">
                <a:solidFill>
                  <a:srgbClr val="1E293B"/>
                </a:solidFill>
                <a:latin typeface="Calibri"/>
              </a:rPr>
              <a:t>3. Memleketimizi konumu, iklimi, ünlü ürünleri ve lezzetleriyle tanıtacağız.</a:t>
            </a:r>
          </a:p>
        </p:txBody>
      </p:sp>
      <p:sp>
        <p:nvSpPr>
          <p:cNvPr id="24" name="Rounded Rectangle 23"/>
          <p:cNvSpPr/>
          <p:nvPr/>
        </p:nvSpPr>
        <p:spPr>
          <a:xfrm>
            <a:off x="548640" y="3950208"/>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777240" y="413308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2696_fe0f.png"/>
          <p:cNvPicPr>
            <a:picLocks noChangeAspect="1"/>
          </p:cNvPicPr>
          <p:nvPr/>
        </p:nvPicPr>
        <p:blipFill>
          <a:blip r:embed="rId7"/>
          <a:stretch>
            <a:fillRect/>
          </a:stretch>
        </p:blipFill>
        <p:spPr>
          <a:xfrm>
            <a:off x="886968" y="4242816"/>
            <a:ext cx="274320" cy="274320"/>
          </a:xfrm>
          <a:prstGeom prst="rect">
            <a:avLst/>
          </a:prstGeom>
        </p:spPr>
      </p:pic>
      <p:sp>
        <p:nvSpPr>
          <p:cNvPr id="27" name="TextBox 26"/>
          <p:cNvSpPr txBox="1"/>
          <p:nvPr/>
        </p:nvSpPr>
        <p:spPr>
          <a:xfrm>
            <a:off x="1463039" y="3950208"/>
            <a:ext cx="6950667" cy="859536"/>
          </a:xfrm>
          <a:prstGeom prst="rect">
            <a:avLst/>
          </a:prstGeom>
          <a:noFill/>
        </p:spPr>
        <p:txBody>
          <a:bodyPr wrap="square" lIns="73152" tIns="45720" rIns="73152" bIns="45720" anchor="ctr"/>
          <a:lstStyle/>
          <a:p>
            <a:pPr algn="l"/>
            <a:r>
              <a:rPr lang="tr-TR" sz="1400" b="1" i="0" dirty="0">
                <a:solidFill>
                  <a:srgbClr val="1E293B"/>
                </a:solidFill>
                <a:latin typeface="Calibri"/>
              </a:rPr>
              <a:t>4. Memleketimizi yaşadığımız yerle “Bence / Bana göre” ile karşılaştırıp farklılıklara saygı göstereceğiz.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BBF24"/>
                </a:solidFill>
                <a:latin typeface="Cambria"/>
              </a:rPr>
              <a:t>DEDEKTİF DOSYASI: NEREDEN NEREYE?</a:t>
            </a:r>
          </a:p>
        </p:txBody>
      </p:sp>
      <p:pic>
        <p:nvPicPr>
          <p:cNvPr id="22" name="Picture 21" descr="1f575_fe0f.png"/>
          <p:cNvPicPr>
            <a:picLocks noChangeAspect="1"/>
          </p:cNvPicPr>
          <p:nvPr/>
        </p:nvPicPr>
        <p:blipFill>
          <a:blip r:embed="rId3"/>
          <a:stretch>
            <a:fillRect/>
          </a:stretch>
        </p:blipFill>
        <p:spPr>
          <a:xfrm>
            <a:off x="438912" y="190436"/>
            <a:ext cx="277495" cy="277495"/>
          </a:xfrm>
          <a:prstGeom prst="rect">
            <a:avLst/>
          </a:prstGeom>
        </p:spPr>
      </p:pic>
      <p:sp>
        <p:nvSpPr>
          <p:cNvPr id="5" name="Rounded Rectangle 4"/>
          <p:cNvSpPr/>
          <p:nvPr/>
        </p:nvSpPr>
        <p:spPr>
          <a:xfrm>
            <a:off x="457200" y="2743200"/>
            <a:ext cx="2651760" cy="14173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457200" y="2743200"/>
            <a:ext cx="2651760" cy="41148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57200" y="2743200"/>
            <a:ext cx="2651760" cy="411480"/>
          </a:xfrm>
          <a:prstGeom prst="rect">
            <a:avLst/>
          </a:prstGeom>
          <a:noFill/>
        </p:spPr>
        <p:txBody>
          <a:bodyPr wrap="square" lIns="73152" tIns="45720" rIns="73152" bIns="45720" anchor="ctr"/>
          <a:lstStyle/>
          <a:p>
            <a:pPr algn="ctr"/>
            <a:r>
              <a:rPr lang="tr-TR" sz="1300" b="1" i="0">
                <a:solidFill>
                  <a:srgbClr val="FFFFFF"/>
                </a:solidFill>
                <a:latin typeface="Calibri"/>
              </a:rPr>
              <a:t>BAŞLANGIÇ</a:t>
            </a:r>
          </a:p>
        </p:txBody>
      </p:sp>
      <p:sp>
        <p:nvSpPr>
          <p:cNvPr id="8" name="TextBox 7"/>
          <p:cNvSpPr txBox="1"/>
          <p:nvPr/>
        </p:nvSpPr>
        <p:spPr>
          <a:xfrm>
            <a:off x="548640" y="3200400"/>
            <a:ext cx="2468880" cy="411480"/>
          </a:xfrm>
          <a:prstGeom prst="rect">
            <a:avLst/>
          </a:prstGeom>
          <a:noFill/>
        </p:spPr>
        <p:txBody>
          <a:bodyPr wrap="square" lIns="73152" tIns="45720" rIns="73152" bIns="45720" anchor="ctr"/>
          <a:lstStyle/>
          <a:p>
            <a:pPr algn="ctr"/>
            <a:r>
              <a:rPr lang="tr-TR" sz="1700" b="1" i="0">
                <a:solidFill>
                  <a:srgbClr val="2563EB"/>
                </a:solidFill>
                <a:latin typeface="Cambria"/>
              </a:rPr>
              <a:t>Ülkem</a:t>
            </a:r>
          </a:p>
        </p:txBody>
      </p:sp>
      <p:sp>
        <p:nvSpPr>
          <p:cNvPr id="9" name="TextBox 8"/>
          <p:cNvSpPr txBox="1"/>
          <p:nvPr/>
        </p:nvSpPr>
        <p:spPr>
          <a:xfrm>
            <a:off x="566928" y="3611880"/>
            <a:ext cx="2432304" cy="914400"/>
          </a:xfrm>
          <a:prstGeom prst="rect">
            <a:avLst/>
          </a:prstGeom>
          <a:noFill/>
        </p:spPr>
        <p:txBody>
          <a:bodyPr wrap="square" lIns="73152" tIns="45720" rIns="73152" bIns="45720" anchor="t"/>
          <a:lstStyle/>
          <a:p>
            <a:pPr algn="ctr"/>
            <a:r>
              <a:rPr lang="tr-TR" sz="1300" b="0" i="1">
                <a:solidFill>
                  <a:srgbClr val="1E293B"/>
                </a:solidFill>
                <a:latin typeface="Calibri"/>
              </a:rPr>
              <a:t>“Hollanda’da yaşıyorum.”</a:t>
            </a:r>
          </a:p>
        </p:txBody>
      </p:sp>
      <p:sp>
        <p:nvSpPr>
          <p:cNvPr id="10" name="Rounded Rectangle 9"/>
          <p:cNvSpPr/>
          <p:nvPr/>
        </p:nvSpPr>
        <p:spPr>
          <a:xfrm>
            <a:off x="3246120" y="2057400"/>
            <a:ext cx="2651760" cy="2103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3246120" y="2057400"/>
            <a:ext cx="2651760" cy="411480"/>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246120" y="2057400"/>
            <a:ext cx="2651760" cy="411480"/>
          </a:xfrm>
          <a:prstGeom prst="rect">
            <a:avLst/>
          </a:prstGeom>
          <a:noFill/>
        </p:spPr>
        <p:txBody>
          <a:bodyPr wrap="square" lIns="73152" tIns="45720" rIns="73152" bIns="45720" anchor="ctr"/>
          <a:lstStyle/>
          <a:p>
            <a:pPr algn="ctr"/>
            <a:r>
              <a:rPr lang="tr-TR" sz="1300" b="1" i="0">
                <a:solidFill>
                  <a:srgbClr val="FFFFFF"/>
                </a:solidFill>
                <a:latin typeface="Calibri"/>
              </a:rPr>
              <a:t>TEMEL</a:t>
            </a:r>
          </a:p>
        </p:txBody>
      </p:sp>
      <p:sp>
        <p:nvSpPr>
          <p:cNvPr id="13" name="TextBox 12"/>
          <p:cNvSpPr txBox="1"/>
          <p:nvPr/>
        </p:nvSpPr>
        <p:spPr>
          <a:xfrm>
            <a:off x="3337560" y="2514600"/>
            <a:ext cx="2468880" cy="411480"/>
          </a:xfrm>
          <a:prstGeom prst="rect">
            <a:avLst/>
          </a:prstGeom>
          <a:noFill/>
        </p:spPr>
        <p:txBody>
          <a:bodyPr wrap="square" lIns="73152" tIns="45720" rIns="73152" bIns="45720" anchor="ctr"/>
          <a:lstStyle/>
          <a:p>
            <a:pPr algn="ctr"/>
            <a:r>
              <a:rPr lang="tr-TR" sz="1700" b="1" i="0">
                <a:solidFill>
                  <a:srgbClr val="7C3AED"/>
                </a:solidFill>
                <a:latin typeface="Cambria"/>
              </a:rPr>
              <a:t>Bölgem ve şehrim</a:t>
            </a:r>
          </a:p>
        </p:txBody>
      </p:sp>
      <p:sp>
        <p:nvSpPr>
          <p:cNvPr id="14" name="TextBox 13"/>
          <p:cNvSpPr txBox="1"/>
          <p:nvPr/>
        </p:nvSpPr>
        <p:spPr>
          <a:xfrm>
            <a:off x="3355848" y="2926080"/>
            <a:ext cx="2432304" cy="914400"/>
          </a:xfrm>
          <a:prstGeom prst="rect">
            <a:avLst/>
          </a:prstGeom>
          <a:noFill/>
        </p:spPr>
        <p:txBody>
          <a:bodyPr wrap="square" lIns="73152" tIns="45720" rIns="73152" bIns="45720" anchor="t"/>
          <a:lstStyle/>
          <a:p>
            <a:pPr algn="ctr"/>
            <a:r>
              <a:rPr lang="tr-TR" sz="1300" b="0" i="1">
                <a:solidFill>
                  <a:srgbClr val="1E293B"/>
                </a:solidFill>
                <a:latin typeface="Calibri"/>
              </a:rPr>
              <a:t>“Ailem Karadeniz Bölgesi’nden. Onlar Trabzonlu.”</a:t>
            </a:r>
          </a:p>
        </p:txBody>
      </p:sp>
      <p:sp>
        <p:nvSpPr>
          <p:cNvPr id="15" name="Rounded Rectangle 14"/>
          <p:cNvSpPr/>
          <p:nvPr/>
        </p:nvSpPr>
        <p:spPr>
          <a:xfrm>
            <a:off x="6035040" y="1371600"/>
            <a:ext cx="2651760" cy="27889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6035040" y="1371600"/>
            <a:ext cx="2651760" cy="411480"/>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035040" y="1371600"/>
            <a:ext cx="2651760" cy="411480"/>
          </a:xfrm>
          <a:prstGeom prst="rect">
            <a:avLst/>
          </a:prstGeom>
          <a:noFill/>
        </p:spPr>
        <p:txBody>
          <a:bodyPr wrap="square" lIns="73152" tIns="45720" rIns="73152" bIns="45720" anchor="ctr"/>
          <a:lstStyle/>
          <a:p>
            <a:pPr algn="ctr"/>
            <a:r>
              <a:rPr lang="tr-TR" sz="1300" b="1" i="0">
                <a:solidFill>
                  <a:srgbClr val="FFFFFF"/>
                </a:solidFill>
                <a:latin typeface="Calibri"/>
              </a:rPr>
              <a:t>ORTA</a:t>
            </a:r>
          </a:p>
        </p:txBody>
      </p:sp>
      <p:sp>
        <p:nvSpPr>
          <p:cNvPr id="18" name="TextBox 17"/>
          <p:cNvSpPr txBox="1"/>
          <p:nvPr/>
        </p:nvSpPr>
        <p:spPr>
          <a:xfrm>
            <a:off x="6126480" y="1828800"/>
            <a:ext cx="2468880" cy="411480"/>
          </a:xfrm>
          <a:prstGeom prst="rect">
            <a:avLst/>
          </a:prstGeom>
          <a:noFill/>
        </p:spPr>
        <p:txBody>
          <a:bodyPr wrap="square" lIns="73152" tIns="45720" rIns="73152" bIns="45720" anchor="ctr"/>
          <a:lstStyle/>
          <a:p>
            <a:pPr algn="ctr"/>
            <a:r>
              <a:rPr lang="tr-TR" sz="1700" b="1" i="0">
                <a:solidFill>
                  <a:srgbClr val="F97316"/>
                </a:solidFill>
                <a:latin typeface="Cambria"/>
              </a:rPr>
              <a:t>Memleketim</a:t>
            </a:r>
          </a:p>
        </p:txBody>
      </p:sp>
      <p:sp>
        <p:nvSpPr>
          <p:cNvPr id="19" name="TextBox 18"/>
          <p:cNvSpPr txBox="1"/>
          <p:nvPr/>
        </p:nvSpPr>
        <p:spPr>
          <a:xfrm>
            <a:off x="6144768" y="2240280"/>
            <a:ext cx="2432304" cy="914400"/>
          </a:xfrm>
          <a:prstGeom prst="rect">
            <a:avLst/>
          </a:prstGeom>
          <a:noFill/>
        </p:spPr>
        <p:txBody>
          <a:bodyPr wrap="square" lIns="73152" tIns="45720" rIns="73152" bIns="45720" anchor="t"/>
          <a:lstStyle/>
          <a:p>
            <a:pPr algn="ctr"/>
            <a:r>
              <a:rPr lang="tr-TR" sz="1300" b="0" i="1">
                <a:solidFill>
                  <a:srgbClr val="1E293B"/>
                </a:solidFill>
                <a:latin typeface="Calibri"/>
              </a:rPr>
              <a:t>“Memleketim Trabzon. Karadeniz kıyısında, yemyeşil bir şehir…”</a:t>
            </a:r>
          </a:p>
        </p:txBody>
      </p:sp>
      <p:sp>
        <p:nvSpPr>
          <p:cNvPr id="20" name="TextBox 19"/>
          <p:cNvSpPr txBox="1"/>
          <p:nvPr/>
        </p:nvSpPr>
        <p:spPr>
          <a:xfrm>
            <a:off x="457200" y="868680"/>
            <a:ext cx="5120640" cy="822960"/>
          </a:xfrm>
          <a:prstGeom prst="rect">
            <a:avLst/>
          </a:prstGeom>
          <a:noFill/>
        </p:spPr>
        <p:txBody>
          <a:bodyPr wrap="square" lIns="73152" tIns="45720" rIns="73152" bIns="45720" anchor="t"/>
          <a:lstStyle/>
          <a:p>
            <a:pPr algn="l"/>
            <a:r>
              <a:rPr lang="tr-TR" sz="1600" b="1" i="0">
                <a:solidFill>
                  <a:srgbClr val="1E293B"/>
                </a:solidFill>
                <a:latin typeface="Calibri"/>
              </a:rPr>
              <a:t>Her seviyede bir basamak yukarı çıkıyoruz!</a:t>
            </a:r>
          </a:p>
          <a:p>
            <a:pPr algn="l"/>
            <a:r>
              <a:rPr lang="tr-TR" sz="1600" b="1" i="0">
                <a:solidFill>
                  <a:srgbClr val="F97316"/>
                </a:solidFill>
                <a:latin typeface="Calibri"/>
              </a:rPr>
              <a:t>Ülke → şehir → memleket</a:t>
            </a:r>
          </a:p>
        </p:txBody>
      </p:sp>
      <p:sp>
        <p:nvSpPr>
          <p:cNvPr id="21" name="TextBox 20"/>
          <p:cNvSpPr txBox="1"/>
          <p:nvPr/>
        </p:nvSpPr>
        <p:spPr>
          <a:xfrm>
            <a:off x="457200" y="4343400"/>
            <a:ext cx="8229600" cy="457200"/>
          </a:xfrm>
          <a:prstGeom prst="rect">
            <a:avLst/>
          </a:prstGeom>
          <a:noFill/>
        </p:spPr>
        <p:txBody>
          <a:bodyPr wrap="square" lIns="73152" tIns="45720" rIns="73152" bIns="45720" anchor="ctr"/>
          <a:lstStyle/>
          <a:p>
            <a:pPr algn="ctr"/>
            <a:r>
              <a:rPr lang="tr-TR" sz="1800" b="1" i="0">
                <a:solidFill>
                  <a:srgbClr val="F97316"/>
                </a:solidFill>
                <a:latin typeface="Calibri"/>
              </a:rPr>
              <a:t>Bugünkü soru: </a:t>
            </a:r>
            <a:r>
              <a:rPr lang="tr-TR" sz="1800" b="1" i="0">
                <a:solidFill>
                  <a:srgbClr val="1A2E5A"/>
                </a:solidFill>
                <a:latin typeface="Calibri"/>
              </a:rPr>
              <a:t>Bir yeri nasıl tanıtırız?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MODEL ŞEHİR: İSTANBUL</a:t>
            </a:r>
          </a:p>
        </p:txBody>
      </p:sp>
      <p:pic>
        <p:nvPicPr>
          <p:cNvPr id="34" name="Picture 33" descr="1f309.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04672"/>
            <a:ext cx="832104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804672"/>
            <a:ext cx="8046720" cy="658368"/>
          </a:xfrm>
          <a:prstGeom prst="rect">
            <a:avLst/>
          </a:prstGeom>
          <a:noFill/>
        </p:spPr>
        <p:txBody>
          <a:bodyPr wrap="square" lIns="73152" tIns="45720" rIns="73152" bIns="45720" anchor="ctr"/>
          <a:lstStyle/>
          <a:p>
            <a:pPr algn="ctr"/>
            <a:r>
              <a:rPr lang="tr-TR" sz="1350" b="1" i="0">
                <a:solidFill>
                  <a:srgbClr val="1A2E5A"/>
                </a:solidFill>
                <a:latin typeface="Calibri"/>
              </a:rPr>
              <a:t>İstanbul, </a:t>
            </a:r>
            <a:r>
              <a:rPr lang="tr-TR" sz="1350" b="1" i="0">
                <a:solidFill>
                  <a:srgbClr val="2563EB"/>
                </a:solidFill>
                <a:latin typeface="Calibri"/>
              </a:rPr>
              <a:t>Asya ile Avrupa’yı birleştiren</a:t>
            </a:r>
            <a:r>
              <a:rPr lang="tr-TR" sz="1350" b="1" i="0">
                <a:solidFill>
                  <a:srgbClr val="1A2E5A"/>
                </a:solidFill>
                <a:latin typeface="Calibri"/>
              </a:rPr>
              <a:t> bir şehirdir. </a:t>
            </a:r>
            <a:r>
              <a:rPr lang="tr-TR" sz="1350" b="1" i="0">
                <a:solidFill>
                  <a:srgbClr val="2563EB"/>
                </a:solidFill>
                <a:latin typeface="Calibri"/>
              </a:rPr>
              <a:t>İstanbul Boğazı</a:t>
            </a:r>
            <a:r>
              <a:rPr lang="tr-TR" sz="1350" b="1" i="0">
                <a:solidFill>
                  <a:srgbClr val="1A2E5A"/>
                </a:solidFill>
                <a:latin typeface="Calibri"/>
              </a:rPr>
              <a:t> Karadeniz’i Marmara Denizi’ne bağlar.</a:t>
            </a:r>
          </a:p>
        </p:txBody>
      </p:sp>
      <p:sp>
        <p:nvSpPr>
          <p:cNvPr id="9" name="Rounded Rectangle 8"/>
          <p:cNvSpPr/>
          <p:nvPr/>
        </p:nvSpPr>
        <p:spPr>
          <a:xfrm>
            <a:off x="411480" y="1627632"/>
            <a:ext cx="2706624" cy="15087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411480" y="1627632"/>
            <a:ext cx="82296" cy="1508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1f54c.png"/>
          <p:cNvPicPr>
            <a:picLocks noChangeAspect="1"/>
          </p:cNvPicPr>
          <p:nvPr/>
        </p:nvPicPr>
        <p:blipFill>
          <a:blip r:embed="rId4"/>
          <a:stretch>
            <a:fillRect/>
          </a:stretch>
        </p:blipFill>
        <p:spPr>
          <a:xfrm>
            <a:off x="655320" y="1780032"/>
            <a:ext cx="335280" cy="335280"/>
          </a:xfrm>
          <a:prstGeom prst="rect">
            <a:avLst/>
          </a:prstGeom>
        </p:spPr>
      </p:pic>
      <p:sp>
        <p:nvSpPr>
          <p:cNvPr id="12" name="TextBox 11"/>
          <p:cNvSpPr txBox="1"/>
          <p:nvPr/>
        </p:nvSpPr>
        <p:spPr>
          <a:xfrm>
            <a:off x="1069848" y="1719072"/>
            <a:ext cx="1975104" cy="457200"/>
          </a:xfrm>
          <a:prstGeom prst="rect">
            <a:avLst/>
          </a:prstGeom>
          <a:noFill/>
        </p:spPr>
        <p:txBody>
          <a:bodyPr wrap="square" lIns="73152" tIns="45720" rIns="73152" bIns="45720" anchor="ctr"/>
          <a:lstStyle/>
          <a:p>
            <a:pPr algn="l"/>
            <a:r>
              <a:rPr lang="tr-TR" sz="1400" b="1" i="0">
                <a:solidFill>
                  <a:srgbClr val="2563EB"/>
                </a:solidFill>
                <a:latin typeface="Calibri"/>
              </a:rPr>
              <a:t>Sultan Ahmed Camii</a:t>
            </a:r>
          </a:p>
        </p:txBody>
      </p:sp>
      <p:sp>
        <p:nvSpPr>
          <p:cNvPr id="13" name="TextBox 12"/>
          <p:cNvSpPr txBox="1"/>
          <p:nvPr/>
        </p:nvSpPr>
        <p:spPr>
          <a:xfrm>
            <a:off x="594360" y="2221992"/>
            <a:ext cx="2432304" cy="868680"/>
          </a:xfrm>
          <a:prstGeom prst="rect">
            <a:avLst/>
          </a:prstGeom>
          <a:noFill/>
        </p:spPr>
        <p:txBody>
          <a:bodyPr wrap="square" lIns="73152" tIns="45720" rIns="73152" bIns="45720" anchor="t"/>
          <a:lstStyle/>
          <a:p>
            <a:pPr algn="l"/>
            <a:r>
              <a:rPr lang="tr-TR" sz="1250" b="0" i="0">
                <a:solidFill>
                  <a:srgbClr val="1E293B"/>
                </a:solidFill>
                <a:latin typeface="Calibri"/>
              </a:rPr>
              <a:t>Altı minaresi ve mavi çinileriyle ünlüdür. “Mavi Cami” de denir.</a:t>
            </a:r>
          </a:p>
        </p:txBody>
      </p:sp>
      <p:sp>
        <p:nvSpPr>
          <p:cNvPr id="14" name="Rounded Rectangle 13"/>
          <p:cNvSpPr/>
          <p:nvPr/>
        </p:nvSpPr>
        <p:spPr>
          <a:xfrm>
            <a:off x="3218688" y="1627632"/>
            <a:ext cx="2706624" cy="15087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3218688" y="1627632"/>
            <a:ext cx="82296" cy="1508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1f54c.png"/>
          <p:cNvPicPr>
            <a:picLocks noChangeAspect="1"/>
          </p:cNvPicPr>
          <p:nvPr/>
        </p:nvPicPr>
        <p:blipFill>
          <a:blip r:embed="rId4"/>
          <a:stretch>
            <a:fillRect/>
          </a:stretch>
        </p:blipFill>
        <p:spPr>
          <a:xfrm>
            <a:off x="3462528" y="1780032"/>
            <a:ext cx="335280" cy="335280"/>
          </a:xfrm>
          <a:prstGeom prst="rect">
            <a:avLst/>
          </a:prstGeom>
        </p:spPr>
      </p:pic>
      <p:sp>
        <p:nvSpPr>
          <p:cNvPr id="17" name="TextBox 16"/>
          <p:cNvSpPr txBox="1"/>
          <p:nvPr/>
        </p:nvSpPr>
        <p:spPr>
          <a:xfrm>
            <a:off x="3877056" y="1719072"/>
            <a:ext cx="1975104" cy="457200"/>
          </a:xfrm>
          <a:prstGeom prst="rect">
            <a:avLst/>
          </a:prstGeom>
          <a:noFill/>
        </p:spPr>
        <p:txBody>
          <a:bodyPr wrap="square" lIns="73152" tIns="45720" rIns="73152" bIns="45720" anchor="ctr"/>
          <a:lstStyle/>
          <a:p>
            <a:pPr algn="l"/>
            <a:r>
              <a:rPr lang="tr-TR" sz="1400" b="1" i="0">
                <a:solidFill>
                  <a:srgbClr val="7C3AED"/>
                </a:solidFill>
                <a:latin typeface="Calibri"/>
              </a:rPr>
              <a:t>Ayasofya-i Kebir Camii</a:t>
            </a:r>
          </a:p>
        </p:txBody>
      </p:sp>
      <p:sp>
        <p:nvSpPr>
          <p:cNvPr id="18" name="TextBox 17"/>
          <p:cNvSpPr txBox="1"/>
          <p:nvPr/>
        </p:nvSpPr>
        <p:spPr>
          <a:xfrm>
            <a:off x="3401568" y="2221992"/>
            <a:ext cx="2432304" cy="868680"/>
          </a:xfrm>
          <a:prstGeom prst="rect">
            <a:avLst/>
          </a:prstGeom>
          <a:noFill/>
        </p:spPr>
        <p:txBody>
          <a:bodyPr wrap="square" lIns="73152" tIns="45720" rIns="73152" bIns="45720" anchor="t"/>
          <a:lstStyle/>
          <a:p>
            <a:pPr algn="l"/>
            <a:r>
              <a:rPr lang="tr-TR" sz="1250" b="0" i="0">
                <a:solidFill>
                  <a:srgbClr val="1E293B"/>
                </a:solidFill>
                <a:latin typeface="Calibri"/>
              </a:rPr>
              <a:t>Yaklaşık 1500 yıllıktır. Dev kubbesiyle ünlüdür.</a:t>
            </a:r>
          </a:p>
        </p:txBody>
      </p:sp>
      <p:sp>
        <p:nvSpPr>
          <p:cNvPr id="19" name="Rounded Rectangle 18"/>
          <p:cNvSpPr/>
          <p:nvPr/>
        </p:nvSpPr>
        <p:spPr>
          <a:xfrm>
            <a:off x="6025896" y="1627632"/>
            <a:ext cx="2706624" cy="15087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025896" y="1627632"/>
            <a:ext cx="82296" cy="15087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1f309.png"/>
          <p:cNvPicPr>
            <a:picLocks noChangeAspect="1"/>
          </p:cNvPicPr>
          <p:nvPr/>
        </p:nvPicPr>
        <p:blipFill>
          <a:blip r:embed="rId3"/>
          <a:stretch>
            <a:fillRect/>
          </a:stretch>
        </p:blipFill>
        <p:spPr>
          <a:xfrm>
            <a:off x="6269736" y="1780032"/>
            <a:ext cx="335280" cy="335280"/>
          </a:xfrm>
          <a:prstGeom prst="rect">
            <a:avLst/>
          </a:prstGeom>
        </p:spPr>
      </p:pic>
      <p:sp>
        <p:nvSpPr>
          <p:cNvPr id="22" name="TextBox 21"/>
          <p:cNvSpPr txBox="1"/>
          <p:nvPr/>
        </p:nvSpPr>
        <p:spPr>
          <a:xfrm>
            <a:off x="6684264" y="1719072"/>
            <a:ext cx="1975104" cy="457200"/>
          </a:xfrm>
          <a:prstGeom prst="rect">
            <a:avLst/>
          </a:prstGeom>
          <a:noFill/>
        </p:spPr>
        <p:txBody>
          <a:bodyPr wrap="square" lIns="73152" tIns="45720" rIns="73152" bIns="45720" anchor="ctr"/>
          <a:lstStyle/>
          <a:p>
            <a:pPr algn="l"/>
            <a:r>
              <a:rPr lang="tr-TR" sz="1400" b="1" i="0">
                <a:solidFill>
                  <a:srgbClr val="0D9488"/>
                </a:solidFill>
                <a:latin typeface="Calibri"/>
              </a:rPr>
              <a:t>İstanbul Boğazı</a:t>
            </a:r>
          </a:p>
        </p:txBody>
      </p:sp>
      <p:sp>
        <p:nvSpPr>
          <p:cNvPr id="23" name="TextBox 22"/>
          <p:cNvSpPr txBox="1"/>
          <p:nvPr/>
        </p:nvSpPr>
        <p:spPr>
          <a:xfrm>
            <a:off x="6208776" y="2221992"/>
            <a:ext cx="2432304" cy="868680"/>
          </a:xfrm>
          <a:prstGeom prst="rect">
            <a:avLst/>
          </a:prstGeom>
          <a:noFill/>
        </p:spPr>
        <p:txBody>
          <a:bodyPr wrap="square" lIns="73152" tIns="45720" rIns="73152" bIns="45720" anchor="t"/>
          <a:lstStyle/>
          <a:p>
            <a:pPr algn="l"/>
            <a:r>
              <a:rPr lang="tr-TR" sz="1250" b="0" i="0">
                <a:solidFill>
                  <a:srgbClr val="1E293B"/>
                </a:solidFill>
                <a:latin typeface="Calibri"/>
              </a:rPr>
              <a:t>Şehri ikiye ayırır. Üzerinde üç büyük köprü vardır.</a:t>
            </a:r>
          </a:p>
        </p:txBody>
      </p:sp>
      <p:sp>
        <p:nvSpPr>
          <p:cNvPr id="24" name="Rounded Rectangle 23"/>
          <p:cNvSpPr/>
          <p:nvPr/>
        </p:nvSpPr>
        <p:spPr>
          <a:xfrm>
            <a:off x="1810512" y="3273552"/>
            <a:ext cx="2706624" cy="15087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1810512" y="3273552"/>
            <a:ext cx="82296" cy="1508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1f3dd_fe0f.png"/>
          <p:cNvPicPr>
            <a:picLocks noChangeAspect="1"/>
          </p:cNvPicPr>
          <p:nvPr/>
        </p:nvPicPr>
        <p:blipFill>
          <a:blip r:embed="rId5"/>
          <a:stretch>
            <a:fillRect/>
          </a:stretch>
        </p:blipFill>
        <p:spPr>
          <a:xfrm>
            <a:off x="2054352" y="3425952"/>
            <a:ext cx="335280" cy="335280"/>
          </a:xfrm>
          <a:prstGeom prst="rect">
            <a:avLst/>
          </a:prstGeom>
        </p:spPr>
      </p:pic>
      <p:sp>
        <p:nvSpPr>
          <p:cNvPr id="27" name="TextBox 26"/>
          <p:cNvSpPr txBox="1"/>
          <p:nvPr/>
        </p:nvSpPr>
        <p:spPr>
          <a:xfrm>
            <a:off x="2468880" y="3364992"/>
            <a:ext cx="1975104" cy="457200"/>
          </a:xfrm>
          <a:prstGeom prst="rect">
            <a:avLst/>
          </a:prstGeom>
          <a:noFill/>
        </p:spPr>
        <p:txBody>
          <a:bodyPr wrap="square" lIns="73152" tIns="45720" rIns="73152" bIns="45720" anchor="ctr"/>
          <a:lstStyle/>
          <a:p>
            <a:pPr algn="l"/>
            <a:r>
              <a:rPr lang="tr-TR" sz="1400" b="1" i="0">
                <a:solidFill>
                  <a:srgbClr val="16A34A"/>
                </a:solidFill>
                <a:latin typeface="Calibri"/>
              </a:rPr>
              <a:t>Adalar</a:t>
            </a:r>
          </a:p>
        </p:txBody>
      </p:sp>
      <p:sp>
        <p:nvSpPr>
          <p:cNvPr id="28" name="TextBox 27"/>
          <p:cNvSpPr txBox="1"/>
          <p:nvPr/>
        </p:nvSpPr>
        <p:spPr>
          <a:xfrm>
            <a:off x="1993392" y="3867912"/>
            <a:ext cx="2432304" cy="868680"/>
          </a:xfrm>
          <a:prstGeom prst="rect">
            <a:avLst/>
          </a:prstGeom>
          <a:noFill/>
        </p:spPr>
        <p:txBody>
          <a:bodyPr wrap="square" lIns="73152" tIns="45720" rIns="73152" bIns="45720" anchor="t"/>
          <a:lstStyle/>
          <a:p>
            <a:pPr algn="l"/>
            <a:r>
              <a:rPr lang="tr-TR" sz="1250" b="0" i="0">
                <a:solidFill>
                  <a:srgbClr val="1E293B"/>
                </a:solidFill>
                <a:latin typeface="Calibri"/>
              </a:rPr>
              <a:t>Marmara Denizi’ndedir. En büyüğü Büyükada’dır. Vapurla gidilir.</a:t>
            </a:r>
          </a:p>
        </p:txBody>
      </p:sp>
      <p:sp>
        <p:nvSpPr>
          <p:cNvPr id="29" name="Rounded Rectangle 28"/>
          <p:cNvSpPr/>
          <p:nvPr/>
        </p:nvSpPr>
        <p:spPr>
          <a:xfrm>
            <a:off x="4617720" y="3273552"/>
            <a:ext cx="2706624" cy="15087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4617720" y="3273552"/>
            <a:ext cx="82296" cy="15087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1f68b.png"/>
          <p:cNvPicPr>
            <a:picLocks noChangeAspect="1"/>
          </p:cNvPicPr>
          <p:nvPr/>
        </p:nvPicPr>
        <p:blipFill>
          <a:blip r:embed="rId6"/>
          <a:stretch>
            <a:fillRect/>
          </a:stretch>
        </p:blipFill>
        <p:spPr>
          <a:xfrm>
            <a:off x="4861560" y="3425952"/>
            <a:ext cx="335280" cy="335280"/>
          </a:xfrm>
          <a:prstGeom prst="rect">
            <a:avLst/>
          </a:prstGeom>
        </p:spPr>
      </p:pic>
      <p:sp>
        <p:nvSpPr>
          <p:cNvPr id="32" name="TextBox 31"/>
          <p:cNvSpPr txBox="1"/>
          <p:nvPr/>
        </p:nvSpPr>
        <p:spPr>
          <a:xfrm>
            <a:off x="5276088" y="3364992"/>
            <a:ext cx="1975104" cy="457200"/>
          </a:xfrm>
          <a:prstGeom prst="rect">
            <a:avLst/>
          </a:prstGeom>
          <a:noFill/>
        </p:spPr>
        <p:txBody>
          <a:bodyPr wrap="square" lIns="73152" tIns="45720" rIns="73152" bIns="45720" anchor="ctr"/>
          <a:lstStyle/>
          <a:p>
            <a:pPr algn="l"/>
            <a:r>
              <a:rPr lang="tr-TR" sz="1400" b="1" i="0">
                <a:solidFill>
                  <a:srgbClr val="DC2626"/>
                </a:solidFill>
                <a:latin typeface="Calibri"/>
              </a:rPr>
              <a:t>İstiklal Caddesi</a:t>
            </a:r>
          </a:p>
        </p:txBody>
      </p:sp>
      <p:sp>
        <p:nvSpPr>
          <p:cNvPr id="33" name="TextBox 32"/>
          <p:cNvSpPr txBox="1"/>
          <p:nvPr/>
        </p:nvSpPr>
        <p:spPr>
          <a:xfrm>
            <a:off x="4800600" y="3867912"/>
            <a:ext cx="2432304" cy="868680"/>
          </a:xfrm>
          <a:prstGeom prst="rect">
            <a:avLst/>
          </a:prstGeom>
          <a:noFill/>
        </p:spPr>
        <p:txBody>
          <a:bodyPr wrap="square" lIns="73152" tIns="45720" rIns="73152" bIns="45720" anchor="t"/>
          <a:lstStyle/>
          <a:p>
            <a:pPr algn="l"/>
            <a:r>
              <a:rPr lang="tr-TR" sz="1250" b="0" i="0">
                <a:solidFill>
                  <a:srgbClr val="1E293B"/>
                </a:solidFill>
                <a:latin typeface="Calibri"/>
              </a:rPr>
              <a:t>Taksim’den Tünel’e uzanır. Kırmızı tramvayıyla ünlüdür.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TANITMA ŞİFRELERİ: BİR ŞEHİR NASIL ANLATILIR?</a:t>
            </a:r>
          </a:p>
        </p:txBody>
      </p:sp>
      <p:pic>
        <p:nvPicPr>
          <p:cNvPr id="32" name="Picture 31" descr="1f9e9.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57200" y="868680"/>
            <a:ext cx="822960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1f4cd.png"/>
          <p:cNvPicPr>
            <a:picLocks noChangeAspect="1"/>
          </p:cNvPicPr>
          <p:nvPr/>
        </p:nvPicPr>
        <p:blipFill>
          <a:blip r:embed="rId4"/>
          <a:stretch>
            <a:fillRect/>
          </a:stretch>
        </p:blipFill>
        <p:spPr>
          <a:xfrm>
            <a:off x="685800" y="1060704"/>
            <a:ext cx="274320" cy="274320"/>
          </a:xfrm>
          <a:prstGeom prst="rect">
            <a:avLst/>
          </a:prstGeom>
        </p:spPr>
      </p:pic>
      <p:sp>
        <p:nvSpPr>
          <p:cNvPr id="9" name="Rounded Rectangle 8"/>
          <p:cNvSpPr/>
          <p:nvPr/>
        </p:nvSpPr>
        <p:spPr>
          <a:xfrm>
            <a:off x="1143000" y="1024128"/>
            <a:ext cx="1417320" cy="3474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143000" y="1024128"/>
            <a:ext cx="1417320" cy="347472"/>
          </a:xfrm>
          <a:prstGeom prst="rect">
            <a:avLst/>
          </a:prstGeom>
          <a:noFill/>
        </p:spPr>
        <p:txBody>
          <a:bodyPr wrap="square" lIns="0" tIns="45720" rIns="0" bIns="45720" anchor="ctr"/>
          <a:lstStyle/>
          <a:p>
            <a:pPr algn="ctr"/>
            <a:r>
              <a:rPr lang="tr-TR" sz="1200" b="1" i="0">
                <a:solidFill>
                  <a:srgbClr val="FFFFFF"/>
                </a:solidFill>
                <a:latin typeface="Calibri"/>
              </a:rPr>
              <a:t>Konum</a:t>
            </a:r>
          </a:p>
        </p:txBody>
      </p:sp>
      <p:sp>
        <p:nvSpPr>
          <p:cNvPr id="11" name="TextBox 10"/>
          <p:cNvSpPr txBox="1"/>
          <p:nvPr/>
        </p:nvSpPr>
        <p:spPr>
          <a:xfrm>
            <a:off x="2743200" y="868680"/>
            <a:ext cx="5852160" cy="658368"/>
          </a:xfrm>
          <a:prstGeom prst="rect">
            <a:avLst/>
          </a:prstGeom>
          <a:noFill/>
        </p:spPr>
        <p:txBody>
          <a:bodyPr wrap="square" lIns="73152" tIns="45720" rIns="73152" bIns="45720" anchor="ctr"/>
          <a:lstStyle/>
          <a:p>
            <a:pPr algn="l"/>
            <a:r>
              <a:rPr lang="tr-TR" sz="1600" b="1" i="0">
                <a:solidFill>
                  <a:srgbClr val="1E293B"/>
                </a:solidFill>
                <a:latin typeface="Calibri"/>
              </a:rPr>
              <a:t>İstanbul, </a:t>
            </a:r>
            <a:r>
              <a:rPr lang="tr-TR" sz="1600" b="1" i="0">
                <a:solidFill>
                  <a:srgbClr val="7C3AED"/>
                </a:solidFill>
                <a:latin typeface="Calibri"/>
              </a:rPr>
              <a:t>Marmara Bölgesi’nde bulunur</a:t>
            </a:r>
            <a:r>
              <a:rPr lang="tr-TR" sz="1600" b="1" i="0">
                <a:solidFill>
                  <a:srgbClr val="1E293B"/>
                </a:solidFill>
                <a:latin typeface="Calibri"/>
              </a:rPr>
              <a:t>.</a:t>
            </a:r>
          </a:p>
        </p:txBody>
      </p:sp>
      <p:sp>
        <p:nvSpPr>
          <p:cNvPr id="12" name="Rounded Rectangle 11"/>
          <p:cNvSpPr/>
          <p:nvPr/>
        </p:nvSpPr>
        <p:spPr>
          <a:xfrm>
            <a:off x="457200" y="1636776"/>
            <a:ext cx="822960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2b50.png"/>
          <p:cNvPicPr>
            <a:picLocks noChangeAspect="1"/>
          </p:cNvPicPr>
          <p:nvPr/>
        </p:nvPicPr>
        <p:blipFill>
          <a:blip r:embed="rId5"/>
          <a:stretch>
            <a:fillRect/>
          </a:stretch>
        </p:blipFill>
        <p:spPr>
          <a:xfrm>
            <a:off x="685800" y="1828800"/>
            <a:ext cx="274320" cy="274320"/>
          </a:xfrm>
          <a:prstGeom prst="rect">
            <a:avLst/>
          </a:prstGeom>
        </p:spPr>
      </p:pic>
      <p:sp>
        <p:nvSpPr>
          <p:cNvPr id="14" name="Rounded Rectangle 13"/>
          <p:cNvSpPr/>
          <p:nvPr/>
        </p:nvSpPr>
        <p:spPr>
          <a:xfrm>
            <a:off x="1143000" y="1792224"/>
            <a:ext cx="1417320" cy="3474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143000" y="1792224"/>
            <a:ext cx="1417320" cy="347472"/>
          </a:xfrm>
          <a:prstGeom prst="rect">
            <a:avLst/>
          </a:prstGeom>
          <a:noFill/>
        </p:spPr>
        <p:txBody>
          <a:bodyPr wrap="square" lIns="0" tIns="45720" rIns="0" bIns="45720" anchor="ctr"/>
          <a:lstStyle/>
          <a:p>
            <a:pPr algn="ctr"/>
            <a:r>
              <a:rPr lang="tr-TR" sz="1200" b="1" i="0">
                <a:solidFill>
                  <a:srgbClr val="FFFFFF"/>
                </a:solidFill>
                <a:latin typeface="Calibri"/>
              </a:rPr>
              <a:t>Özellik</a:t>
            </a:r>
          </a:p>
        </p:txBody>
      </p:sp>
      <p:sp>
        <p:nvSpPr>
          <p:cNvPr id="16" name="TextBox 15"/>
          <p:cNvSpPr txBox="1"/>
          <p:nvPr/>
        </p:nvSpPr>
        <p:spPr>
          <a:xfrm>
            <a:off x="2743200" y="1636776"/>
            <a:ext cx="5852160" cy="658368"/>
          </a:xfrm>
          <a:prstGeom prst="rect">
            <a:avLst/>
          </a:prstGeom>
          <a:noFill/>
        </p:spPr>
        <p:txBody>
          <a:bodyPr wrap="square" lIns="73152" tIns="45720" rIns="73152" bIns="45720" anchor="ctr"/>
          <a:lstStyle/>
          <a:p>
            <a:pPr algn="l"/>
            <a:r>
              <a:rPr lang="tr-TR" sz="1600" b="1" i="0">
                <a:solidFill>
                  <a:srgbClr val="1E293B"/>
                </a:solidFill>
                <a:latin typeface="Calibri"/>
              </a:rPr>
              <a:t>İstanbul, Asya ile Avrupa </a:t>
            </a:r>
            <a:r>
              <a:rPr lang="tr-TR" sz="1600" b="1" i="0">
                <a:solidFill>
                  <a:srgbClr val="7C3AED"/>
                </a:solidFill>
                <a:latin typeface="Calibri"/>
              </a:rPr>
              <a:t>arasında bir köprüdür</a:t>
            </a:r>
            <a:r>
              <a:rPr lang="tr-TR" sz="1600" b="1" i="0">
                <a:solidFill>
                  <a:srgbClr val="1E293B"/>
                </a:solidFill>
                <a:latin typeface="Calibri"/>
              </a:rPr>
              <a:t>.</a:t>
            </a:r>
          </a:p>
        </p:txBody>
      </p:sp>
      <p:sp>
        <p:nvSpPr>
          <p:cNvPr id="17" name="Rounded Rectangle 16"/>
          <p:cNvSpPr/>
          <p:nvPr/>
        </p:nvSpPr>
        <p:spPr>
          <a:xfrm>
            <a:off x="457200" y="2404872"/>
            <a:ext cx="822960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1f54c.png"/>
          <p:cNvPicPr>
            <a:picLocks noChangeAspect="1"/>
          </p:cNvPicPr>
          <p:nvPr/>
        </p:nvPicPr>
        <p:blipFill>
          <a:blip r:embed="rId6"/>
          <a:stretch>
            <a:fillRect/>
          </a:stretch>
        </p:blipFill>
        <p:spPr>
          <a:xfrm>
            <a:off x="685800" y="2596896"/>
            <a:ext cx="274320" cy="274320"/>
          </a:xfrm>
          <a:prstGeom prst="rect">
            <a:avLst/>
          </a:prstGeom>
        </p:spPr>
      </p:pic>
      <p:sp>
        <p:nvSpPr>
          <p:cNvPr id="19" name="Rounded Rectangle 18"/>
          <p:cNvSpPr/>
          <p:nvPr/>
        </p:nvSpPr>
        <p:spPr>
          <a:xfrm>
            <a:off x="1143000" y="2560320"/>
            <a:ext cx="1417320" cy="3474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143000" y="2560320"/>
            <a:ext cx="1417320" cy="347472"/>
          </a:xfrm>
          <a:prstGeom prst="rect">
            <a:avLst/>
          </a:prstGeom>
          <a:noFill/>
        </p:spPr>
        <p:txBody>
          <a:bodyPr wrap="square" lIns="0" tIns="45720" rIns="0" bIns="45720" anchor="ctr"/>
          <a:lstStyle/>
          <a:p>
            <a:pPr algn="ctr"/>
            <a:r>
              <a:rPr lang="tr-TR" sz="1200" b="1" i="0">
                <a:solidFill>
                  <a:srgbClr val="FFFFFF"/>
                </a:solidFill>
                <a:latin typeface="Calibri"/>
              </a:rPr>
              <a:t>Ünlü yerler</a:t>
            </a:r>
          </a:p>
        </p:txBody>
      </p:sp>
      <p:sp>
        <p:nvSpPr>
          <p:cNvPr id="21" name="TextBox 20"/>
          <p:cNvSpPr txBox="1"/>
          <p:nvPr/>
        </p:nvSpPr>
        <p:spPr>
          <a:xfrm>
            <a:off x="2743200" y="2404872"/>
            <a:ext cx="5852160" cy="658368"/>
          </a:xfrm>
          <a:prstGeom prst="rect">
            <a:avLst/>
          </a:prstGeom>
          <a:noFill/>
        </p:spPr>
        <p:txBody>
          <a:bodyPr wrap="square" lIns="73152" tIns="45720" rIns="73152" bIns="45720" anchor="ctr"/>
          <a:lstStyle/>
          <a:p>
            <a:pPr algn="l"/>
            <a:r>
              <a:rPr lang="tr-TR" sz="1600" b="1" i="0">
                <a:solidFill>
                  <a:srgbClr val="1E293B"/>
                </a:solidFill>
                <a:latin typeface="Calibri"/>
              </a:rPr>
              <a:t>İstanbul, Sultan Ahmed Camii </a:t>
            </a:r>
            <a:r>
              <a:rPr lang="tr-TR" sz="1600" b="1" i="0">
                <a:solidFill>
                  <a:srgbClr val="7C3AED"/>
                </a:solidFill>
                <a:latin typeface="Calibri"/>
              </a:rPr>
              <a:t>ile ünlüdür</a:t>
            </a:r>
            <a:r>
              <a:rPr lang="tr-TR" sz="1600" b="1" i="0">
                <a:solidFill>
                  <a:srgbClr val="1E293B"/>
                </a:solidFill>
                <a:latin typeface="Calibri"/>
              </a:rPr>
              <a:t>.</a:t>
            </a:r>
          </a:p>
        </p:txBody>
      </p:sp>
      <p:sp>
        <p:nvSpPr>
          <p:cNvPr id="22" name="Rounded Rectangle 21"/>
          <p:cNvSpPr/>
          <p:nvPr/>
        </p:nvSpPr>
        <p:spPr>
          <a:xfrm>
            <a:off x="457200" y="3172968"/>
            <a:ext cx="822960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1f96f.png"/>
          <p:cNvPicPr>
            <a:picLocks noChangeAspect="1"/>
          </p:cNvPicPr>
          <p:nvPr/>
        </p:nvPicPr>
        <p:blipFill>
          <a:blip r:embed="rId7"/>
          <a:stretch>
            <a:fillRect/>
          </a:stretch>
        </p:blipFill>
        <p:spPr>
          <a:xfrm>
            <a:off x="685800" y="3364992"/>
            <a:ext cx="274320" cy="274320"/>
          </a:xfrm>
          <a:prstGeom prst="rect">
            <a:avLst/>
          </a:prstGeom>
        </p:spPr>
      </p:pic>
      <p:sp>
        <p:nvSpPr>
          <p:cNvPr id="24" name="Rounded Rectangle 23"/>
          <p:cNvSpPr/>
          <p:nvPr/>
        </p:nvSpPr>
        <p:spPr>
          <a:xfrm>
            <a:off x="1143000" y="3328416"/>
            <a:ext cx="1417320" cy="34747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143000" y="3328416"/>
            <a:ext cx="1417320" cy="347472"/>
          </a:xfrm>
          <a:prstGeom prst="rect">
            <a:avLst/>
          </a:prstGeom>
          <a:noFill/>
        </p:spPr>
        <p:txBody>
          <a:bodyPr wrap="square" lIns="0" tIns="45720" rIns="0" bIns="45720" anchor="ctr"/>
          <a:lstStyle/>
          <a:p>
            <a:pPr algn="ctr"/>
            <a:r>
              <a:rPr lang="tr-TR" sz="1200" b="1" i="0">
                <a:solidFill>
                  <a:srgbClr val="FFFFFF"/>
                </a:solidFill>
                <a:latin typeface="Calibri"/>
              </a:rPr>
              <a:t>Lezzet</a:t>
            </a:r>
          </a:p>
        </p:txBody>
      </p:sp>
      <p:sp>
        <p:nvSpPr>
          <p:cNvPr id="26" name="TextBox 25"/>
          <p:cNvSpPr txBox="1"/>
          <p:nvPr/>
        </p:nvSpPr>
        <p:spPr>
          <a:xfrm>
            <a:off x="2743200" y="3172968"/>
            <a:ext cx="5852160" cy="658368"/>
          </a:xfrm>
          <a:prstGeom prst="rect">
            <a:avLst/>
          </a:prstGeom>
          <a:noFill/>
        </p:spPr>
        <p:txBody>
          <a:bodyPr wrap="square" lIns="73152" tIns="45720" rIns="73152" bIns="45720" anchor="ctr"/>
          <a:lstStyle/>
          <a:p>
            <a:pPr algn="l"/>
            <a:r>
              <a:rPr lang="tr-TR" sz="1600" b="1" i="0">
                <a:solidFill>
                  <a:srgbClr val="1E293B"/>
                </a:solidFill>
                <a:latin typeface="Calibri"/>
              </a:rPr>
              <a:t>İstanbul’un simidi ve balık ekmeği </a:t>
            </a:r>
            <a:r>
              <a:rPr lang="tr-TR" sz="1600" b="1" i="0">
                <a:solidFill>
                  <a:srgbClr val="7C3AED"/>
                </a:solidFill>
                <a:latin typeface="Calibri"/>
              </a:rPr>
              <a:t>meşhurdur</a:t>
            </a:r>
            <a:r>
              <a:rPr lang="tr-TR" sz="1600" b="1" i="0">
                <a:solidFill>
                  <a:srgbClr val="1E293B"/>
                </a:solidFill>
                <a:latin typeface="Calibri"/>
              </a:rPr>
              <a:t>.</a:t>
            </a:r>
          </a:p>
        </p:txBody>
      </p:sp>
      <p:sp>
        <p:nvSpPr>
          <p:cNvPr id="27" name="Rounded Rectangle 26"/>
          <p:cNvSpPr/>
          <p:nvPr/>
        </p:nvSpPr>
        <p:spPr>
          <a:xfrm>
            <a:off x="457200" y="3941064"/>
            <a:ext cx="8229600" cy="6583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1f4ad.png"/>
          <p:cNvPicPr>
            <a:picLocks noChangeAspect="1"/>
          </p:cNvPicPr>
          <p:nvPr/>
        </p:nvPicPr>
        <p:blipFill>
          <a:blip r:embed="rId8"/>
          <a:stretch>
            <a:fillRect/>
          </a:stretch>
        </p:blipFill>
        <p:spPr>
          <a:xfrm>
            <a:off x="685800" y="4133088"/>
            <a:ext cx="274320" cy="274320"/>
          </a:xfrm>
          <a:prstGeom prst="rect">
            <a:avLst/>
          </a:prstGeom>
        </p:spPr>
      </p:pic>
      <p:sp>
        <p:nvSpPr>
          <p:cNvPr id="29" name="Rounded Rectangle 28"/>
          <p:cNvSpPr/>
          <p:nvPr/>
        </p:nvSpPr>
        <p:spPr>
          <a:xfrm>
            <a:off x="1143000" y="4096512"/>
            <a:ext cx="1417320" cy="347472"/>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143000" y="4096512"/>
            <a:ext cx="1417320" cy="347472"/>
          </a:xfrm>
          <a:prstGeom prst="rect">
            <a:avLst/>
          </a:prstGeom>
          <a:noFill/>
        </p:spPr>
        <p:txBody>
          <a:bodyPr wrap="square" lIns="0" tIns="45720" rIns="0" bIns="45720" anchor="ctr"/>
          <a:lstStyle/>
          <a:p>
            <a:pPr algn="ctr"/>
            <a:r>
              <a:rPr lang="tr-TR" sz="1200" b="1" i="0">
                <a:solidFill>
                  <a:srgbClr val="FFFFFF"/>
                </a:solidFill>
                <a:latin typeface="Calibri"/>
              </a:rPr>
              <a:t>Görüşüm</a:t>
            </a:r>
          </a:p>
        </p:txBody>
      </p:sp>
      <p:sp>
        <p:nvSpPr>
          <p:cNvPr id="31" name="TextBox 30"/>
          <p:cNvSpPr txBox="1"/>
          <p:nvPr/>
        </p:nvSpPr>
        <p:spPr>
          <a:xfrm>
            <a:off x="2743200" y="3941064"/>
            <a:ext cx="5852160" cy="658368"/>
          </a:xfrm>
          <a:prstGeom prst="rect">
            <a:avLst/>
          </a:prstGeom>
          <a:noFill/>
        </p:spPr>
        <p:txBody>
          <a:bodyPr wrap="square" lIns="73152" tIns="45720" rIns="73152" bIns="45720" anchor="ctr"/>
          <a:lstStyle/>
          <a:p>
            <a:pPr algn="l"/>
            <a:r>
              <a:rPr lang="tr-TR" sz="1600" b="1" i="0" dirty="0">
                <a:solidFill>
                  <a:srgbClr val="7C3AED"/>
                </a:solidFill>
                <a:latin typeface="Calibri"/>
              </a:rPr>
              <a:t>Bence</a:t>
            </a:r>
            <a:r>
              <a:rPr lang="tr-TR" sz="1600" b="1" i="0" dirty="0">
                <a:solidFill>
                  <a:srgbClr val="1E293B"/>
                </a:solidFill>
                <a:latin typeface="Calibri"/>
              </a:rPr>
              <a:t> İstanbul’un </a:t>
            </a:r>
            <a:r>
              <a:rPr lang="tr-TR" sz="1600" b="1" i="0" dirty="0">
                <a:solidFill>
                  <a:srgbClr val="7C3AED"/>
                </a:solidFill>
                <a:latin typeface="Calibri"/>
              </a:rPr>
              <a:t>en güzel yeri</a:t>
            </a:r>
            <a:r>
              <a:rPr lang="tr-TR" sz="1600" b="1" i="0" dirty="0">
                <a:solidFill>
                  <a:srgbClr val="1E293B"/>
                </a:solidFill>
                <a:latin typeface="Calibri"/>
              </a:rPr>
              <a:t> Boğaz’dır </a:t>
            </a:r>
            <a:r>
              <a:rPr lang="tr-TR" sz="1600" b="1" i="0" dirty="0">
                <a:solidFill>
                  <a:srgbClr val="7C3AED"/>
                </a:solidFill>
                <a:latin typeface="Calibri"/>
              </a:rPr>
              <a:t>çünkü</a:t>
            </a:r>
            <a:r>
              <a:rPr lang="tr-TR" sz="1600" b="1" i="0" dirty="0">
                <a:solidFill>
                  <a:srgbClr val="1E293B"/>
                </a:solidFill>
                <a:latin typeface="Calibri"/>
              </a:rPr>
              <a:t> deniz her yerden görünür.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MEKÂN DEDEKTİFİ: TARİHÎ MEKÂNLAR</a:t>
            </a:r>
          </a:p>
        </p:txBody>
      </p:sp>
      <p:pic>
        <p:nvPicPr>
          <p:cNvPr id="44" name="Picture 43" descr="1f50d.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365760" y="868680"/>
            <a:ext cx="1591056" cy="3246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365760" y="868680"/>
            <a:ext cx="1591056" cy="45720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65760" y="868680"/>
            <a:ext cx="1591056" cy="457200"/>
          </a:xfrm>
          <a:prstGeom prst="rect">
            <a:avLst/>
          </a:prstGeom>
          <a:noFill/>
        </p:spPr>
        <p:txBody>
          <a:bodyPr wrap="square" lIns="0" tIns="45720" rIns="0" bIns="45720" anchor="ctr"/>
          <a:lstStyle/>
          <a:p>
            <a:pPr algn="ctr"/>
            <a:r>
              <a:rPr lang="tr-TR" sz="1500" b="1" i="0">
                <a:solidFill>
                  <a:srgbClr val="FFFFFF"/>
                </a:solidFill>
                <a:latin typeface="Calibri"/>
              </a:rPr>
              <a:t>Cami</a:t>
            </a:r>
          </a:p>
        </p:txBody>
      </p:sp>
      <p:pic>
        <p:nvPicPr>
          <p:cNvPr id="45" name="Picture 44" descr="1f54c.png"/>
          <p:cNvPicPr>
            <a:picLocks noChangeAspect="1"/>
          </p:cNvPicPr>
          <p:nvPr/>
        </p:nvPicPr>
        <p:blipFill>
          <a:blip r:embed="rId4"/>
          <a:stretch>
            <a:fillRect/>
          </a:stretch>
        </p:blipFill>
        <p:spPr>
          <a:xfrm>
            <a:off x="932688" y="1472184"/>
            <a:ext cx="457200" cy="457200"/>
          </a:xfrm>
          <a:prstGeom prst="rect">
            <a:avLst/>
          </a:prstGeom>
        </p:spPr>
      </p:pic>
      <p:sp>
        <p:nvSpPr>
          <p:cNvPr id="11" name="TextBox 10"/>
          <p:cNvSpPr txBox="1"/>
          <p:nvPr/>
        </p:nvSpPr>
        <p:spPr>
          <a:xfrm>
            <a:off x="438912" y="2057400"/>
            <a:ext cx="1444752" cy="1051560"/>
          </a:xfrm>
          <a:prstGeom prst="rect">
            <a:avLst/>
          </a:prstGeom>
          <a:noFill/>
        </p:spPr>
        <p:txBody>
          <a:bodyPr wrap="square" lIns="73152" tIns="45720" rIns="73152" bIns="45720" anchor="t"/>
          <a:lstStyle/>
          <a:p>
            <a:pPr algn="ctr"/>
            <a:r>
              <a:rPr lang="tr-TR" sz="1250" b="0" i="0">
                <a:solidFill>
                  <a:srgbClr val="1E293B"/>
                </a:solidFill>
                <a:latin typeface="Calibri"/>
              </a:rPr>
              <a:t>Müslümanların ibadet ettiği yer.</a:t>
            </a:r>
          </a:p>
        </p:txBody>
      </p:sp>
      <p:sp>
        <p:nvSpPr>
          <p:cNvPr id="12" name="Rounded Rectangle 11"/>
          <p:cNvSpPr/>
          <p:nvPr/>
        </p:nvSpPr>
        <p:spPr>
          <a:xfrm>
            <a:off x="457200" y="3127248"/>
            <a:ext cx="1408176" cy="86868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5488" y="3127248"/>
            <a:ext cx="1371600" cy="868680"/>
          </a:xfrm>
          <a:prstGeom prst="rect">
            <a:avLst/>
          </a:prstGeom>
          <a:noFill/>
        </p:spPr>
        <p:txBody>
          <a:bodyPr wrap="square" lIns="73152" tIns="45720" rIns="73152" bIns="45720" anchor="ctr"/>
          <a:lstStyle/>
          <a:p>
            <a:pPr algn="ctr"/>
            <a:r>
              <a:rPr lang="tr-TR" sz="1100" b="1" i="0">
                <a:solidFill>
                  <a:srgbClr val="2563EB"/>
                </a:solidFill>
                <a:latin typeface="Calibri"/>
              </a:rPr>
              <a:t>Örnek: </a:t>
            </a:r>
          </a:p>
          <a:p>
            <a:pPr algn="ctr"/>
            <a:r>
              <a:rPr lang="tr-TR" sz="1100" b="0" i="0">
                <a:solidFill>
                  <a:srgbClr val="1E293B"/>
                </a:solidFill>
                <a:latin typeface="Calibri"/>
              </a:rPr>
              <a:t>Sultan Ahmed Camii (İstanbul)</a:t>
            </a:r>
          </a:p>
        </p:txBody>
      </p:sp>
      <p:sp>
        <p:nvSpPr>
          <p:cNvPr id="14" name="Rounded Rectangle 13"/>
          <p:cNvSpPr/>
          <p:nvPr/>
        </p:nvSpPr>
        <p:spPr>
          <a:xfrm>
            <a:off x="2066544" y="868680"/>
            <a:ext cx="1591056" cy="3246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2066544" y="868680"/>
            <a:ext cx="1591056" cy="457200"/>
          </a:xfrm>
          <a:prstGeom prst="roundRect">
            <a:avLst>
              <a:gd name="adj" fmla="val 2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066544" y="868680"/>
            <a:ext cx="1591056" cy="457200"/>
          </a:xfrm>
          <a:prstGeom prst="rect">
            <a:avLst/>
          </a:prstGeom>
          <a:noFill/>
        </p:spPr>
        <p:txBody>
          <a:bodyPr wrap="square" lIns="0" tIns="45720" rIns="0" bIns="45720" anchor="ctr"/>
          <a:lstStyle/>
          <a:p>
            <a:pPr algn="ctr"/>
            <a:r>
              <a:rPr lang="tr-TR" sz="1500" b="1" i="0">
                <a:solidFill>
                  <a:srgbClr val="FFFFFF"/>
                </a:solidFill>
                <a:latin typeface="Calibri"/>
              </a:rPr>
              <a:t>Çeşme</a:t>
            </a:r>
          </a:p>
        </p:txBody>
      </p:sp>
      <p:pic>
        <p:nvPicPr>
          <p:cNvPr id="46" name="Picture 45" descr="26f2.png"/>
          <p:cNvPicPr>
            <a:picLocks noChangeAspect="1"/>
          </p:cNvPicPr>
          <p:nvPr/>
        </p:nvPicPr>
        <p:blipFill>
          <a:blip r:embed="rId5"/>
          <a:stretch>
            <a:fillRect/>
          </a:stretch>
        </p:blipFill>
        <p:spPr>
          <a:xfrm>
            <a:off x="2633472" y="1472184"/>
            <a:ext cx="457200" cy="457200"/>
          </a:xfrm>
          <a:prstGeom prst="rect">
            <a:avLst/>
          </a:prstGeom>
        </p:spPr>
      </p:pic>
      <p:sp>
        <p:nvSpPr>
          <p:cNvPr id="18" name="TextBox 17"/>
          <p:cNvSpPr txBox="1"/>
          <p:nvPr/>
        </p:nvSpPr>
        <p:spPr>
          <a:xfrm>
            <a:off x="2139696" y="2057400"/>
            <a:ext cx="1444752" cy="1051560"/>
          </a:xfrm>
          <a:prstGeom prst="rect">
            <a:avLst/>
          </a:prstGeom>
          <a:noFill/>
        </p:spPr>
        <p:txBody>
          <a:bodyPr wrap="square" lIns="73152" tIns="45720" rIns="73152" bIns="45720" anchor="t"/>
          <a:lstStyle/>
          <a:p>
            <a:pPr algn="ctr"/>
            <a:r>
              <a:rPr lang="tr-TR" sz="1250" b="0" i="0">
                <a:solidFill>
                  <a:srgbClr val="1E293B"/>
                </a:solidFill>
                <a:latin typeface="Calibri"/>
              </a:rPr>
              <a:t>Herkesin su içtiği tarihî su yapısı.</a:t>
            </a:r>
          </a:p>
        </p:txBody>
      </p:sp>
      <p:sp>
        <p:nvSpPr>
          <p:cNvPr id="19" name="Rounded Rectangle 18"/>
          <p:cNvSpPr/>
          <p:nvPr/>
        </p:nvSpPr>
        <p:spPr>
          <a:xfrm>
            <a:off x="2157984" y="3127248"/>
            <a:ext cx="1408176" cy="86868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176272" y="3127248"/>
            <a:ext cx="1371600" cy="868680"/>
          </a:xfrm>
          <a:prstGeom prst="rect">
            <a:avLst/>
          </a:prstGeom>
          <a:noFill/>
        </p:spPr>
        <p:txBody>
          <a:bodyPr wrap="square" lIns="73152" tIns="45720" rIns="73152" bIns="45720" anchor="ctr"/>
          <a:lstStyle/>
          <a:p>
            <a:pPr algn="ctr"/>
            <a:r>
              <a:rPr lang="tr-TR" sz="1100" b="1" i="0">
                <a:solidFill>
                  <a:srgbClr val="0D9488"/>
                </a:solidFill>
                <a:latin typeface="Calibri"/>
              </a:rPr>
              <a:t>Örnek: </a:t>
            </a:r>
          </a:p>
          <a:p>
            <a:pPr algn="ctr"/>
            <a:r>
              <a:rPr lang="tr-TR" sz="1100" b="0" i="0">
                <a:solidFill>
                  <a:srgbClr val="1E293B"/>
                </a:solidFill>
                <a:latin typeface="Calibri"/>
              </a:rPr>
              <a:t>III. Ahmed Çeşmesi (İstanbul)</a:t>
            </a:r>
          </a:p>
        </p:txBody>
      </p:sp>
      <p:sp>
        <p:nvSpPr>
          <p:cNvPr id="21" name="Rounded Rectangle 20"/>
          <p:cNvSpPr/>
          <p:nvPr/>
        </p:nvSpPr>
        <p:spPr>
          <a:xfrm>
            <a:off x="3767328" y="868680"/>
            <a:ext cx="1591056" cy="3246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3767328" y="868680"/>
            <a:ext cx="1591056" cy="457200"/>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767328" y="868680"/>
            <a:ext cx="1591056" cy="457200"/>
          </a:xfrm>
          <a:prstGeom prst="rect">
            <a:avLst/>
          </a:prstGeom>
          <a:noFill/>
        </p:spPr>
        <p:txBody>
          <a:bodyPr wrap="square" lIns="0" tIns="45720" rIns="0" bIns="45720" anchor="ctr"/>
          <a:lstStyle/>
          <a:p>
            <a:pPr algn="ctr"/>
            <a:r>
              <a:rPr lang="tr-TR" sz="1500" b="1" i="0">
                <a:solidFill>
                  <a:srgbClr val="FFFFFF"/>
                </a:solidFill>
                <a:latin typeface="Calibri"/>
              </a:rPr>
              <a:t>Köprü</a:t>
            </a:r>
          </a:p>
        </p:txBody>
      </p:sp>
      <p:pic>
        <p:nvPicPr>
          <p:cNvPr id="47" name="Picture 46" descr="1f309.png"/>
          <p:cNvPicPr>
            <a:picLocks noChangeAspect="1"/>
          </p:cNvPicPr>
          <p:nvPr/>
        </p:nvPicPr>
        <p:blipFill>
          <a:blip r:embed="rId6"/>
          <a:stretch>
            <a:fillRect/>
          </a:stretch>
        </p:blipFill>
        <p:spPr>
          <a:xfrm>
            <a:off x="4334256" y="1472184"/>
            <a:ext cx="457200" cy="457200"/>
          </a:xfrm>
          <a:prstGeom prst="rect">
            <a:avLst/>
          </a:prstGeom>
        </p:spPr>
      </p:pic>
      <p:sp>
        <p:nvSpPr>
          <p:cNvPr id="25" name="TextBox 24"/>
          <p:cNvSpPr txBox="1"/>
          <p:nvPr/>
        </p:nvSpPr>
        <p:spPr>
          <a:xfrm>
            <a:off x="3840480" y="2057400"/>
            <a:ext cx="1444752" cy="1051560"/>
          </a:xfrm>
          <a:prstGeom prst="rect">
            <a:avLst/>
          </a:prstGeom>
          <a:noFill/>
        </p:spPr>
        <p:txBody>
          <a:bodyPr wrap="square" lIns="73152" tIns="45720" rIns="73152" bIns="45720" anchor="t"/>
          <a:lstStyle/>
          <a:p>
            <a:pPr algn="ctr"/>
            <a:r>
              <a:rPr lang="tr-TR" sz="1250" b="0" i="0">
                <a:solidFill>
                  <a:srgbClr val="1E293B"/>
                </a:solidFill>
                <a:latin typeface="Calibri"/>
              </a:rPr>
              <a:t>İki yakayı birbirine bağlayan yapı.</a:t>
            </a:r>
          </a:p>
        </p:txBody>
      </p:sp>
      <p:sp>
        <p:nvSpPr>
          <p:cNvPr id="26" name="Rounded Rectangle 25"/>
          <p:cNvSpPr/>
          <p:nvPr/>
        </p:nvSpPr>
        <p:spPr>
          <a:xfrm>
            <a:off x="3858768" y="3127248"/>
            <a:ext cx="1408176" cy="86868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877056" y="3127248"/>
            <a:ext cx="1371600" cy="868680"/>
          </a:xfrm>
          <a:prstGeom prst="rect">
            <a:avLst/>
          </a:prstGeom>
          <a:noFill/>
        </p:spPr>
        <p:txBody>
          <a:bodyPr wrap="square" lIns="73152" tIns="45720" rIns="73152" bIns="45720" anchor="ctr"/>
          <a:lstStyle/>
          <a:p>
            <a:pPr algn="ctr"/>
            <a:r>
              <a:rPr lang="tr-TR" sz="1100" b="1" i="0">
                <a:solidFill>
                  <a:srgbClr val="7C3AED"/>
                </a:solidFill>
                <a:latin typeface="Calibri"/>
              </a:rPr>
              <a:t>Örnek: </a:t>
            </a:r>
          </a:p>
          <a:p>
            <a:pPr algn="ctr"/>
            <a:r>
              <a:rPr lang="tr-TR" sz="1100" b="0" i="0">
                <a:solidFill>
                  <a:srgbClr val="1E293B"/>
                </a:solidFill>
                <a:latin typeface="Calibri"/>
              </a:rPr>
              <a:t>Mostar Köprüsü (Bosna Hersek)</a:t>
            </a:r>
          </a:p>
        </p:txBody>
      </p:sp>
      <p:sp>
        <p:nvSpPr>
          <p:cNvPr id="28" name="Rounded Rectangle 27"/>
          <p:cNvSpPr/>
          <p:nvPr/>
        </p:nvSpPr>
        <p:spPr>
          <a:xfrm>
            <a:off x="5468112" y="868680"/>
            <a:ext cx="1591056" cy="3246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5468112" y="868680"/>
            <a:ext cx="1591056" cy="457200"/>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68112" y="868680"/>
            <a:ext cx="1591056" cy="457200"/>
          </a:xfrm>
          <a:prstGeom prst="rect">
            <a:avLst/>
          </a:prstGeom>
          <a:noFill/>
        </p:spPr>
        <p:txBody>
          <a:bodyPr wrap="square" lIns="0" tIns="45720" rIns="0" bIns="45720" anchor="ctr"/>
          <a:lstStyle/>
          <a:p>
            <a:pPr algn="ctr"/>
            <a:r>
              <a:rPr lang="tr-TR" sz="1500" b="1" i="0">
                <a:solidFill>
                  <a:srgbClr val="FFFFFF"/>
                </a:solidFill>
                <a:latin typeface="Calibri"/>
              </a:rPr>
              <a:t>Kervansaray</a:t>
            </a:r>
          </a:p>
        </p:txBody>
      </p:sp>
      <p:pic>
        <p:nvPicPr>
          <p:cNvPr id="48" name="Picture 47" descr="1f42b.png"/>
          <p:cNvPicPr>
            <a:picLocks noChangeAspect="1"/>
          </p:cNvPicPr>
          <p:nvPr/>
        </p:nvPicPr>
        <p:blipFill>
          <a:blip r:embed="rId7"/>
          <a:stretch>
            <a:fillRect/>
          </a:stretch>
        </p:blipFill>
        <p:spPr>
          <a:xfrm>
            <a:off x="6035040" y="1472184"/>
            <a:ext cx="457200" cy="457200"/>
          </a:xfrm>
          <a:prstGeom prst="rect">
            <a:avLst/>
          </a:prstGeom>
        </p:spPr>
      </p:pic>
      <p:sp>
        <p:nvSpPr>
          <p:cNvPr id="32" name="TextBox 31"/>
          <p:cNvSpPr txBox="1"/>
          <p:nvPr/>
        </p:nvSpPr>
        <p:spPr>
          <a:xfrm>
            <a:off x="5541264" y="2057400"/>
            <a:ext cx="1444752" cy="1051560"/>
          </a:xfrm>
          <a:prstGeom prst="rect">
            <a:avLst/>
          </a:prstGeom>
          <a:noFill/>
        </p:spPr>
        <p:txBody>
          <a:bodyPr wrap="square" lIns="73152" tIns="45720" rIns="73152" bIns="45720" anchor="t"/>
          <a:lstStyle/>
          <a:p>
            <a:pPr algn="ctr"/>
            <a:r>
              <a:rPr lang="tr-TR" sz="1250" b="0" i="0">
                <a:solidFill>
                  <a:srgbClr val="1E293B"/>
                </a:solidFill>
                <a:latin typeface="Calibri"/>
              </a:rPr>
              <a:t>Eskiden yolcuların ve kervanların konakladığı yer.</a:t>
            </a:r>
          </a:p>
        </p:txBody>
      </p:sp>
      <p:sp>
        <p:nvSpPr>
          <p:cNvPr id="33" name="Rounded Rectangle 32"/>
          <p:cNvSpPr/>
          <p:nvPr/>
        </p:nvSpPr>
        <p:spPr>
          <a:xfrm>
            <a:off x="5559552" y="3127248"/>
            <a:ext cx="1408176" cy="86868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5577840" y="3127248"/>
            <a:ext cx="1371600" cy="868680"/>
          </a:xfrm>
          <a:prstGeom prst="rect">
            <a:avLst/>
          </a:prstGeom>
          <a:noFill/>
        </p:spPr>
        <p:txBody>
          <a:bodyPr wrap="square" lIns="73152" tIns="45720" rIns="73152" bIns="45720" anchor="ctr"/>
          <a:lstStyle/>
          <a:p>
            <a:pPr algn="ctr"/>
            <a:r>
              <a:rPr lang="tr-TR" sz="1100" b="1" i="0">
                <a:solidFill>
                  <a:srgbClr val="F97316"/>
                </a:solidFill>
                <a:latin typeface="Calibri"/>
              </a:rPr>
              <a:t>Örnek: </a:t>
            </a:r>
          </a:p>
          <a:p>
            <a:pPr algn="ctr"/>
            <a:r>
              <a:rPr lang="tr-TR" sz="1100" b="0" i="0">
                <a:solidFill>
                  <a:srgbClr val="1E293B"/>
                </a:solidFill>
                <a:latin typeface="Calibri"/>
              </a:rPr>
              <a:t>Sultanhanı (Aksaray)</a:t>
            </a:r>
          </a:p>
        </p:txBody>
      </p:sp>
      <p:sp>
        <p:nvSpPr>
          <p:cNvPr id="35" name="Rounded Rectangle 34"/>
          <p:cNvSpPr/>
          <p:nvPr/>
        </p:nvSpPr>
        <p:spPr>
          <a:xfrm>
            <a:off x="7168896" y="868680"/>
            <a:ext cx="1591056" cy="3246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7168896" y="868680"/>
            <a:ext cx="1591056" cy="457200"/>
          </a:xfrm>
          <a:prstGeom prst="roundRect">
            <a:avLst>
              <a:gd name="adj" fmla="val 2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168896" y="868680"/>
            <a:ext cx="1591056" cy="457200"/>
          </a:xfrm>
          <a:prstGeom prst="rect">
            <a:avLst/>
          </a:prstGeom>
          <a:noFill/>
        </p:spPr>
        <p:txBody>
          <a:bodyPr wrap="square" lIns="0" tIns="45720" rIns="0" bIns="45720" anchor="ctr"/>
          <a:lstStyle/>
          <a:p>
            <a:pPr algn="ctr"/>
            <a:r>
              <a:rPr lang="tr-TR" sz="1500" b="1" i="0">
                <a:solidFill>
                  <a:srgbClr val="FFFFFF"/>
                </a:solidFill>
                <a:latin typeface="Calibri"/>
              </a:rPr>
              <a:t>Medrese</a:t>
            </a:r>
          </a:p>
        </p:txBody>
      </p:sp>
      <p:pic>
        <p:nvPicPr>
          <p:cNvPr id="49" name="Picture 48" descr="1f4dc.png"/>
          <p:cNvPicPr>
            <a:picLocks noChangeAspect="1"/>
          </p:cNvPicPr>
          <p:nvPr/>
        </p:nvPicPr>
        <p:blipFill>
          <a:blip r:embed="rId8"/>
          <a:stretch>
            <a:fillRect/>
          </a:stretch>
        </p:blipFill>
        <p:spPr>
          <a:xfrm>
            <a:off x="7735824" y="1472184"/>
            <a:ext cx="457200" cy="457200"/>
          </a:xfrm>
          <a:prstGeom prst="rect">
            <a:avLst/>
          </a:prstGeom>
        </p:spPr>
      </p:pic>
      <p:sp>
        <p:nvSpPr>
          <p:cNvPr id="39" name="TextBox 38"/>
          <p:cNvSpPr txBox="1"/>
          <p:nvPr/>
        </p:nvSpPr>
        <p:spPr>
          <a:xfrm>
            <a:off x="7242048" y="2057400"/>
            <a:ext cx="1444752" cy="1051560"/>
          </a:xfrm>
          <a:prstGeom prst="rect">
            <a:avLst/>
          </a:prstGeom>
          <a:noFill/>
        </p:spPr>
        <p:txBody>
          <a:bodyPr wrap="square" lIns="73152" tIns="45720" rIns="73152" bIns="45720" anchor="t"/>
          <a:lstStyle/>
          <a:p>
            <a:pPr algn="ctr"/>
            <a:r>
              <a:rPr lang="tr-TR" sz="1250" b="0" i="0">
                <a:solidFill>
                  <a:srgbClr val="1E293B"/>
                </a:solidFill>
                <a:latin typeface="Calibri"/>
              </a:rPr>
              <a:t>Eskiden öğrencilerin okuduğu okul.</a:t>
            </a:r>
          </a:p>
        </p:txBody>
      </p:sp>
      <p:sp>
        <p:nvSpPr>
          <p:cNvPr id="40" name="Rounded Rectangle 39"/>
          <p:cNvSpPr/>
          <p:nvPr/>
        </p:nvSpPr>
        <p:spPr>
          <a:xfrm>
            <a:off x="7260336" y="3127248"/>
            <a:ext cx="1408176" cy="868680"/>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278624" y="3127248"/>
            <a:ext cx="1371600" cy="868680"/>
          </a:xfrm>
          <a:prstGeom prst="rect">
            <a:avLst/>
          </a:prstGeom>
          <a:noFill/>
        </p:spPr>
        <p:txBody>
          <a:bodyPr wrap="square" lIns="73152" tIns="45720" rIns="73152" bIns="45720" anchor="ctr"/>
          <a:lstStyle/>
          <a:p>
            <a:pPr algn="ctr"/>
            <a:r>
              <a:rPr lang="tr-TR" sz="1100" b="1" i="0">
                <a:solidFill>
                  <a:srgbClr val="16A34A"/>
                </a:solidFill>
                <a:latin typeface="Calibri"/>
              </a:rPr>
              <a:t>Örnek: </a:t>
            </a:r>
          </a:p>
          <a:p>
            <a:pPr algn="ctr"/>
            <a:r>
              <a:rPr lang="tr-TR" sz="1100" b="0" i="0">
                <a:solidFill>
                  <a:srgbClr val="1E293B"/>
                </a:solidFill>
                <a:latin typeface="Calibri"/>
              </a:rPr>
              <a:t>Çifte Minareli Medrese (Erzurum)</a:t>
            </a:r>
          </a:p>
        </p:txBody>
      </p:sp>
      <p:sp>
        <p:nvSpPr>
          <p:cNvPr id="42" name="Rounded Rectangle 41"/>
          <p:cNvSpPr/>
          <p:nvPr/>
        </p:nvSpPr>
        <p:spPr>
          <a:xfrm>
            <a:off x="1463040" y="4279392"/>
            <a:ext cx="6217920" cy="530352"/>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463040" y="4279392"/>
            <a:ext cx="6217920" cy="530352"/>
          </a:xfrm>
          <a:prstGeom prst="rect">
            <a:avLst/>
          </a:prstGeom>
          <a:noFill/>
        </p:spPr>
        <p:txBody>
          <a:bodyPr wrap="square" lIns="339850" tIns="45720" rIns="73152" bIns="45720" anchor="ctr"/>
          <a:lstStyle/>
          <a:p>
            <a:pPr algn="ctr"/>
            <a:r>
              <a:rPr lang="tr-TR" sz="1400" b="1" i="0">
                <a:solidFill>
                  <a:srgbClr val="FFFFFF"/>
                </a:solidFill>
                <a:latin typeface="Calibri"/>
              </a:rPr>
              <a:t>Oyun: “Ben neyim?” Öğretmen tarif etsin, sen mekânı bul!</a:t>
            </a:r>
          </a:p>
        </p:txBody>
      </p:sp>
      <p:pic>
        <p:nvPicPr>
          <p:cNvPr id="50" name="Picture 49" descr="1f3b2.png"/>
          <p:cNvPicPr>
            <a:picLocks noChangeAspect="1"/>
          </p:cNvPicPr>
          <p:nvPr/>
        </p:nvPicPr>
        <p:blipFill>
          <a:blip r:embed="rId9"/>
          <a:stretch>
            <a:fillRect/>
          </a:stretch>
        </p:blipFill>
        <p:spPr>
          <a:xfrm>
            <a:off x="2288687" y="4442333"/>
            <a:ext cx="204469" cy="2044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MEMLEKET DOSYASI: TRABZON</a:t>
            </a:r>
          </a:p>
        </p:txBody>
      </p:sp>
      <p:pic>
        <p:nvPicPr>
          <p:cNvPr id="32" name="Picture 31" descr="1f5fa_fe0f.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41248"/>
            <a:ext cx="2377440" cy="39776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960120"/>
            <a:ext cx="2377440" cy="640080"/>
          </a:xfrm>
          <a:prstGeom prst="rect">
            <a:avLst/>
          </a:prstGeom>
          <a:noFill/>
        </p:spPr>
        <p:txBody>
          <a:bodyPr wrap="square" lIns="73152" tIns="45720" rIns="73152" bIns="45720" anchor="ctr"/>
          <a:lstStyle/>
          <a:p>
            <a:pPr algn="ctr"/>
            <a:r>
              <a:rPr lang="tr-TR" sz="2800" b="1" i="0">
                <a:solidFill>
                  <a:srgbClr val="16A34A"/>
                </a:solidFill>
                <a:latin typeface="Cambria"/>
              </a:rPr>
              <a:t>Trabzon</a:t>
            </a:r>
          </a:p>
        </p:txBody>
      </p:sp>
      <p:sp>
        <p:nvSpPr>
          <p:cNvPr id="9" name="TextBox 8"/>
          <p:cNvSpPr txBox="1"/>
          <p:nvPr/>
        </p:nvSpPr>
        <p:spPr>
          <a:xfrm>
            <a:off x="502920" y="1600200"/>
            <a:ext cx="2194560" cy="365760"/>
          </a:xfrm>
          <a:prstGeom prst="rect">
            <a:avLst/>
          </a:prstGeom>
          <a:noFill/>
        </p:spPr>
        <p:txBody>
          <a:bodyPr wrap="square" lIns="73152" tIns="45720" rIns="73152" bIns="45720" anchor="ctr"/>
          <a:lstStyle/>
          <a:p>
            <a:pPr algn="ctr"/>
            <a:r>
              <a:rPr lang="tr-TR" sz="1400" b="1" i="0">
                <a:solidFill>
                  <a:srgbClr val="64748B"/>
                </a:solidFill>
                <a:latin typeface="Calibri"/>
              </a:rPr>
              <a:t>Karadeniz Bölgesi</a:t>
            </a:r>
          </a:p>
        </p:txBody>
      </p:sp>
      <p:pic>
        <p:nvPicPr>
          <p:cNvPr id="33" name="Picture 32" descr="26f0_fe0f.png"/>
          <p:cNvPicPr>
            <a:picLocks noChangeAspect="1"/>
          </p:cNvPicPr>
          <p:nvPr/>
        </p:nvPicPr>
        <p:blipFill>
          <a:blip r:embed="rId4"/>
          <a:stretch>
            <a:fillRect/>
          </a:stretch>
        </p:blipFill>
        <p:spPr>
          <a:xfrm>
            <a:off x="1143000" y="2148840"/>
            <a:ext cx="914400" cy="914400"/>
          </a:xfrm>
          <a:prstGeom prst="rect">
            <a:avLst/>
          </a:prstGeom>
        </p:spPr>
      </p:pic>
      <p:sp>
        <p:nvSpPr>
          <p:cNvPr id="11" name="TextBox 10"/>
          <p:cNvSpPr txBox="1"/>
          <p:nvPr/>
        </p:nvSpPr>
        <p:spPr>
          <a:xfrm>
            <a:off x="548640" y="3246120"/>
            <a:ext cx="2103120" cy="1463040"/>
          </a:xfrm>
          <a:prstGeom prst="rect">
            <a:avLst/>
          </a:prstGeom>
          <a:noFill/>
        </p:spPr>
        <p:txBody>
          <a:bodyPr wrap="square" lIns="73152" tIns="45720" rIns="73152" bIns="45720" anchor="ctr"/>
          <a:lstStyle/>
          <a:p>
            <a:pPr algn="ctr"/>
            <a:r>
              <a:rPr lang="tr-TR" sz="1400" b="1" i="1">
                <a:solidFill>
                  <a:srgbClr val="7C3AED"/>
                </a:solidFill>
                <a:latin typeface="Calibri"/>
              </a:rPr>
              <a:t>“Hemşehrim! Sen de mi Trabzonlusun?”</a:t>
            </a:r>
          </a:p>
        </p:txBody>
      </p:sp>
      <p:sp>
        <p:nvSpPr>
          <p:cNvPr id="12" name="Rounded Rectangle 11"/>
          <p:cNvSpPr/>
          <p:nvPr/>
        </p:nvSpPr>
        <p:spPr>
          <a:xfrm>
            <a:off x="2971800" y="841248"/>
            <a:ext cx="576072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1f4cd.png"/>
          <p:cNvPicPr>
            <a:picLocks noChangeAspect="1"/>
          </p:cNvPicPr>
          <p:nvPr/>
        </p:nvPicPr>
        <p:blipFill>
          <a:blip r:embed="rId5"/>
          <a:stretch>
            <a:fillRect/>
          </a:stretch>
        </p:blipFill>
        <p:spPr>
          <a:xfrm>
            <a:off x="3166872" y="1040892"/>
            <a:ext cx="304800" cy="304800"/>
          </a:xfrm>
          <a:prstGeom prst="rect">
            <a:avLst/>
          </a:prstGeom>
        </p:spPr>
      </p:pic>
      <p:sp>
        <p:nvSpPr>
          <p:cNvPr id="14" name="TextBox 13"/>
          <p:cNvSpPr txBox="1"/>
          <p:nvPr/>
        </p:nvSpPr>
        <p:spPr>
          <a:xfrm>
            <a:off x="3611880" y="841248"/>
            <a:ext cx="1508760" cy="704088"/>
          </a:xfrm>
          <a:prstGeom prst="rect">
            <a:avLst/>
          </a:prstGeom>
          <a:noFill/>
        </p:spPr>
        <p:txBody>
          <a:bodyPr wrap="square" lIns="73152" tIns="45720" rIns="73152" bIns="45720" anchor="ctr"/>
          <a:lstStyle/>
          <a:p>
            <a:pPr algn="l"/>
            <a:r>
              <a:rPr lang="tr-TR" sz="1400" b="1" i="0">
                <a:solidFill>
                  <a:srgbClr val="2563EB"/>
                </a:solidFill>
                <a:latin typeface="Calibri"/>
              </a:rPr>
              <a:t>Konum</a:t>
            </a:r>
          </a:p>
        </p:txBody>
      </p:sp>
      <p:sp>
        <p:nvSpPr>
          <p:cNvPr id="15" name="TextBox 14"/>
          <p:cNvSpPr txBox="1"/>
          <p:nvPr/>
        </p:nvSpPr>
        <p:spPr>
          <a:xfrm>
            <a:off x="5120640" y="841248"/>
            <a:ext cx="3566160" cy="704088"/>
          </a:xfrm>
          <a:prstGeom prst="rect">
            <a:avLst/>
          </a:prstGeom>
          <a:noFill/>
        </p:spPr>
        <p:txBody>
          <a:bodyPr wrap="square" lIns="73152" tIns="45720" rIns="73152" bIns="45720" anchor="ctr"/>
          <a:lstStyle/>
          <a:p>
            <a:pPr algn="l"/>
            <a:r>
              <a:rPr lang="tr-TR" sz="1350" b="0" i="0">
                <a:solidFill>
                  <a:srgbClr val="1E293B"/>
                </a:solidFill>
                <a:latin typeface="Calibri"/>
              </a:rPr>
              <a:t>Türkiye’nin kuzeydoğusunda, Karadeniz kıyısında bulunur.</a:t>
            </a:r>
          </a:p>
        </p:txBody>
      </p:sp>
      <p:sp>
        <p:nvSpPr>
          <p:cNvPr id="16" name="Rounded Rectangle 15"/>
          <p:cNvSpPr/>
          <p:nvPr/>
        </p:nvSpPr>
        <p:spPr>
          <a:xfrm>
            <a:off x="2971800" y="1650492"/>
            <a:ext cx="576072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1f326_fe0f.png"/>
          <p:cNvPicPr>
            <a:picLocks noChangeAspect="1"/>
          </p:cNvPicPr>
          <p:nvPr/>
        </p:nvPicPr>
        <p:blipFill>
          <a:blip r:embed="rId6"/>
          <a:stretch>
            <a:fillRect/>
          </a:stretch>
        </p:blipFill>
        <p:spPr>
          <a:xfrm>
            <a:off x="3166872" y="1850136"/>
            <a:ext cx="304800" cy="304800"/>
          </a:xfrm>
          <a:prstGeom prst="rect">
            <a:avLst/>
          </a:prstGeom>
        </p:spPr>
      </p:pic>
      <p:sp>
        <p:nvSpPr>
          <p:cNvPr id="18" name="TextBox 17"/>
          <p:cNvSpPr txBox="1"/>
          <p:nvPr/>
        </p:nvSpPr>
        <p:spPr>
          <a:xfrm>
            <a:off x="3611880" y="1650492"/>
            <a:ext cx="1508760" cy="704088"/>
          </a:xfrm>
          <a:prstGeom prst="rect">
            <a:avLst/>
          </a:prstGeom>
          <a:noFill/>
        </p:spPr>
        <p:txBody>
          <a:bodyPr wrap="square" lIns="73152" tIns="45720" rIns="73152" bIns="45720" anchor="ctr"/>
          <a:lstStyle/>
          <a:p>
            <a:pPr algn="l"/>
            <a:r>
              <a:rPr lang="tr-TR" sz="1400" b="1" i="0">
                <a:solidFill>
                  <a:srgbClr val="0D9488"/>
                </a:solidFill>
                <a:latin typeface="Calibri"/>
              </a:rPr>
              <a:t>İklim</a:t>
            </a:r>
          </a:p>
        </p:txBody>
      </p:sp>
      <p:sp>
        <p:nvSpPr>
          <p:cNvPr id="19" name="TextBox 18"/>
          <p:cNvSpPr txBox="1"/>
          <p:nvPr/>
        </p:nvSpPr>
        <p:spPr>
          <a:xfrm>
            <a:off x="5120640" y="1650492"/>
            <a:ext cx="3566160" cy="704088"/>
          </a:xfrm>
          <a:prstGeom prst="rect">
            <a:avLst/>
          </a:prstGeom>
          <a:noFill/>
        </p:spPr>
        <p:txBody>
          <a:bodyPr wrap="square" lIns="73152" tIns="45720" rIns="73152" bIns="45720" anchor="ctr"/>
          <a:lstStyle/>
          <a:p>
            <a:pPr algn="l"/>
            <a:r>
              <a:rPr lang="tr-TR" sz="1350" b="0" i="0">
                <a:solidFill>
                  <a:srgbClr val="1E293B"/>
                </a:solidFill>
                <a:latin typeface="Calibri"/>
              </a:rPr>
              <a:t>Her mevsim yağışlıdır. Yazları serin, kışları ılıktır.</a:t>
            </a:r>
          </a:p>
        </p:txBody>
      </p:sp>
      <p:sp>
        <p:nvSpPr>
          <p:cNvPr id="20" name="Rounded Rectangle 19"/>
          <p:cNvSpPr/>
          <p:nvPr/>
        </p:nvSpPr>
        <p:spPr>
          <a:xfrm>
            <a:off x="2971800" y="2459736"/>
            <a:ext cx="576072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1f3de_fe0f.png"/>
          <p:cNvPicPr>
            <a:picLocks noChangeAspect="1"/>
          </p:cNvPicPr>
          <p:nvPr/>
        </p:nvPicPr>
        <p:blipFill>
          <a:blip r:embed="rId7"/>
          <a:stretch>
            <a:fillRect/>
          </a:stretch>
        </p:blipFill>
        <p:spPr>
          <a:xfrm>
            <a:off x="3166872" y="2659380"/>
            <a:ext cx="304800" cy="304800"/>
          </a:xfrm>
          <a:prstGeom prst="rect">
            <a:avLst/>
          </a:prstGeom>
        </p:spPr>
      </p:pic>
      <p:sp>
        <p:nvSpPr>
          <p:cNvPr id="22" name="TextBox 21"/>
          <p:cNvSpPr txBox="1"/>
          <p:nvPr/>
        </p:nvSpPr>
        <p:spPr>
          <a:xfrm>
            <a:off x="3611880" y="2459736"/>
            <a:ext cx="1508760" cy="704088"/>
          </a:xfrm>
          <a:prstGeom prst="rect">
            <a:avLst/>
          </a:prstGeom>
          <a:noFill/>
        </p:spPr>
        <p:txBody>
          <a:bodyPr wrap="square" lIns="73152" tIns="45720" rIns="73152" bIns="45720" anchor="ctr"/>
          <a:lstStyle/>
          <a:p>
            <a:pPr algn="l"/>
            <a:r>
              <a:rPr lang="tr-TR" sz="1400" b="1" i="0">
                <a:solidFill>
                  <a:srgbClr val="16A34A"/>
                </a:solidFill>
                <a:latin typeface="Calibri"/>
              </a:rPr>
              <a:t>Doğal güzellik</a:t>
            </a:r>
          </a:p>
        </p:txBody>
      </p:sp>
      <p:sp>
        <p:nvSpPr>
          <p:cNvPr id="23" name="TextBox 22"/>
          <p:cNvSpPr txBox="1"/>
          <p:nvPr/>
        </p:nvSpPr>
        <p:spPr>
          <a:xfrm>
            <a:off x="5120640" y="2459736"/>
            <a:ext cx="3566160" cy="704088"/>
          </a:xfrm>
          <a:prstGeom prst="rect">
            <a:avLst/>
          </a:prstGeom>
          <a:noFill/>
        </p:spPr>
        <p:txBody>
          <a:bodyPr wrap="square" lIns="73152" tIns="45720" rIns="73152" bIns="45720" anchor="ctr"/>
          <a:lstStyle/>
          <a:p>
            <a:pPr algn="l"/>
            <a:r>
              <a:rPr lang="tr-TR" sz="1350" b="0" i="0">
                <a:solidFill>
                  <a:srgbClr val="1E293B"/>
                </a:solidFill>
                <a:latin typeface="Calibri"/>
              </a:rPr>
              <a:t>Yemyeşil dağları, yaylaları ve Uzungöl ile ünlüdür.</a:t>
            </a:r>
          </a:p>
        </p:txBody>
      </p:sp>
      <p:sp>
        <p:nvSpPr>
          <p:cNvPr id="24" name="Rounded Rectangle 23"/>
          <p:cNvSpPr/>
          <p:nvPr/>
        </p:nvSpPr>
        <p:spPr>
          <a:xfrm>
            <a:off x="2971800" y="3268980"/>
            <a:ext cx="576072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1f3db_fe0f.png"/>
          <p:cNvPicPr>
            <a:picLocks noChangeAspect="1"/>
          </p:cNvPicPr>
          <p:nvPr/>
        </p:nvPicPr>
        <p:blipFill>
          <a:blip r:embed="rId8"/>
          <a:stretch>
            <a:fillRect/>
          </a:stretch>
        </p:blipFill>
        <p:spPr>
          <a:xfrm>
            <a:off x="3166872" y="3468624"/>
            <a:ext cx="304800" cy="304800"/>
          </a:xfrm>
          <a:prstGeom prst="rect">
            <a:avLst/>
          </a:prstGeom>
        </p:spPr>
      </p:pic>
      <p:sp>
        <p:nvSpPr>
          <p:cNvPr id="26" name="TextBox 25"/>
          <p:cNvSpPr txBox="1"/>
          <p:nvPr/>
        </p:nvSpPr>
        <p:spPr>
          <a:xfrm>
            <a:off x="3611880" y="3268980"/>
            <a:ext cx="1508760" cy="704088"/>
          </a:xfrm>
          <a:prstGeom prst="rect">
            <a:avLst/>
          </a:prstGeom>
          <a:noFill/>
        </p:spPr>
        <p:txBody>
          <a:bodyPr wrap="square" lIns="73152" tIns="45720" rIns="73152" bIns="45720" anchor="ctr"/>
          <a:lstStyle/>
          <a:p>
            <a:pPr algn="l"/>
            <a:r>
              <a:rPr lang="tr-TR" sz="1400" b="1" i="0">
                <a:solidFill>
                  <a:srgbClr val="7C3AED"/>
                </a:solidFill>
                <a:latin typeface="Calibri"/>
              </a:rPr>
              <a:t>Tarihî yapı</a:t>
            </a:r>
          </a:p>
        </p:txBody>
      </p:sp>
      <p:sp>
        <p:nvSpPr>
          <p:cNvPr id="27" name="TextBox 26"/>
          <p:cNvSpPr txBox="1"/>
          <p:nvPr/>
        </p:nvSpPr>
        <p:spPr>
          <a:xfrm>
            <a:off x="5120640" y="3268980"/>
            <a:ext cx="3566160" cy="704088"/>
          </a:xfrm>
          <a:prstGeom prst="rect">
            <a:avLst/>
          </a:prstGeom>
          <a:noFill/>
        </p:spPr>
        <p:txBody>
          <a:bodyPr wrap="square" lIns="73152" tIns="45720" rIns="73152" bIns="45720" anchor="ctr"/>
          <a:lstStyle/>
          <a:p>
            <a:pPr algn="l"/>
            <a:r>
              <a:rPr lang="tr-TR" sz="1350" b="0" i="0">
                <a:solidFill>
                  <a:srgbClr val="1E293B"/>
                </a:solidFill>
                <a:latin typeface="Calibri"/>
              </a:rPr>
              <a:t>Dağın yamacındaki Sümela Manastırı çok meşhurdur.</a:t>
            </a:r>
          </a:p>
        </p:txBody>
      </p:sp>
      <p:sp>
        <p:nvSpPr>
          <p:cNvPr id="28" name="Rounded Rectangle 27"/>
          <p:cNvSpPr/>
          <p:nvPr/>
        </p:nvSpPr>
        <p:spPr>
          <a:xfrm>
            <a:off x="2971800" y="4078224"/>
            <a:ext cx="576072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1f37d_fe0f.png"/>
          <p:cNvPicPr>
            <a:picLocks noChangeAspect="1"/>
          </p:cNvPicPr>
          <p:nvPr/>
        </p:nvPicPr>
        <p:blipFill>
          <a:blip r:embed="rId9"/>
          <a:stretch>
            <a:fillRect/>
          </a:stretch>
        </p:blipFill>
        <p:spPr>
          <a:xfrm>
            <a:off x="3166872" y="4277868"/>
            <a:ext cx="304800" cy="304800"/>
          </a:xfrm>
          <a:prstGeom prst="rect">
            <a:avLst/>
          </a:prstGeom>
        </p:spPr>
      </p:pic>
      <p:sp>
        <p:nvSpPr>
          <p:cNvPr id="30" name="TextBox 29"/>
          <p:cNvSpPr txBox="1"/>
          <p:nvPr/>
        </p:nvSpPr>
        <p:spPr>
          <a:xfrm>
            <a:off x="3611880" y="4078224"/>
            <a:ext cx="1508760" cy="704088"/>
          </a:xfrm>
          <a:prstGeom prst="rect">
            <a:avLst/>
          </a:prstGeom>
          <a:noFill/>
        </p:spPr>
        <p:txBody>
          <a:bodyPr wrap="square" lIns="73152" tIns="45720" rIns="73152" bIns="45720" anchor="ctr"/>
          <a:lstStyle/>
          <a:p>
            <a:pPr algn="l"/>
            <a:r>
              <a:rPr lang="tr-TR" sz="1400" b="1" i="0">
                <a:solidFill>
                  <a:srgbClr val="F97316"/>
                </a:solidFill>
                <a:latin typeface="Calibri"/>
              </a:rPr>
              <a:t>Lezzet</a:t>
            </a:r>
          </a:p>
        </p:txBody>
      </p:sp>
      <p:sp>
        <p:nvSpPr>
          <p:cNvPr id="31" name="TextBox 30"/>
          <p:cNvSpPr txBox="1"/>
          <p:nvPr/>
        </p:nvSpPr>
        <p:spPr>
          <a:xfrm>
            <a:off x="5120640" y="4078224"/>
            <a:ext cx="3566160" cy="704088"/>
          </a:xfrm>
          <a:prstGeom prst="rect">
            <a:avLst/>
          </a:prstGeom>
          <a:noFill/>
        </p:spPr>
        <p:txBody>
          <a:bodyPr wrap="square" lIns="73152" tIns="45720" rIns="73152" bIns="45720" anchor="ctr"/>
          <a:lstStyle/>
          <a:p>
            <a:pPr algn="l"/>
            <a:r>
              <a:rPr lang="tr-TR" sz="1350" b="0" i="0">
                <a:solidFill>
                  <a:srgbClr val="1E293B"/>
                </a:solidFill>
                <a:latin typeface="Calibri"/>
              </a:rPr>
              <a:t>Hamsisi ve Akçaabat köftesi meşhurdur.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MEMLEKETİN İMZASI: COĞRAFİ İŞARET</a:t>
            </a:r>
          </a:p>
        </p:txBody>
      </p:sp>
      <p:pic>
        <p:nvPicPr>
          <p:cNvPr id="45" name="Picture 44" descr="1f3f7_fe0f.png"/>
          <p:cNvPicPr>
            <a:picLocks noChangeAspect="1"/>
          </p:cNvPicPr>
          <p:nvPr/>
        </p:nvPicPr>
        <p:blipFill>
          <a:blip r:embed="rId3"/>
          <a:stretch>
            <a:fillRect/>
          </a:stretch>
        </p:blipFill>
        <p:spPr>
          <a:xfrm>
            <a:off x="438912" y="190436"/>
            <a:ext cx="277495" cy="277495"/>
          </a:xfrm>
          <a:prstGeom prst="rect">
            <a:avLst/>
          </a:prstGeom>
        </p:spPr>
      </p:pic>
      <p:sp>
        <p:nvSpPr>
          <p:cNvPr id="7" name="TextBox 6"/>
          <p:cNvSpPr txBox="1"/>
          <p:nvPr/>
        </p:nvSpPr>
        <p:spPr>
          <a:xfrm>
            <a:off x="457200" y="731520"/>
            <a:ext cx="8229600" cy="457200"/>
          </a:xfrm>
          <a:prstGeom prst="rect">
            <a:avLst/>
          </a:prstGeom>
          <a:noFill/>
        </p:spPr>
        <p:txBody>
          <a:bodyPr wrap="square" lIns="73152" tIns="45720" rIns="73152" bIns="45720" anchor="ctr"/>
          <a:lstStyle/>
          <a:p>
            <a:pPr algn="ctr"/>
            <a:r>
              <a:rPr lang="tr-TR" sz="1500" b="1" i="0">
                <a:solidFill>
                  <a:srgbClr val="F97316"/>
                </a:solidFill>
                <a:latin typeface="Calibri"/>
              </a:rPr>
              <a:t>Coğrafi işaret: </a:t>
            </a:r>
            <a:r>
              <a:rPr lang="tr-TR" sz="1500" b="0" i="0">
                <a:solidFill>
                  <a:srgbClr val="1A2E5A"/>
                </a:solidFill>
                <a:latin typeface="Calibri"/>
              </a:rPr>
              <a:t>Bir ürünün o yere özgü olduğunu gösteren işarettir.</a:t>
            </a:r>
          </a:p>
        </p:txBody>
      </p:sp>
      <p:sp>
        <p:nvSpPr>
          <p:cNvPr id="8" name="Rounded Rectangle 7"/>
          <p:cNvSpPr/>
          <p:nvPr/>
        </p:nvSpPr>
        <p:spPr>
          <a:xfrm>
            <a:off x="411480" y="1261872"/>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411480" y="1261872"/>
            <a:ext cx="1965960" cy="310896"/>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1480" y="1261872"/>
            <a:ext cx="1965960" cy="310896"/>
          </a:xfrm>
          <a:prstGeom prst="rect">
            <a:avLst/>
          </a:prstGeom>
          <a:noFill/>
        </p:spPr>
        <p:txBody>
          <a:bodyPr wrap="square" lIns="0" tIns="45720" rIns="0" bIns="45720" anchor="ctr"/>
          <a:lstStyle/>
          <a:p>
            <a:pPr algn="ctr"/>
            <a:r>
              <a:rPr lang="tr-TR" sz="1050" b="1" i="0">
                <a:solidFill>
                  <a:srgbClr val="FFFFFF"/>
                </a:solidFill>
                <a:latin typeface="Calibri"/>
              </a:rPr>
              <a:t>Marmara</a:t>
            </a:r>
          </a:p>
        </p:txBody>
      </p:sp>
      <p:sp>
        <p:nvSpPr>
          <p:cNvPr id="11" name="TextBox 10"/>
          <p:cNvSpPr txBox="1"/>
          <p:nvPr/>
        </p:nvSpPr>
        <p:spPr>
          <a:xfrm>
            <a:off x="457200" y="1609344"/>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İznik çinisi</a:t>
            </a:r>
          </a:p>
        </p:txBody>
      </p:sp>
      <p:sp>
        <p:nvSpPr>
          <p:cNvPr id="12" name="TextBox 11"/>
          <p:cNvSpPr txBox="1"/>
          <p:nvPr/>
        </p:nvSpPr>
        <p:spPr>
          <a:xfrm>
            <a:off x="457200" y="2011680"/>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Bursa</a:t>
            </a:r>
          </a:p>
        </p:txBody>
      </p:sp>
      <p:sp>
        <p:nvSpPr>
          <p:cNvPr id="13" name="Rounded Rectangle 12"/>
          <p:cNvSpPr/>
          <p:nvPr/>
        </p:nvSpPr>
        <p:spPr>
          <a:xfrm>
            <a:off x="2514600" y="1261872"/>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2514600" y="1261872"/>
            <a:ext cx="1965960" cy="310896"/>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514600" y="1261872"/>
            <a:ext cx="1965960" cy="310896"/>
          </a:xfrm>
          <a:prstGeom prst="rect">
            <a:avLst/>
          </a:prstGeom>
          <a:noFill/>
        </p:spPr>
        <p:txBody>
          <a:bodyPr wrap="square" lIns="0" tIns="45720" rIns="0" bIns="45720" anchor="ctr"/>
          <a:lstStyle/>
          <a:p>
            <a:pPr algn="ctr"/>
            <a:r>
              <a:rPr lang="tr-TR" sz="1050" b="1" i="0">
                <a:solidFill>
                  <a:srgbClr val="FFFFFF"/>
                </a:solidFill>
                <a:latin typeface="Calibri"/>
              </a:rPr>
              <a:t>Ege</a:t>
            </a:r>
          </a:p>
        </p:txBody>
      </p:sp>
      <p:sp>
        <p:nvSpPr>
          <p:cNvPr id="16" name="TextBox 15"/>
          <p:cNvSpPr txBox="1"/>
          <p:nvPr/>
        </p:nvSpPr>
        <p:spPr>
          <a:xfrm>
            <a:off x="2560320" y="1609344"/>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Aydın inciri</a:t>
            </a:r>
          </a:p>
        </p:txBody>
      </p:sp>
      <p:sp>
        <p:nvSpPr>
          <p:cNvPr id="17" name="TextBox 16"/>
          <p:cNvSpPr txBox="1"/>
          <p:nvPr/>
        </p:nvSpPr>
        <p:spPr>
          <a:xfrm>
            <a:off x="2560320" y="2011680"/>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Aydın</a:t>
            </a:r>
          </a:p>
        </p:txBody>
      </p:sp>
      <p:sp>
        <p:nvSpPr>
          <p:cNvPr id="18" name="Rounded Rectangle 17"/>
          <p:cNvSpPr/>
          <p:nvPr/>
        </p:nvSpPr>
        <p:spPr>
          <a:xfrm>
            <a:off x="4617720" y="1261872"/>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617720" y="1261872"/>
            <a:ext cx="1965960" cy="310896"/>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617720" y="1261872"/>
            <a:ext cx="1965960" cy="310896"/>
          </a:xfrm>
          <a:prstGeom prst="rect">
            <a:avLst/>
          </a:prstGeom>
          <a:noFill/>
        </p:spPr>
        <p:txBody>
          <a:bodyPr wrap="square" lIns="0" tIns="45720" rIns="0" bIns="45720" anchor="ctr"/>
          <a:lstStyle/>
          <a:p>
            <a:pPr algn="ctr"/>
            <a:r>
              <a:rPr lang="tr-TR" sz="1050" b="1" i="0">
                <a:solidFill>
                  <a:srgbClr val="FFFFFF"/>
                </a:solidFill>
                <a:latin typeface="Calibri"/>
              </a:rPr>
              <a:t>Akdeniz</a:t>
            </a:r>
          </a:p>
        </p:txBody>
      </p:sp>
      <p:sp>
        <p:nvSpPr>
          <p:cNvPr id="21" name="TextBox 20"/>
          <p:cNvSpPr txBox="1"/>
          <p:nvPr/>
        </p:nvSpPr>
        <p:spPr>
          <a:xfrm>
            <a:off x="4663440" y="1609344"/>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Maraş dondurması</a:t>
            </a:r>
          </a:p>
        </p:txBody>
      </p:sp>
      <p:sp>
        <p:nvSpPr>
          <p:cNvPr id="22" name="TextBox 21"/>
          <p:cNvSpPr txBox="1"/>
          <p:nvPr/>
        </p:nvSpPr>
        <p:spPr>
          <a:xfrm>
            <a:off x="4663440" y="2011680"/>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Kahramanmaraş</a:t>
            </a:r>
          </a:p>
        </p:txBody>
      </p:sp>
      <p:sp>
        <p:nvSpPr>
          <p:cNvPr id="23" name="Rounded Rectangle 22"/>
          <p:cNvSpPr/>
          <p:nvPr/>
        </p:nvSpPr>
        <p:spPr>
          <a:xfrm>
            <a:off x="6720840" y="1261872"/>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720840" y="1261872"/>
            <a:ext cx="1965960" cy="310896"/>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20840" y="1261872"/>
            <a:ext cx="1965960" cy="310896"/>
          </a:xfrm>
          <a:prstGeom prst="rect">
            <a:avLst/>
          </a:prstGeom>
          <a:noFill/>
        </p:spPr>
        <p:txBody>
          <a:bodyPr wrap="square" lIns="0" tIns="45720" rIns="0" bIns="45720" anchor="ctr"/>
          <a:lstStyle/>
          <a:p>
            <a:pPr algn="ctr"/>
            <a:r>
              <a:rPr lang="tr-TR" sz="1050" b="1" i="0">
                <a:solidFill>
                  <a:srgbClr val="FFFFFF"/>
                </a:solidFill>
                <a:latin typeface="Calibri"/>
              </a:rPr>
              <a:t>İç Anadolu</a:t>
            </a:r>
          </a:p>
        </p:txBody>
      </p:sp>
      <p:sp>
        <p:nvSpPr>
          <p:cNvPr id="26" name="TextBox 25"/>
          <p:cNvSpPr txBox="1"/>
          <p:nvPr/>
        </p:nvSpPr>
        <p:spPr>
          <a:xfrm>
            <a:off x="6766560" y="1609344"/>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Sivas kangalı</a:t>
            </a:r>
          </a:p>
        </p:txBody>
      </p:sp>
      <p:sp>
        <p:nvSpPr>
          <p:cNvPr id="27" name="TextBox 26"/>
          <p:cNvSpPr txBox="1"/>
          <p:nvPr/>
        </p:nvSpPr>
        <p:spPr>
          <a:xfrm>
            <a:off x="6766560" y="2011680"/>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Sivas</a:t>
            </a:r>
          </a:p>
        </p:txBody>
      </p:sp>
      <p:sp>
        <p:nvSpPr>
          <p:cNvPr id="28" name="Rounded Rectangle 27"/>
          <p:cNvSpPr/>
          <p:nvPr/>
        </p:nvSpPr>
        <p:spPr>
          <a:xfrm>
            <a:off x="1463040" y="2514600"/>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1463040" y="2514600"/>
            <a:ext cx="1965960" cy="310896"/>
          </a:xfrm>
          <a:prstGeom prst="roundRect">
            <a:avLst>
              <a:gd name="adj" fmla="val 2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463040" y="2514600"/>
            <a:ext cx="1965960" cy="310896"/>
          </a:xfrm>
          <a:prstGeom prst="rect">
            <a:avLst/>
          </a:prstGeom>
          <a:noFill/>
        </p:spPr>
        <p:txBody>
          <a:bodyPr wrap="square" lIns="0" tIns="45720" rIns="0" bIns="45720" anchor="ctr"/>
          <a:lstStyle/>
          <a:p>
            <a:pPr algn="ctr"/>
            <a:r>
              <a:rPr lang="tr-TR" sz="1050" b="1" i="0">
                <a:solidFill>
                  <a:srgbClr val="FFFFFF"/>
                </a:solidFill>
                <a:latin typeface="Calibri"/>
              </a:rPr>
              <a:t>Karadeniz</a:t>
            </a:r>
          </a:p>
        </p:txBody>
      </p:sp>
      <p:sp>
        <p:nvSpPr>
          <p:cNvPr id="31" name="TextBox 30"/>
          <p:cNvSpPr txBox="1"/>
          <p:nvPr/>
        </p:nvSpPr>
        <p:spPr>
          <a:xfrm>
            <a:off x="1508760" y="2862072"/>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Taşköprü sarımsağı</a:t>
            </a:r>
          </a:p>
        </p:txBody>
      </p:sp>
      <p:sp>
        <p:nvSpPr>
          <p:cNvPr id="32" name="TextBox 31"/>
          <p:cNvSpPr txBox="1"/>
          <p:nvPr/>
        </p:nvSpPr>
        <p:spPr>
          <a:xfrm>
            <a:off x="1508760" y="3264408"/>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Kastamonu</a:t>
            </a:r>
          </a:p>
        </p:txBody>
      </p:sp>
      <p:sp>
        <p:nvSpPr>
          <p:cNvPr id="33" name="Rounded Rectangle 32"/>
          <p:cNvSpPr/>
          <p:nvPr/>
        </p:nvSpPr>
        <p:spPr>
          <a:xfrm>
            <a:off x="3566160" y="2514600"/>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3566160" y="2514600"/>
            <a:ext cx="1965960" cy="310896"/>
          </a:xfrm>
          <a:prstGeom prst="roundRect">
            <a:avLst>
              <a:gd name="adj" fmla="val 2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566160" y="2514600"/>
            <a:ext cx="1965960" cy="310896"/>
          </a:xfrm>
          <a:prstGeom prst="rect">
            <a:avLst/>
          </a:prstGeom>
          <a:noFill/>
        </p:spPr>
        <p:txBody>
          <a:bodyPr wrap="square" lIns="0" tIns="45720" rIns="0" bIns="45720" anchor="ctr"/>
          <a:lstStyle/>
          <a:p>
            <a:pPr algn="ctr"/>
            <a:r>
              <a:rPr lang="tr-TR" sz="1050" b="1" i="0">
                <a:solidFill>
                  <a:srgbClr val="FFFFFF"/>
                </a:solidFill>
                <a:latin typeface="Calibri"/>
              </a:rPr>
              <a:t>Doğu Anadolu</a:t>
            </a:r>
          </a:p>
        </p:txBody>
      </p:sp>
      <p:sp>
        <p:nvSpPr>
          <p:cNvPr id="36" name="TextBox 35"/>
          <p:cNvSpPr txBox="1"/>
          <p:nvPr/>
        </p:nvSpPr>
        <p:spPr>
          <a:xfrm>
            <a:off x="3611880" y="2862072"/>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Malatya kayısısı</a:t>
            </a:r>
          </a:p>
        </p:txBody>
      </p:sp>
      <p:sp>
        <p:nvSpPr>
          <p:cNvPr id="37" name="TextBox 36"/>
          <p:cNvSpPr txBox="1"/>
          <p:nvPr/>
        </p:nvSpPr>
        <p:spPr>
          <a:xfrm>
            <a:off x="3611880" y="3264408"/>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Malatya</a:t>
            </a:r>
          </a:p>
        </p:txBody>
      </p:sp>
      <p:sp>
        <p:nvSpPr>
          <p:cNvPr id="38" name="Rounded Rectangle 37"/>
          <p:cNvSpPr/>
          <p:nvPr/>
        </p:nvSpPr>
        <p:spPr>
          <a:xfrm>
            <a:off x="5669280" y="2514600"/>
            <a:ext cx="196596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5669280" y="2514600"/>
            <a:ext cx="1965960" cy="310896"/>
          </a:xfrm>
          <a:prstGeom prst="roundRect">
            <a:avLst>
              <a:gd name="adj" fmla="val 2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0" y="2514600"/>
            <a:ext cx="1965960" cy="310896"/>
          </a:xfrm>
          <a:prstGeom prst="rect">
            <a:avLst/>
          </a:prstGeom>
          <a:noFill/>
        </p:spPr>
        <p:txBody>
          <a:bodyPr wrap="square" lIns="0" tIns="45720" rIns="0" bIns="45720" anchor="ctr"/>
          <a:lstStyle/>
          <a:p>
            <a:pPr algn="ctr"/>
            <a:r>
              <a:rPr lang="tr-TR" sz="1050" b="1" i="0">
                <a:solidFill>
                  <a:srgbClr val="FFFFFF"/>
                </a:solidFill>
                <a:latin typeface="Calibri"/>
              </a:rPr>
              <a:t>Güneydoğu Anadolu</a:t>
            </a:r>
          </a:p>
        </p:txBody>
      </p:sp>
      <p:sp>
        <p:nvSpPr>
          <p:cNvPr id="41" name="TextBox 40"/>
          <p:cNvSpPr txBox="1"/>
          <p:nvPr/>
        </p:nvSpPr>
        <p:spPr>
          <a:xfrm>
            <a:off x="5715000" y="2862072"/>
            <a:ext cx="1874520" cy="457200"/>
          </a:xfrm>
          <a:prstGeom prst="rect">
            <a:avLst/>
          </a:prstGeom>
          <a:noFill/>
        </p:spPr>
        <p:txBody>
          <a:bodyPr wrap="square" lIns="73152" tIns="45720" rIns="73152" bIns="45720" anchor="ctr"/>
          <a:lstStyle/>
          <a:p>
            <a:pPr algn="ctr"/>
            <a:r>
              <a:rPr lang="tr-TR" sz="1500" b="1" i="0">
                <a:solidFill>
                  <a:srgbClr val="1E293B"/>
                </a:solidFill>
                <a:latin typeface="Calibri"/>
              </a:rPr>
              <a:t>Antep baklavası</a:t>
            </a:r>
          </a:p>
        </p:txBody>
      </p:sp>
      <p:sp>
        <p:nvSpPr>
          <p:cNvPr id="42" name="TextBox 41"/>
          <p:cNvSpPr txBox="1"/>
          <p:nvPr/>
        </p:nvSpPr>
        <p:spPr>
          <a:xfrm>
            <a:off x="5715000" y="3264408"/>
            <a:ext cx="1874520" cy="310896"/>
          </a:xfrm>
          <a:prstGeom prst="rect">
            <a:avLst/>
          </a:prstGeom>
          <a:noFill/>
        </p:spPr>
        <p:txBody>
          <a:bodyPr wrap="square" lIns="73152" tIns="45720" rIns="73152" bIns="45720" anchor="ctr"/>
          <a:lstStyle/>
          <a:p>
            <a:pPr algn="ctr"/>
            <a:r>
              <a:rPr lang="tr-TR" sz="1200" b="0" i="1">
                <a:solidFill>
                  <a:srgbClr val="64748B"/>
                </a:solidFill>
                <a:latin typeface="Calibri"/>
              </a:rPr>
              <a:t>Gaziantep</a:t>
            </a:r>
          </a:p>
        </p:txBody>
      </p:sp>
      <p:sp>
        <p:nvSpPr>
          <p:cNvPr id="43" name="Rounded Rectangle 42"/>
          <p:cNvSpPr/>
          <p:nvPr/>
        </p:nvSpPr>
        <p:spPr>
          <a:xfrm>
            <a:off x="411480" y="3822192"/>
            <a:ext cx="8321040" cy="10058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94360" y="3822192"/>
            <a:ext cx="7955280" cy="1005840"/>
          </a:xfrm>
          <a:prstGeom prst="rect">
            <a:avLst/>
          </a:prstGeom>
          <a:noFill/>
        </p:spPr>
        <p:txBody>
          <a:bodyPr wrap="square" lIns="73152" tIns="45720" rIns="73152" bIns="45720" anchor="ctr"/>
          <a:lstStyle/>
          <a:p>
            <a:pPr algn="ctr">
              <a:lnSpc>
                <a:spcPct val="120000"/>
              </a:lnSpc>
            </a:pPr>
            <a:r>
              <a:rPr lang="tr-TR" sz="1400" b="1" i="0">
                <a:solidFill>
                  <a:srgbClr val="F97316"/>
                </a:solidFill>
                <a:latin typeface="Calibri"/>
              </a:rPr>
              <a:t>Lezzet durağı: </a:t>
            </a:r>
            <a:r>
              <a:rPr lang="tr-TR" sz="1400" b="1" i="0">
                <a:solidFill>
                  <a:srgbClr val="1E293B"/>
                </a:solidFill>
                <a:latin typeface="Calibri"/>
              </a:rPr>
              <a:t>Adana kebap, Susurluk ayranı, Antakya künefesi, Silifke yoğurdu…</a:t>
            </a:r>
          </a:p>
          <a:p>
            <a:pPr algn="ctr">
              <a:lnSpc>
                <a:spcPct val="120000"/>
              </a:lnSpc>
            </a:pPr>
            <a:r>
              <a:rPr lang="tr-TR" sz="1400" b="1" i="1">
                <a:solidFill>
                  <a:srgbClr val="16A34A"/>
                </a:solidFill>
                <a:latin typeface="Calibri"/>
              </a:rPr>
              <a:t>Her memleketin bir imzası var. Seninkinin imzası 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DİL İSKELETİ: MEMLEKETİMİ TANITIYORUM</a:t>
            </a:r>
          </a:p>
        </p:txBody>
      </p:sp>
      <p:pic>
        <p:nvPicPr>
          <p:cNvPr id="13" name="Picture 12" descr="1f9e9.png"/>
          <p:cNvPicPr>
            <a:picLocks noChangeAspect="1"/>
          </p:cNvPicPr>
          <p:nvPr/>
        </p:nvPicPr>
        <p:blipFill>
          <a:blip r:embed="rId3"/>
          <a:stretch>
            <a:fillRect/>
          </a:stretch>
        </p:blipFill>
        <p:spPr>
          <a:xfrm>
            <a:off x="438912" y="190436"/>
            <a:ext cx="277495" cy="277495"/>
          </a:xfrm>
          <a:prstGeom prst="rect">
            <a:avLst/>
          </a:prstGeom>
        </p:spPr>
      </p:pic>
      <p:sp>
        <p:nvSpPr>
          <p:cNvPr id="5" name="Rounded Rectangle 4"/>
          <p:cNvSpPr/>
          <p:nvPr/>
        </p:nvSpPr>
        <p:spPr>
          <a:xfrm>
            <a:off x="7770571" y="155448"/>
            <a:ext cx="1144829"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0571" y="155448"/>
            <a:ext cx="1144829" cy="347472"/>
          </a:xfrm>
          <a:prstGeom prst="rect">
            <a:avLst/>
          </a:prstGeom>
          <a:noFill/>
        </p:spPr>
        <p:txBody>
          <a:bodyPr wrap="square" lIns="18288" tIns="45720" rIns="18288" bIns="45720" anchor="ctr"/>
          <a:lstStyle/>
          <a:p>
            <a:pPr algn="ctr"/>
            <a:r>
              <a:rPr lang="tr-TR" sz="1000" b="1" i="0">
                <a:solidFill>
                  <a:srgbClr val="1A2E5A"/>
                </a:solidFill>
                <a:latin typeface="Calibri"/>
              </a:rPr>
              <a:t>6. Seviye: 3B1</a:t>
            </a:r>
          </a:p>
        </p:txBody>
      </p:sp>
      <p:sp>
        <p:nvSpPr>
          <p:cNvPr id="7" name="Rounded Rectangle 6"/>
          <p:cNvSpPr/>
          <p:nvPr/>
        </p:nvSpPr>
        <p:spPr>
          <a:xfrm>
            <a:off x="457200" y="822960"/>
            <a:ext cx="8229600" cy="2103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822960"/>
            <a:ext cx="7772400" cy="2103120"/>
          </a:xfrm>
          <a:prstGeom prst="rect">
            <a:avLst/>
          </a:prstGeom>
          <a:noFill/>
        </p:spPr>
        <p:txBody>
          <a:bodyPr wrap="square" lIns="73152" tIns="45720" rIns="73152" bIns="45720" anchor="ctr"/>
          <a:lstStyle/>
          <a:p>
            <a:pPr algn="l">
              <a:lnSpc>
                <a:spcPct val="130000"/>
              </a:lnSpc>
            </a:pPr>
            <a:r>
              <a:rPr lang="tr-TR" sz="1700" b="1" i="0">
                <a:solidFill>
                  <a:srgbClr val="1A2E5A"/>
                </a:solidFill>
                <a:latin typeface="Calibri"/>
              </a:rPr>
              <a:t>Memleketim </a:t>
            </a:r>
            <a:r>
              <a:rPr lang="tr-TR" sz="1700" b="1" i="0">
                <a:solidFill>
                  <a:srgbClr val="2563EB"/>
                </a:solidFill>
                <a:latin typeface="Calibri"/>
              </a:rPr>
              <a:t>______</a:t>
            </a:r>
            <a:r>
              <a:rPr lang="tr-TR" sz="1700" b="1" i="0">
                <a:solidFill>
                  <a:srgbClr val="1A2E5A"/>
                </a:solidFill>
                <a:latin typeface="Calibri"/>
              </a:rPr>
              <a:t>. </a:t>
            </a:r>
            <a:r>
              <a:rPr lang="tr-TR" sz="1700" b="1" i="0">
                <a:solidFill>
                  <a:srgbClr val="2563EB"/>
                </a:solidFill>
                <a:latin typeface="Calibri"/>
              </a:rPr>
              <a:t>______ Bölgesi’nde bulunur.</a:t>
            </a:r>
          </a:p>
          <a:p>
            <a:pPr algn="l">
              <a:lnSpc>
                <a:spcPct val="130000"/>
              </a:lnSpc>
            </a:pPr>
            <a:r>
              <a:rPr lang="tr-TR" sz="1700" b="1" i="0">
                <a:solidFill>
                  <a:srgbClr val="1A2E5A"/>
                </a:solidFill>
                <a:latin typeface="Calibri"/>
              </a:rPr>
              <a:t>İklimi </a:t>
            </a:r>
            <a:r>
              <a:rPr lang="tr-TR" sz="1700" b="1" i="0">
                <a:solidFill>
                  <a:srgbClr val="2563EB"/>
                </a:solidFill>
                <a:latin typeface="Calibri"/>
              </a:rPr>
              <a:t>______</a:t>
            </a:r>
            <a:r>
              <a:rPr lang="tr-TR" sz="1700" b="1" i="0">
                <a:solidFill>
                  <a:srgbClr val="1A2E5A"/>
                </a:solidFill>
                <a:latin typeface="Calibri"/>
              </a:rPr>
              <a:t>; yazları ______, kışları ______.</a:t>
            </a:r>
          </a:p>
          <a:p>
            <a:pPr algn="l">
              <a:lnSpc>
                <a:spcPct val="130000"/>
              </a:lnSpc>
            </a:pPr>
            <a:r>
              <a:rPr lang="tr-TR" sz="1700" b="1" i="0">
                <a:solidFill>
                  <a:srgbClr val="1A2E5A"/>
                </a:solidFill>
                <a:latin typeface="Calibri"/>
              </a:rPr>
              <a:t>______ </a:t>
            </a:r>
            <a:r>
              <a:rPr lang="tr-TR" sz="1700" b="1" i="0">
                <a:solidFill>
                  <a:srgbClr val="2563EB"/>
                </a:solidFill>
                <a:latin typeface="Calibri"/>
              </a:rPr>
              <a:t>ile ünlüdür</a:t>
            </a:r>
            <a:r>
              <a:rPr lang="tr-TR" sz="1700" b="1" i="0">
                <a:solidFill>
                  <a:srgbClr val="1A2E5A"/>
                </a:solidFill>
                <a:latin typeface="Calibri"/>
              </a:rPr>
              <a:t>. En meşhur yemeği ______.</a:t>
            </a:r>
          </a:p>
          <a:p>
            <a:pPr algn="l">
              <a:lnSpc>
                <a:spcPct val="130000"/>
              </a:lnSpc>
            </a:pPr>
            <a:r>
              <a:rPr lang="tr-TR" sz="1700" b="1" i="0">
                <a:solidFill>
                  <a:srgbClr val="F97316"/>
                </a:solidFill>
                <a:latin typeface="Calibri"/>
              </a:rPr>
              <a:t>Bence / Bana göre</a:t>
            </a:r>
            <a:r>
              <a:rPr lang="tr-TR" sz="1700" b="1" i="0">
                <a:solidFill>
                  <a:srgbClr val="1A2E5A"/>
                </a:solidFill>
                <a:latin typeface="Calibri"/>
              </a:rPr>
              <a:t> en güzel yeri ______ </a:t>
            </a:r>
            <a:r>
              <a:rPr lang="tr-TR" sz="1700" b="1" i="0">
                <a:solidFill>
                  <a:srgbClr val="F97316"/>
                </a:solidFill>
                <a:latin typeface="Calibri"/>
              </a:rPr>
              <a:t>çünkü</a:t>
            </a:r>
            <a:r>
              <a:rPr lang="tr-TR" sz="1700" b="1" i="0">
                <a:solidFill>
                  <a:srgbClr val="1A2E5A"/>
                </a:solidFill>
                <a:latin typeface="Calibri"/>
              </a:rPr>
              <a:t> ______.</a:t>
            </a:r>
          </a:p>
        </p:txBody>
      </p:sp>
      <p:sp>
        <p:nvSpPr>
          <p:cNvPr id="9" name="Rounded Rectangle 8"/>
          <p:cNvSpPr/>
          <p:nvPr/>
        </p:nvSpPr>
        <p:spPr>
          <a:xfrm>
            <a:off x="457200" y="3035808"/>
            <a:ext cx="1737360" cy="36576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200" y="3035808"/>
            <a:ext cx="1737360" cy="365760"/>
          </a:xfrm>
          <a:prstGeom prst="rect">
            <a:avLst/>
          </a:prstGeom>
          <a:noFill/>
        </p:spPr>
        <p:txBody>
          <a:bodyPr wrap="square" lIns="320800" tIns="45720" rIns="73152" bIns="45720" anchor="ctr"/>
          <a:lstStyle/>
          <a:p>
            <a:pPr algn="ctr"/>
            <a:r>
              <a:rPr lang="tr-TR" sz="1300" b="1" i="0">
                <a:solidFill>
                  <a:srgbClr val="FFFFFF"/>
                </a:solidFill>
                <a:latin typeface="Calibri"/>
              </a:rPr>
              <a:t>Örnek</a:t>
            </a:r>
          </a:p>
        </p:txBody>
      </p:sp>
      <p:pic>
        <p:nvPicPr>
          <p:cNvPr id="14" name="Picture 13" descr="2705.png"/>
          <p:cNvPicPr>
            <a:picLocks noChangeAspect="1"/>
          </p:cNvPicPr>
          <p:nvPr/>
        </p:nvPicPr>
        <p:blipFill>
          <a:blip r:embed="rId4"/>
          <a:stretch>
            <a:fillRect/>
          </a:stretch>
        </p:blipFill>
        <p:spPr>
          <a:xfrm>
            <a:off x="991405" y="3123756"/>
            <a:ext cx="189864" cy="189864"/>
          </a:xfrm>
          <a:prstGeom prst="rect">
            <a:avLst/>
          </a:prstGeom>
        </p:spPr>
      </p:pic>
      <p:sp>
        <p:nvSpPr>
          <p:cNvPr id="11" name="Rounded Rectangle 10"/>
          <p:cNvSpPr/>
          <p:nvPr/>
        </p:nvSpPr>
        <p:spPr>
          <a:xfrm>
            <a:off x="457200" y="3493008"/>
            <a:ext cx="8229600" cy="1325880"/>
          </a:xfrm>
          <a:prstGeom prst="roundRect">
            <a:avLst>
              <a:gd name="adj" fmla="val 12000"/>
            </a:avLst>
          </a:prstGeom>
          <a:solidFill>
            <a:srgbClr val="DCFCE7"/>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493008"/>
            <a:ext cx="7680960" cy="1325880"/>
          </a:xfrm>
          <a:prstGeom prst="rect">
            <a:avLst/>
          </a:prstGeom>
          <a:noFill/>
        </p:spPr>
        <p:txBody>
          <a:bodyPr wrap="square" lIns="73152" tIns="45720" rIns="73152" bIns="45720" anchor="ctr"/>
          <a:lstStyle/>
          <a:p>
            <a:pPr algn="l"/>
            <a:r>
              <a:rPr lang="tr-TR" sz="1450" b="0" i="1">
                <a:solidFill>
                  <a:srgbClr val="1A2E5A"/>
                </a:solidFill>
                <a:latin typeface="Calibri"/>
              </a:rPr>
              <a:t>“Memleketim Trabzon. Karadeniz Bölgesi’nde bulunur. İklimi yağışlıdır; yazları serin, kışları ılıktır. Uzungöl ve Sümela Manastırı ile ünlüdür. En meşhur yemeği hamsidir. Bana göre en güzel yeri Uzungöl’dür çünkü her yer yemyeşildir.”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İKİ ŞEHRİM: MEMLEKETİM VE YAŞADIĞIM YER</a:t>
            </a:r>
          </a:p>
        </p:txBody>
      </p:sp>
      <p:pic>
        <p:nvPicPr>
          <p:cNvPr id="31" name="Picture 30" descr="2696_fe0f.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04672"/>
            <a:ext cx="8321040" cy="457200"/>
          </a:xfrm>
          <a:prstGeom prst="roundRect">
            <a:avLst>
              <a:gd name="adj" fmla="val 15000"/>
            </a:avLst>
          </a:prstGeom>
          <a:solidFill>
            <a:srgbClr val="1A2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804672"/>
            <a:ext cx="1737360" cy="457200"/>
          </a:xfrm>
          <a:prstGeom prst="rect">
            <a:avLst/>
          </a:prstGeom>
          <a:noFill/>
        </p:spPr>
        <p:txBody>
          <a:bodyPr wrap="square" lIns="73152" tIns="45720" rIns="73152" bIns="45720" anchor="ctr"/>
          <a:lstStyle/>
          <a:p>
            <a:pPr algn="ctr"/>
            <a:endParaRPr/>
          </a:p>
        </p:txBody>
      </p:sp>
      <p:sp>
        <p:nvSpPr>
          <p:cNvPr id="9" name="TextBox 8"/>
          <p:cNvSpPr txBox="1"/>
          <p:nvPr/>
        </p:nvSpPr>
        <p:spPr>
          <a:xfrm>
            <a:off x="2148840" y="804672"/>
            <a:ext cx="3291840" cy="457200"/>
          </a:xfrm>
          <a:prstGeom prst="rect">
            <a:avLst/>
          </a:prstGeom>
          <a:noFill/>
        </p:spPr>
        <p:txBody>
          <a:bodyPr wrap="square" lIns="73152" tIns="45720" rIns="73152" bIns="45720" anchor="ctr"/>
          <a:lstStyle/>
          <a:p>
            <a:pPr algn="ctr"/>
            <a:r>
              <a:rPr lang="tr-TR" sz="1400" b="1" i="0">
                <a:solidFill>
                  <a:srgbClr val="FBBF24"/>
                </a:solidFill>
                <a:latin typeface="Calibri"/>
              </a:rPr>
              <a:t>Trabzon (memleketim)</a:t>
            </a:r>
          </a:p>
        </p:txBody>
      </p:sp>
      <p:sp>
        <p:nvSpPr>
          <p:cNvPr id="10" name="TextBox 9"/>
          <p:cNvSpPr txBox="1"/>
          <p:nvPr/>
        </p:nvSpPr>
        <p:spPr>
          <a:xfrm>
            <a:off x="5440680" y="804672"/>
            <a:ext cx="3291840" cy="457200"/>
          </a:xfrm>
          <a:prstGeom prst="rect">
            <a:avLst/>
          </a:prstGeom>
          <a:noFill/>
        </p:spPr>
        <p:txBody>
          <a:bodyPr wrap="square" lIns="73152" tIns="45720" rIns="73152" bIns="45720" anchor="ctr"/>
          <a:lstStyle/>
          <a:p>
            <a:pPr algn="ctr"/>
            <a:r>
              <a:rPr lang="tr-TR" sz="1400" b="1" i="0">
                <a:solidFill>
                  <a:srgbClr val="FBBF24"/>
                </a:solidFill>
                <a:latin typeface="Calibri"/>
              </a:rPr>
              <a:t>Rotterdam (yaşadığım yer)</a:t>
            </a:r>
          </a:p>
        </p:txBody>
      </p:sp>
      <p:sp>
        <p:nvSpPr>
          <p:cNvPr id="11" name="Rounded Rectangle 10"/>
          <p:cNvSpPr/>
          <p:nvPr/>
        </p:nvSpPr>
        <p:spPr>
          <a:xfrm>
            <a:off x="411480" y="1335024"/>
            <a:ext cx="8321040"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02920" y="1335024"/>
            <a:ext cx="1645920" cy="475488"/>
          </a:xfrm>
          <a:prstGeom prst="rect">
            <a:avLst/>
          </a:prstGeom>
          <a:noFill/>
        </p:spPr>
        <p:txBody>
          <a:bodyPr wrap="square" lIns="73152" tIns="45720" rIns="73152" bIns="45720" anchor="ctr"/>
          <a:lstStyle/>
          <a:p>
            <a:pPr algn="l"/>
            <a:r>
              <a:rPr lang="tr-TR" sz="1350" b="1" i="0">
                <a:solidFill>
                  <a:srgbClr val="7C3AED"/>
                </a:solidFill>
                <a:latin typeface="Calibri"/>
              </a:rPr>
              <a:t>İklim</a:t>
            </a:r>
          </a:p>
        </p:txBody>
      </p:sp>
      <p:sp>
        <p:nvSpPr>
          <p:cNvPr id="13" name="TextBox 12"/>
          <p:cNvSpPr txBox="1"/>
          <p:nvPr/>
        </p:nvSpPr>
        <p:spPr>
          <a:xfrm>
            <a:off x="2148840" y="133502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Yağışlı ve yemyeşil</a:t>
            </a:r>
          </a:p>
        </p:txBody>
      </p:sp>
      <p:sp>
        <p:nvSpPr>
          <p:cNvPr id="14" name="TextBox 13"/>
          <p:cNvSpPr txBox="1"/>
          <p:nvPr/>
        </p:nvSpPr>
        <p:spPr>
          <a:xfrm>
            <a:off x="5440680" y="133502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Rüzgârlı ve yağışlı</a:t>
            </a:r>
          </a:p>
        </p:txBody>
      </p:sp>
      <p:sp>
        <p:nvSpPr>
          <p:cNvPr id="15" name="Rounded Rectangle 14"/>
          <p:cNvSpPr/>
          <p:nvPr/>
        </p:nvSpPr>
        <p:spPr>
          <a:xfrm>
            <a:off x="411480" y="1883664"/>
            <a:ext cx="8321040"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02920" y="1883664"/>
            <a:ext cx="1645920" cy="475488"/>
          </a:xfrm>
          <a:prstGeom prst="rect">
            <a:avLst/>
          </a:prstGeom>
          <a:noFill/>
        </p:spPr>
        <p:txBody>
          <a:bodyPr wrap="square" lIns="73152" tIns="45720" rIns="73152" bIns="45720" anchor="ctr"/>
          <a:lstStyle/>
          <a:p>
            <a:pPr algn="l"/>
            <a:r>
              <a:rPr lang="tr-TR" sz="1350" b="1" i="0">
                <a:solidFill>
                  <a:srgbClr val="7C3AED"/>
                </a:solidFill>
                <a:latin typeface="Calibri"/>
              </a:rPr>
              <a:t>Yemek</a:t>
            </a:r>
          </a:p>
        </p:txBody>
      </p:sp>
      <p:sp>
        <p:nvSpPr>
          <p:cNvPr id="17" name="TextBox 16"/>
          <p:cNvSpPr txBox="1"/>
          <p:nvPr/>
        </p:nvSpPr>
        <p:spPr>
          <a:xfrm>
            <a:off x="2148840" y="188366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Hamsi, Akçaabat köftesi</a:t>
            </a:r>
          </a:p>
        </p:txBody>
      </p:sp>
      <p:sp>
        <p:nvSpPr>
          <p:cNvPr id="18" name="TextBox 17"/>
          <p:cNvSpPr txBox="1"/>
          <p:nvPr/>
        </p:nvSpPr>
        <p:spPr>
          <a:xfrm>
            <a:off x="5440680" y="188366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Ringa balığı, stroopwafel</a:t>
            </a:r>
          </a:p>
        </p:txBody>
      </p:sp>
      <p:sp>
        <p:nvSpPr>
          <p:cNvPr id="19" name="Rounded Rectangle 18"/>
          <p:cNvSpPr/>
          <p:nvPr/>
        </p:nvSpPr>
        <p:spPr>
          <a:xfrm>
            <a:off x="411480" y="2432304"/>
            <a:ext cx="8321040"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 y="2432304"/>
            <a:ext cx="1645920" cy="475488"/>
          </a:xfrm>
          <a:prstGeom prst="rect">
            <a:avLst/>
          </a:prstGeom>
          <a:noFill/>
        </p:spPr>
        <p:txBody>
          <a:bodyPr wrap="square" lIns="73152" tIns="45720" rIns="73152" bIns="45720" anchor="ctr"/>
          <a:lstStyle/>
          <a:p>
            <a:pPr algn="l"/>
            <a:r>
              <a:rPr lang="tr-TR" sz="1350" b="1" i="0">
                <a:solidFill>
                  <a:srgbClr val="7C3AED"/>
                </a:solidFill>
                <a:latin typeface="Calibri"/>
              </a:rPr>
              <a:t>Ulaşım</a:t>
            </a:r>
          </a:p>
        </p:txBody>
      </p:sp>
      <p:sp>
        <p:nvSpPr>
          <p:cNvPr id="21" name="TextBox 20"/>
          <p:cNvSpPr txBox="1"/>
          <p:nvPr/>
        </p:nvSpPr>
        <p:spPr>
          <a:xfrm>
            <a:off x="2148840" y="243230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Dolmuş ve otobüs</a:t>
            </a:r>
          </a:p>
        </p:txBody>
      </p:sp>
      <p:sp>
        <p:nvSpPr>
          <p:cNvPr id="22" name="TextBox 21"/>
          <p:cNvSpPr txBox="1"/>
          <p:nvPr/>
        </p:nvSpPr>
        <p:spPr>
          <a:xfrm>
            <a:off x="5440680" y="243230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Bisiklet ve tramvay</a:t>
            </a:r>
          </a:p>
        </p:txBody>
      </p:sp>
      <p:sp>
        <p:nvSpPr>
          <p:cNvPr id="23" name="Rounded Rectangle 22"/>
          <p:cNvSpPr/>
          <p:nvPr/>
        </p:nvSpPr>
        <p:spPr>
          <a:xfrm>
            <a:off x="411480" y="2980944"/>
            <a:ext cx="8321040"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02920" y="2980944"/>
            <a:ext cx="1645920" cy="475488"/>
          </a:xfrm>
          <a:prstGeom prst="rect">
            <a:avLst/>
          </a:prstGeom>
          <a:noFill/>
        </p:spPr>
        <p:txBody>
          <a:bodyPr wrap="square" lIns="73152" tIns="45720" rIns="73152" bIns="45720" anchor="ctr"/>
          <a:lstStyle/>
          <a:p>
            <a:pPr algn="l"/>
            <a:r>
              <a:rPr lang="tr-TR" sz="1350" b="1" i="0">
                <a:solidFill>
                  <a:srgbClr val="7C3AED"/>
                </a:solidFill>
                <a:latin typeface="Calibri"/>
              </a:rPr>
              <a:t>Ünlü yeri</a:t>
            </a:r>
          </a:p>
        </p:txBody>
      </p:sp>
      <p:sp>
        <p:nvSpPr>
          <p:cNvPr id="25" name="TextBox 24"/>
          <p:cNvSpPr txBox="1"/>
          <p:nvPr/>
        </p:nvSpPr>
        <p:spPr>
          <a:xfrm>
            <a:off x="2148840" y="298094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Uzungöl</a:t>
            </a:r>
          </a:p>
        </p:txBody>
      </p:sp>
      <p:sp>
        <p:nvSpPr>
          <p:cNvPr id="26" name="TextBox 25"/>
          <p:cNvSpPr txBox="1"/>
          <p:nvPr/>
        </p:nvSpPr>
        <p:spPr>
          <a:xfrm>
            <a:off x="5440680" y="2980944"/>
            <a:ext cx="3291840" cy="475488"/>
          </a:xfrm>
          <a:prstGeom prst="rect">
            <a:avLst/>
          </a:prstGeom>
          <a:noFill/>
        </p:spPr>
        <p:txBody>
          <a:bodyPr wrap="square" lIns="73152" tIns="45720" rIns="73152" bIns="45720" anchor="ctr"/>
          <a:lstStyle/>
          <a:p>
            <a:pPr algn="ctr"/>
            <a:r>
              <a:rPr lang="tr-TR" sz="1350" b="0" i="0">
                <a:solidFill>
                  <a:srgbClr val="1E293B"/>
                </a:solidFill>
                <a:latin typeface="Calibri"/>
              </a:rPr>
              <a:t>Erasmus Köprüsü</a:t>
            </a:r>
          </a:p>
        </p:txBody>
      </p:sp>
      <p:sp>
        <p:nvSpPr>
          <p:cNvPr id="27" name="Rounded Rectangle 26"/>
          <p:cNvSpPr/>
          <p:nvPr/>
        </p:nvSpPr>
        <p:spPr>
          <a:xfrm>
            <a:off x="411480" y="3566160"/>
            <a:ext cx="8321040" cy="475488"/>
          </a:xfrm>
          <a:prstGeom prst="roundRect">
            <a:avLst>
              <a:gd name="adj" fmla="val 15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02920" y="3566160"/>
            <a:ext cx="8138160" cy="475488"/>
          </a:xfrm>
          <a:prstGeom prst="rect">
            <a:avLst/>
          </a:prstGeom>
          <a:noFill/>
        </p:spPr>
        <p:txBody>
          <a:bodyPr wrap="square" lIns="73152" tIns="45720" rIns="73152" bIns="45720" anchor="ctr"/>
          <a:lstStyle/>
          <a:p>
            <a:pPr algn="ctr"/>
            <a:r>
              <a:rPr lang="tr-TR" sz="1350" b="1" i="0">
                <a:solidFill>
                  <a:srgbClr val="16A34A"/>
                </a:solidFill>
                <a:latin typeface="Calibri"/>
              </a:rPr>
              <a:t>Benzerlik: </a:t>
            </a:r>
            <a:r>
              <a:rPr lang="tr-TR" sz="1350" b="1" i="0">
                <a:solidFill>
                  <a:srgbClr val="1E293B"/>
                </a:solidFill>
                <a:latin typeface="Calibri"/>
              </a:rPr>
              <a:t>İkisi de deniz kıyısında. İkisinde de balık çok sevilir!</a:t>
            </a:r>
          </a:p>
        </p:txBody>
      </p:sp>
      <p:sp>
        <p:nvSpPr>
          <p:cNvPr id="29" name="Rounded Rectangle 28"/>
          <p:cNvSpPr/>
          <p:nvPr/>
        </p:nvSpPr>
        <p:spPr>
          <a:xfrm>
            <a:off x="411480" y="4160520"/>
            <a:ext cx="8321040" cy="68580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8640" y="4160520"/>
            <a:ext cx="8046720" cy="685800"/>
          </a:xfrm>
          <a:prstGeom prst="rect">
            <a:avLst/>
          </a:prstGeom>
          <a:noFill/>
        </p:spPr>
        <p:txBody>
          <a:bodyPr wrap="square" lIns="73152" tIns="45720" rIns="73152" bIns="45720" anchor="ctr"/>
          <a:lstStyle/>
          <a:p>
            <a:pPr algn="ctr"/>
            <a:r>
              <a:rPr lang="tr-TR" sz="1300" b="1" i="0">
                <a:solidFill>
                  <a:srgbClr val="1E293B"/>
                </a:solidFill>
                <a:latin typeface="Calibri"/>
              </a:rPr>
              <a:t>Trabzon’da insanlar dolmuşa biner; Rotterdam’da </a:t>
            </a:r>
            <a:r>
              <a:rPr lang="tr-TR" sz="1300" b="1" i="0">
                <a:solidFill>
                  <a:srgbClr val="F97316"/>
                </a:solidFill>
                <a:latin typeface="Calibri"/>
              </a:rPr>
              <a:t>ise</a:t>
            </a:r>
            <a:r>
              <a:rPr lang="tr-TR" sz="1300" b="1" i="0">
                <a:solidFill>
                  <a:srgbClr val="1E293B"/>
                </a:solidFill>
                <a:latin typeface="Calibri"/>
              </a:rPr>
              <a:t> çok kişi bisiklete biner. </a:t>
            </a:r>
            <a:r>
              <a:rPr lang="tr-TR" sz="1300" b="1" i="0">
                <a:solidFill>
                  <a:srgbClr val="F97316"/>
                </a:solidFill>
                <a:latin typeface="Calibri"/>
              </a:rPr>
              <a:t>Bence</a:t>
            </a:r>
            <a:r>
              <a:rPr lang="tr-TR" sz="1300" b="1" i="0">
                <a:solidFill>
                  <a:srgbClr val="1E293B"/>
                </a:solidFill>
                <a:latin typeface="Calibri"/>
              </a:rPr>
              <a:t> ikisi de güzel çünkü…</a:t>
            </a:r>
          </a:p>
          <a:p>
            <a:pPr algn="ctr"/>
            <a:r>
              <a:rPr lang="tr-TR" sz="1300" b="1" i="1">
                <a:solidFill>
                  <a:srgbClr val="7C3AED"/>
                </a:solidFill>
                <a:latin typeface="Calibri"/>
              </a:rPr>
              <a:t>Farklı, yanlış demek değildir. Her kültüre saygı duyarız.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txBody>
          <a:bodyPr/>
          <a:lstStyle/>
          <a:p>
            <a:endParaRPr/>
          </a:p>
        </p:txBody>
      </p:sp>
      <p:sp>
        <p:nvSpPr>
          <p:cNvPr id="3" name="Shape 1"/>
          <p:cNvSpPr/>
          <p:nvPr/>
        </p:nvSpPr>
        <p:spPr>
          <a:xfrm>
            <a:off x="0" y="0"/>
            <a:ext cx="9144000" cy="658368"/>
          </a:xfrm>
          <a:prstGeom prst="rect">
            <a:avLst/>
          </a:prstGeom>
          <a:solidFill>
            <a:srgbClr val="F97316"/>
          </a:solidFill>
          <a:ln/>
        </p:spPr>
        <p:txBody>
          <a:bodyPr/>
          <a:lstStyle/>
          <a:p>
            <a:endParaRPr/>
          </a:p>
        </p:txBody>
      </p:sp>
      <p:sp>
        <p:nvSpPr>
          <p:cNvPr id="4" name="Text 2"/>
          <p:cNvSpPr/>
          <p:nvPr/>
        </p:nvSpPr>
        <p:spPr>
          <a:xfrm>
            <a:off x="365760" y="0"/>
            <a:ext cx="8412480" cy="658368"/>
          </a:xfrm>
          <a:prstGeom prst="rect">
            <a:avLst/>
          </a:prstGeom>
          <a:noFill/>
          <a:ln/>
        </p:spPr>
        <p:txBody>
          <a:bodyPr wrap="square" lIns="43434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YAZI ATÖLYESİ: “MEMLEKETİM”</a:t>
            </a:r>
            <a:endParaRPr lang="en-US" sz="1800" dirty="0"/>
          </a:p>
        </p:txBody>
      </p:sp>
      <p:pic>
        <p:nvPicPr>
          <p:cNvPr id="21" name="Picture 20" descr="270d_fe0f.png"/>
          <p:cNvPicPr>
            <a:picLocks noChangeAspect="1"/>
          </p:cNvPicPr>
          <p:nvPr/>
        </p:nvPicPr>
        <p:blipFill>
          <a:blip r:embed="rId3"/>
          <a:stretch>
            <a:fillRect/>
          </a:stretch>
        </p:blipFill>
        <p:spPr>
          <a:xfrm>
            <a:off x="457200" y="197739"/>
            <a:ext cx="262890" cy="262890"/>
          </a:xfrm>
          <a:prstGeom prst="rect">
            <a:avLst/>
          </a:prstGeom>
        </p:spPr>
      </p:pic>
      <p:sp>
        <p:nvSpPr>
          <p:cNvPr id="5" name="Text 3"/>
          <p:cNvSpPr/>
          <p:nvPr/>
        </p:nvSpPr>
        <p:spPr>
          <a:xfrm>
            <a:off x="457200" y="868680"/>
            <a:ext cx="8229600" cy="411480"/>
          </a:xfrm>
          <a:prstGeom prst="rect">
            <a:avLst/>
          </a:prstGeom>
          <a:noFill/>
          <a:ln/>
        </p:spPr>
        <p:txBody>
          <a:bodyPr wrap="square" rtlCol="0" anchor="ctr"/>
          <a:lstStyle/>
          <a:p>
            <a:pPr marL="0" indent="0" algn="ctr">
              <a:buNone/>
            </a:pPr>
            <a:r>
              <a:rPr lang="en-US" sz="1400" dirty="0">
                <a:solidFill>
                  <a:srgbClr val="1E293B"/>
                </a:solidFill>
                <a:latin typeface="Calibri" pitchFamily="34" charset="0"/>
                <a:ea typeface="Calibri" pitchFamily="34" charset="-122"/>
                <a:cs typeface="Calibri" pitchFamily="34" charset="-120"/>
              </a:rPr>
              <a:t>Memleketini tanıtan kısa bir paragraf yaz. Paragrafında şunlar olsun:</a:t>
            </a:r>
            <a:endParaRPr lang="en-US" sz="1400" dirty="0"/>
          </a:p>
        </p:txBody>
      </p:sp>
      <p:sp>
        <p:nvSpPr>
          <p:cNvPr id="6" name="Shape 4"/>
          <p:cNvSpPr/>
          <p:nvPr/>
        </p:nvSpPr>
        <p:spPr>
          <a:xfrm>
            <a:off x="822960" y="14630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7" name="Shape 5"/>
          <p:cNvSpPr/>
          <p:nvPr/>
        </p:nvSpPr>
        <p:spPr>
          <a:xfrm>
            <a:off x="1051560" y="1627632"/>
            <a:ext cx="457200" cy="457200"/>
          </a:xfrm>
          <a:prstGeom prst="ellipse">
            <a:avLst/>
          </a:prstGeom>
          <a:solidFill>
            <a:srgbClr val="F97316"/>
          </a:solidFill>
          <a:ln/>
        </p:spPr>
        <p:txBody>
          <a:bodyPr/>
          <a:lstStyle/>
          <a:p>
            <a:endParaRPr/>
          </a:p>
        </p:txBody>
      </p:sp>
      <p:sp>
        <p:nvSpPr>
          <p:cNvPr id="8" name="Text 6"/>
          <p:cNvSpPr/>
          <p:nvPr/>
        </p:nvSpPr>
        <p:spPr>
          <a:xfrm>
            <a:off x="1051560" y="16276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691640" y="1463040"/>
            <a:ext cx="6400800" cy="777240"/>
          </a:xfrm>
          <a:prstGeom prst="rect">
            <a:avLst/>
          </a:prstGeom>
          <a:noFill/>
          <a:ln/>
        </p:spPr>
        <p:txBody>
          <a:bodyPr wrap="square" rtlCol="0" anchor="ctr"/>
          <a:lstStyle/>
          <a:p>
            <a:pPr marL="0" indent="0" algn="l">
              <a:buNone/>
            </a:pPr>
            <a:r>
              <a:rPr lang="en-US" sz="1500" b="1" dirty="0">
                <a:solidFill>
                  <a:srgbClr val="1A2E5A"/>
                </a:solidFill>
                <a:latin typeface="Calibri" pitchFamily="34" charset="0"/>
                <a:ea typeface="Calibri" pitchFamily="34" charset="-122"/>
                <a:cs typeface="Calibri" pitchFamily="34" charset="-120"/>
              </a:rPr>
              <a:t>Memleketinin konumu ve iklimi (… Bölgesi’nde bulunur)</a:t>
            </a:r>
            <a:endParaRPr lang="en-US" sz="1500" dirty="0"/>
          </a:p>
        </p:txBody>
      </p:sp>
      <p:sp>
        <p:nvSpPr>
          <p:cNvPr id="10" name="Shape 8"/>
          <p:cNvSpPr/>
          <p:nvPr/>
        </p:nvSpPr>
        <p:spPr>
          <a:xfrm>
            <a:off x="822960" y="23774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1" name="Shape 9"/>
          <p:cNvSpPr/>
          <p:nvPr/>
        </p:nvSpPr>
        <p:spPr>
          <a:xfrm>
            <a:off x="1051560" y="2542032"/>
            <a:ext cx="457200" cy="457200"/>
          </a:xfrm>
          <a:prstGeom prst="ellipse">
            <a:avLst/>
          </a:prstGeom>
          <a:solidFill>
            <a:srgbClr val="F97316"/>
          </a:solidFill>
          <a:ln/>
        </p:spPr>
        <p:txBody>
          <a:bodyPr/>
          <a:lstStyle/>
          <a:p>
            <a:endParaRPr/>
          </a:p>
        </p:txBody>
      </p:sp>
      <p:sp>
        <p:nvSpPr>
          <p:cNvPr id="12" name="Text 10"/>
          <p:cNvSpPr/>
          <p:nvPr/>
        </p:nvSpPr>
        <p:spPr>
          <a:xfrm>
            <a:off x="1051560" y="25420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691640" y="2377440"/>
            <a:ext cx="6400800" cy="777240"/>
          </a:xfrm>
          <a:prstGeom prst="rect">
            <a:avLst/>
          </a:prstGeom>
          <a:noFill/>
          <a:ln/>
        </p:spPr>
        <p:txBody>
          <a:bodyPr wrap="square" rtlCol="0" anchor="ctr"/>
          <a:lstStyle/>
          <a:p>
            <a:pPr marL="0" indent="0" algn="l">
              <a:buNone/>
            </a:pPr>
            <a:r>
              <a:rPr lang="en-US" sz="1500" b="1" dirty="0">
                <a:solidFill>
                  <a:srgbClr val="1A2E5A"/>
                </a:solidFill>
                <a:latin typeface="Calibri" pitchFamily="34" charset="0"/>
                <a:ea typeface="Calibri" pitchFamily="34" charset="-122"/>
                <a:cs typeface="Calibri" pitchFamily="34" charset="-120"/>
              </a:rPr>
              <a:t>Ünlü bir yeri ya da mekânı ve meşhur bir lezzeti (… ile ünlüdür)</a:t>
            </a:r>
            <a:endParaRPr lang="en-US" sz="1500" dirty="0"/>
          </a:p>
        </p:txBody>
      </p:sp>
      <p:sp>
        <p:nvSpPr>
          <p:cNvPr id="14" name="Shape 12"/>
          <p:cNvSpPr/>
          <p:nvPr/>
        </p:nvSpPr>
        <p:spPr>
          <a:xfrm>
            <a:off x="822960" y="3291840"/>
            <a:ext cx="7498080" cy="777240"/>
          </a:xfrm>
          <a:prstGeom prst="roundRect">
            <a:avLst>
              <a:gd name="adj" fmla="val 14118"/>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5" name="Shape 13"/>
          <p:cNvSpPr/>
          <p:nvPr/>
        </p:nvSpPr>
        <p:spPr>
          <a:xfrm>
            <a:off x="1051560" y="3456432"/>
            <a:ext cx="457200" cy="457200"/>
          </a:xfrm>
          <a:prstGeom prst="ellipse">
            <a:avLst/>
          </a:prstGeom>
          <a:solidFill>
            <a:srgbClr val="F97316"/>
          </a:solidFill>
          <a:ln/>
        </p:spPr>
        <p:txBody>
          <a:bodyPr/>
          <a:lstStyle/>
          <a:p>
            <a:endParaRPr/>
          </a:p>
        </p:txBody>
      </p:sp>
      <p:sp>
        <p:nvSpPr>
          <p:cNvPr id="16" name="Text 14"/>
          <p:cNvSpPr/>
          <p:nvPr/>
        </p:nvSpPr>
        <p:spPr>
          <a:xfrm>
            <a:off x="1051560" y="345643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691640" y="3291840"/>
            <a:ext cx="6400800" cy="777240"/>
          </a:xfrm>
          <a:prstGeom prst="rect">
            <a:avLst/>
          </a:prstGeom>
          <a:noFill/>
          <a:ln/>
        </p:spPr>
        <p:txBody>
          <a:bodyPr wrap="square" rtlCol="0" anchor="ctr"/>
          <a:lstStyle/>
          <a:p>
            <a:pPr marL="0" indent="0" algn="l">
              <a:buNone/>
            </a:pPr>
            <a:r>
              <a:rPr lang="en-US" sz="1500" b="1" dirty="0">
                <a:solidFill>
                  <a:srgbClr val="1A2E5A"/>
                </a:solidFill>
                <a:latin typeface="Calibri" pitchFamily="34" charset="0"/>
                <a:ea typeface="Calibri" pitchFamily="34" charset="-122"/>
                <a:cs typeface="Calibri" pitchFamily="34" charset="-120"/>
              </a:rPr>
              <a:t>Yaşadığın yerle bir karşılaştırma ve görüşün (… ise … • Bence / Bana göre)</a:t>
            </a:r>
            <a:endParaRPr lang="en-US" sz="1500" dirty="0"/>
          </a:p>
        </p:txBody>
      </p:sp>
      <p:sp>
        <p:nvSpPr>
          <p:cNvPr id="18" name="Text 16"/>
          <p:cNvSpPr/>
          <p:nvPr/>
        </p:nvSpPr>
        <p:spPr>
          <a:xfrm>
            <a:off x="457200" y="4297680"/>
            <a:ext cx="8229600" cy="411480"/>
          </a:xfrm>
          <a:prstGeom prst="rect">
            <a:avLst/>
          </a:prstGeom>
          <a:noFill/>
          <a:ln/>
        </p:spPr>
        <p:txBody>
          <a:bodyPr wrap="square" rtlCol="0" anchor="ctr"/>
          <a:lstStyle/>
          <a:p>
            <a:pPr marL="0" indent="0" algn="ctr">
              <a:buNone/>
            </a:pPr>
            <a:r>
              <a:rPr lang="en-US" sz="1300" i="1" dirty="0">
                <a:solidFill>
                  <a:srgbClr val="1E293B"/>
                </a:solidFill>
                <a:latin typeface="Calibri" pitchFamily="34" charset="0"/>
                <a:ea typeface="Calibri" pitchFamily="34" charset="-122"/>
                <a:cs typeface="Calibri" pitchFamily="34" charset="-120"/>
              </a:rPr>
              <a:t>Sınıfta bir rehber gibi sun — arkadaşların memleketini tahmin etsin!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txBody>
          <a:bodyPr/>
          <a:lstStyle/>
          <a:p>
            <a:endParaRPr/>
          </a:p>
        </p:txBody>
      </p:sp>
      <p:sp>
        <p:nvSpPr>
          <p:cNvPr id="3" name="Shape 1"/>
          <p:cNvSpPr/>
          <p:nvPr/>
        </p:nvSpPr>
        <p:spPr>
          <a:xfrm>
            <a:off x="0" y="0"/>
            <a:ext cx="9144000" cy="658368"/>
          </a:xfrm>
          <a:prstGeom prst="rect">
            <a:avLst/>
          </a:prstGeom>
          <a:solidFill>
            <a:srgbClr val="F97316"/>
          </a:solidFill>
          <a:ln/>
        </p:spPr>
        <p:txBody>
          <a:bodyPr/>
          <a:lstStyle/>
          <a:p>
            <a:endParaRPr/>
          </a:p>
        </p:txBody>
      </p:sp>
      <p:sp>
        <p:nvSpPr>
          <p:cNvPr id="4" name="Text 2"/>
          <p:cNvSpPr/>
          <p:nvPr/>
        </p:nvSpPr>
        <p:spPr>
          <a:xfrm>
            <a:off x="365760" y="0"/>
            <a:ext cx="8412480" cy="658368"/>
          </a:xfrm>
          <a:prstGeom prst="rect">
            <a:avLst/>
          </a:prstGeom>
          <a:noFill/>
          <a:ln/>
        </p:spPr>
        <p:txBody>
          <a:bodyPr wrap="square" lIns="434340" rtlCol="0" anchor="ctr"/>
          <a:lstStyle/>
          <a:p>
            <a:pPr marL="0" indent="0" algn="l">
              <a:buNone/>
            </a:pPr>
            <a:r>
              <a:rPr lang="en-US" sz="1800" b="1" dirty="0">
                <a:solidFill>
                  <a:srgbClr val="1A2E5A"/>
                </a:solidFill>
                <a:latin typeface="Cambria" pitchFamily="34" charset="0"/>
                <a:ea typeface="Cambria" pitchFamily="34" charset="-122"/>
                <a:cs typeface="Cambria" pitchFamily="34" charset="-120"/>
              </a:rPr>
              <a:t>KÜLTÜR KÖŞESİ – DEDEKTİF SIRRI!</a:t>
            </a:r>
            <a:endParaRPr lang="en-US" sz="1800" dirty="0"/>
          </a:p>
        </p:txBody>
      </p:sp>
      <p:pic>
        <p:nvPicPr>
          <p:cNvPr id="9" name="Picture 8" descr="1f30d.png"/>
          <p:cNvPicPr>
            <a:picLocks noChangeAspect="1"/>
          </p:cNvPicPr>
          <p:nvPr/>
        </p:nvPicPr>
        <p:blipFill>
          <a:blip r:embed="rId3"/>
          <a:stretch>
            <a:fillRect/>
          </a:stretch>
        </p:blipFill>
        <p:spPr>
          <a:xfrm>
            <a:off x="457200" y="197739"/>
            <a:ext cx="262890" cy="262890"/>
          </a:xfrm>
          <a:prstGeom prst="rect">
            <a:avLst/>
          </a:prstGeom>
        </p:spPr>
      </p:pic>
      <p:sp>
        <p:nvSpPr>
          <p:cNvPr id="5" name="Shape 3"/>
          <p:cNvSpPr/>
          <p:nvPr/>
        </p:nvSpPr>
        <p:spPr>
          <a:xfrm>
            <a:off x="640080" y="1371600"/>
            <a:ext cx="7863840" cy="1463040"/>
          </a:xfrm>
          <a:prstGeom prst="roundRect">
            <a:avLst>
              <a:gd name="adj" fmla="val 75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6" name="Text 4"/>
          <p:cNvSpPr/>
          <p:nvPr/>
        </p:nvSpPr>
        <p:spPr>
          <a:xfrm>
            <a:off x="914400" y="1371600"/>
            <a:ext cx="7315200" cy="1463040"/>
          </a:xfrm>
          <a:prstGeom prst="rect">
            <a:avLst/>
          </a:prstGeom>
          <a:noFill/>
          <a:ln/>
        </p:spPr>
        <p:txBody>
          <a:bodyPr wrap="square" rtlCol="0" anchor="ctr"/>
          <a:lstStyle/>
          <a:p>
            <a:pPr marL="0" indent="0" algn="ctr">
              <a:lnSpc>
                <a:spcPct val="120000"/>
              </a:lnSpc>
              <a:buNone/>
            </a:pPr>
            <a:r>
              <a:rPr lang="en-US" sz="1900" dirty="0">
                <a:solidFill>
                  <a:srgbClr val="1E1E1E"/>
                </a:solidFill>
                <a:latin typeface="Calibri" pitchFamily="34" charset="0"/>
                <a:ea typeface="Calibri" pitchFamily="34" charset="-122"/>
                <a:cs typeface="Calibri" pitchFamily="34" charset="-120"/>
              </a:rPr>
              <a:t>Türkler aynı memleketten biriyle bağ kurar. Aynı memleketten gelen kişilere «hemşehri» denir.</a:t>
            </a:r>
            <a:endParaRPr lang="en-US" sz="1900" dirty="0"/>
          </a:p>
        </p:txBody>
      </p:sp>
      <p:sp>
        <p:nvSpPr>
          <p:cNvPr id="7" name="Shape 5"/>
          <p:cNvSpPr/>
          <p:nvPr/>
        </p:nvSpPr>
        <p:spPr>
          <a:xfrm>
            <a:off x="822960" y="3200400"/>
            <a:ext cx="7498080" cy="822960"/>
          </a:xfrm>
          <a:prstGeom prst="roundRect">
            <a:avLst>
              <a:gd name="adj" fmla="val 16667"/>
            </a:avLst>
          </a:prstGeom>
          <a:solidFill>
            <a:srgbClr val="F59E0B"/>
          </a:solidFill>
          <a:ln/>
        </p:spPr>
        <p:txBody>
          <a:bodyPr/>
          <a:lstStyle/>
          <a:p>
            <a:endParaRPr/>
          </a:p>
        </p:txBody>
      </p:sp>
      <p:sp>
        <p:nvSpPr>
          <p:cNvPr id="8" name="Text 6"/>
          <p:cNvSpPr/>
          <p:nvPr/>
        </p:nvSpPr>
        <p:spPr>
          <a:xfrm>
            <a:off x="960120" y="3200400"/>
            <a:ext cx="7223760" cy="822960"/>
          </a:xfrm>
          <a:prstGeom prst="rect">
            <a:avLst/>
          </a:prstGeom>
          <a:noFill/>
          <a:ln/>
        </p:spPr>
        <p:txBody>
          <a:bodyPr wrap="square" lIns="33908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Saha Görevi: Yarın okulda bir arkadaşına 'Nerelisin?' diye sor, bakalım hemşehrin var mı!</a:t>
            </a:r>
            <a:endParaRPr lang="en-US" sz="1300" dirty="0"/>
          </a:p>
        </p:txBody>
      </p:sp>
      <p:pic>
        <p:nvPicPr>
          <p:cNvPr id="10" name="Picture 9" descr="1f3c5.png"/>
          <p:cNvPicPr>
            <a:picLocks noChangeAspect="1"/>
          </p:cNvPicPr>
          <p:nvPr/>
        </p:nvPicPr>
        <p:blipFill>
          <a:blip r:embed="rId4"/>
          <a:stretch>
            <a:fillRect/>
          </a:stretch>
        </p:blipFill>
        <p:spPr>
          <a:xfrm>
            <a:off x="1432418" y="3516948"/>
            <a:ext cx="189864" cy="1898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txBody>
          <a:bodyPr/>
          <a:lstStyle/>
          <a:p>
            <a:endParaRPr/>
          </a:p>
        </p:txBody>
      </p:sp>
      <p:sp>
        <p:nvSpPr>
          <p:cNvPr id="3" name="Shape 1"/>
          <p:cNvSpPr/>
          <p:nvPr/>
        </p:nvSpPr>
        <p:spPr>
          <a:xfrm>
            <a:off x="0" y="0"/>
            <a:ext cx="9144000" cy="658368"/>
          </a:xfrm>
          <a:prstGeom prst="rect">
            <a:avLst/>
          </a:prstGeom>
          <a:solidFill>
            <a:srgbClr val="F97316"/>
          </a:solidFill>
          <a:ln/>
        </p:spPr>
        <p:txBody>
          <a:bodyPr/>
          <a:lstStyle/>
          <a:p>
            <a:endParaRPr/>
          </a:p>
        </p:txBody>
      </p:sp>
      <p:sp>
        <p:nvSpPr>
          <p:cNvPr id="4" name="Text 2"/>
          <p:cNvSpPr/>
          <p:nvPr/>
        </p:nvSpPr>
        <p:spPr>
          <a:xfrm>
            <a:off x="365760" y="0"/>
            <a:ext cx="8412480" cy="658368"/>
          </a:xfrm>
          <a:prstGeom prst="rect">
            <a:avLst/>
          </a:prstGeom>
          <a:noFill/>
          <a:ln/>
        </p:spPr>
        <p:txBody>
          <a:bodyPr wrap="square" lIns="43434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YENİ SAHA GÖREVİ</a:t>
            </a:r>
            <a:endParaRPr lang="en-US" sz="1800" dirty="0"/>
          </a:p>
        </p:txBody>
      </p:sp>
      <p:pic>
        <p:nvPicPr>
          <p:cNvPr id="26" name="Picture 25" descr="1f3c5.png"/>
          <p:cNvPicPr>
            <a:picLocks noChangeAspect="1"/>
          </p:cNvPicPr>
          <p:nvPr/>
        </p:nvPicPr>
        <p:blipFill>
          <a:blip r:embed="rId3"/>
          <a:stretch>
            <a:fillRect/>
          </a:stretch>
        </p:blipFill>
        <p:spPr>
          <a:xfrm>
            <a:off x="457200" y="197739"/>
            <a:ext cx="262890" cy="262890"/>
          </a:xfrm>
          <a:prstGeom prst="rect">
            <a:avLst/>
          </a:prstGeom>
        </p:spPr>
      </p:pic>
      <p:sp>
        <p:nvSpPr>
          <p:cNvPr id="5" name="Text 3"/>
          <p:cNvSpPr/>
          <p:nvPr/>
        </p:nvSpPr>
        <p:spPr>
          <a:xfrm>
            <a:off x="457200" y="749808"/>
            <a:ext cx="8229600" cy="411480"/>
          </a:xfrm>
          <a:prstGeom prst="rect">
            <a:avLst/>
          </a:prstGeom>
          <a:noFill/>
          <a:ln/>
        </p:spPr>
        <p:txBody>
          <a:bodyPr wrap="square" rtlCol="0" anchor="ctr"/>
          <a:lstStyle/>
          <a:p>
            <a:pPr marL="0" indent="0" algn="ctr">
              <a:buNone/>
            </a:pPr>
            <a:r>
              <a:rPr lang="en-US" sz="1200" b="1" i="1" dirty="0">
                <a:solidFill>
                  <a:srgbClr val="1A2E5A"/>
                </a:solidFill>
                <a:latin typeface="Calibri" pitchFamily="34" charset="0"/>
                <a:ea typeface="Calibri" pitchFamily="34" charset="-122"/>
                <a:cs typeface="Calibri" pitchFamily="34" charset="-120"/>
              </a:rPr>
              <a:t>Bu kez görevin: Bir büyüğünle röportaj yapıp bir “Memleket Kartı” hazırlamak!</a:t>
            </a:r>
            <a:endParaRPr lang="en-US" sz="1200" dirty="0"/>
          </a:p>
        </p:txBody>
      </p:sp>
      <p:sp>
        <p:nvSpPr>
          <p:cNvPr id="6" name="Shape 4"/>
          <p:cNvSpPr/>
          <p:nvPr/>
        </p:nvSpPr>
        <p:spPr>
          <a:xfrm>
            <a:off x="502920" y="128016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7" name="Shape 5"/>
          <p:cNvSpPr/>
          <p:nvPr/>
        </p:nvSpPr>
        <p:spPr>
          <a:xfrm>
            <a:off x="731520" y="1426464"/>
            <a:ext cx="457200" cy="457200"/>
          </a:xfrm>
          <a:prstGeom prst="ellipse">
            <a:avLst/>
          </a:prstGeom>
          <a:solidFill>
            <a:srgbClr val="F97316"/>
          </a:solidFill>
          <a:ln/>
        </p:spPr>
        <p:txBody>
          <a:bodyPr/>
          <a:lstStyle/>
          <a:p>
            <a:endParaRPr/>
          </a:p>
        </p:txBody>
      </p:sp>
      <p:sp>
        <p:nvSpPr>
          <p:cNvPr id="8" name="Text 6"/>
          <p:cNvSpPr/>
          <p:nvPr/>
        </p:nvSpPr>
        <p:spPr>
          <a:xfrm>
            <a:off x="731520" y="142646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71600" y="1280160"/>
            <a:ext cx="7086600" cy="749808"/>
          </a:xfrm>
          <a:prstGeom prst="rect">
            <a:avLst/>
          </a:prstGeom>
          <a:noFill/>
          <a:ln/>
        </p:spPr>
        <p:txBody>
          <a:bodyPr wrap="square" lIns="329564" rtlCol="0" anchor="ctr"/>
          <a:lstStyle/>
          <a:p>
            <a:pPr marL="0" indent="0" algn="l">
              <a:buNone/>
            </a:pPr>
            <a:r>
              <a:rPr lang="en-US" sz="1250" b="1" dirty="0">
                <a:solidFill>
                  <a:srgbClr val="1E293B"/>
                </a:solidFill>
                <a:latin typeface="Calibri" pitchFamily="34" charset="0"/>
                <a:ea typeface="Calibri" pitchFamily="34" charset="-122"/>
                <a:cs typeface="Calibri" pitchFamily="34" charset="-120"/>
              </a:rPr>
              <a:t>Büyüklerinize sorun: “Memleketimiz nerede? Orada çocukluğunuz nasıl geçti?”</a:t>
            </a:r>
            <a:endParaRPr lang="en-US" sz="1250" dirty="0"/>
          </a:p>
        </p:txBody>
      </p:sp>
      <p:pic>
        <p:nvPicPr>
          <p:cNvPr id="27" name="Picture 26" descr="1f475.png"/>
          <p:cNvPicPr>
            <a:picLocks noChangeAspect="1"/>
          </p:cNvPicPr>
          <p:nvPr/>
        </p:nvPicPr>
        <p:blipFill>
          <a:blip r:embed="rId4"/>
          <a:stretch>
            <a:fillRect/>
          </a:stretch>
        </p:blipFill>
        <p:spPr>
          <a:xfrm>
            <a:off x="1463040" y="1563783"/>
            <a:ext cx="182562" cy="182562"/>
          </a:xfrm>
          <a:prstGeom prst="rect">
            <a:avLst/>
          </a:prstGeom>
        </p:spPr>
      </p:pic>
      <p:sp>
        <p:nvSpPr>
          <p:cNvPr id="10" name="Shape 8"/>
          <p:cNvSpPr/>
          <p:nvPr/>
        </p:nvSpPr>
        <p:spPr>
          <a:xfrm>
            <a:off x="502920" y="214884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1" name="Shape 9"/>
          <p:cNvSpPr/>
          <p:nvPr/>
        </p:nvSpPr>
        <p:spPr>
          <a:xfrm>
            <a:off x="731520" y="2295144"/>
            <a:ext cx="457200" cy="457200"/>
          </a:xfrm>
          <a:prstGeom prst="ellipse">
            <a:avLst/>
          </a:prstGeom>
          <a:solidFill>
            <a:srgbClr val="F97316"/>
          </a:solidFill>
          <a:ln/>
        </p:spPr>
        <p:txBody>
          <a:bodyPr/>
          <a:lstStyle/>
          <a:p>
            <a:endParaRPr/>
          </a:p>
        </p:txBody>
      </p:sp>
      <p:sp>
        <p:nvSpPr>
          <p:cNvPr id="12" name="Text 10"/>
          <p:cNvSpPr/>
          <p:nvPr/>
        </p:nvSpPr>
        <p:spPr>
          <a:xfrm>
            <a:off x="731520" y="229514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71600" y="2148840"/>
            <a:ext cx="7086600" cy="749808"/>
          </a:xfrm>
          <a:prstGeom prst="rect">
            <a:avLst/>
          </a:prstGeom>
          <a:noFill/>
          <a:ln/>
        </p:spPr>
        <p:txBody>
          <a:bodyPr wrap="square" lIns="329564" rtlCol="0" anchor="ctr"/>
          <a:lstStyle/>
          <a:p>
            <a:pPr marL="0" indent="0" algn="l">
              <a:buNone/>
            </a:pPr>
            <a:r>
              <a:rPr lang="en-US" sz="1250" b="1" dirty="0">
                <a:solidFill>
                  <a:srgbClr val="1E293B"/>
                </a:solidFill>
                <a:latin typeface="Calibri" pitchFamily="34" charset="0"/>
                <a:ea typeface="Calibri" pitchFamily="34" charset="-122"/>
                <a:cs typeface="Calibri" pitchFamily="34" charset="-120"/>
              </a:rPr>
              <a:t>“Memleketimizin en meşhur yemeği ya da ürünü ne?” diye sorun.</a:t>
            </a:r>
            <a:endParaRPr lang="en-US" sz="1250" dirty="0"/>
          </a:p>
        </p:txBody>
      </p:sp>
      <p:pic>
        <p:nvPicPr>
          <p:cNvPr id="28" name="Picture 27" descr="1f372.png"/>
          <p:cNvPicPr>
            <a:picLocks noChangeAspect="1"/>
          </p:cNvPicPr>
          <p:nvPr/>
        </p:nvPicPr>
        <p:blipFill>
          <a:blip r:embed="rId5"/>
          <a:stretch>
            <a:fillRect/>
          </a:stretch>
        </p:blipFill>
        <p:spPr>
          <a:xfrm>
            <a:off x="1463040" y="2432463"/>
            <a:ext cx="182562" cy="182562"/>
          </a:xfrm>
          <a:prstGeom prst="rect">
            <a:avLst/>
          </a:prstGeom>
        </p:spPr>
      </p:pic>
      <p:sp>
        <p:nvSpPr>
          <p:cNvPr id="14" name="Shape 12"/>
          <p:cNvSpPr/>
          <p:nvPr/>
        </p:nvSpPr>
        <p:spPr>
          <a:xfrm>
            <a:off x="502920" y="301752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5" name="Shape 13"/>
          <p:cNvSpPr/>
          <p:nvPr/>
        </p:nvSpPr>
        <p:spPr>
          <a:xfrm>
            <a:off x="731520" y="3163824"/>
            <a:ext cx="457200" cy="457200"/>
          </a:xfrm>
          <a:prstGeom prst="ellipse">
            <a:avLst/>
          </a:prstGeom>
          <a:solidFill>
            <a:srgbClr val="F97316"/>
          </a:solidFill>
          <a:ln/>
        </p:spPr>
        <p:txBody>
          <a:bodyPr/>
          <a:lstStyle/>
          <a:p>
            <a:endParaRPr/>
          </a:p>
        </p:txBody>
      </p:sp>
      <p:sp>
        <p:nvSpPr>
          <p:cNvPr id="16" name="Text 14"/>
          <p:cNvSpPr/>
          <p:nvPr/>
        </p:nvSpPr>
        <p:spPr>
          <a:xfrm>
            <a:off x="731520" y="31638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71600" y="3017520"/>
            <a:ext cx="7086600" cy="749808"/>
          </a:xfrm>
          <a:prstGeom prst="rect">
            <a:avLst/>
          </a:prstGeom>
          <a:noFill/>
          <a:ln/>
        </p:spPr>
        <p:txBody>
          <a:bodyPr wrap="square" lIns="329564" rtlCol="0" anchor="ctr"/>
          <a:lstStyle/>
          <a:p>
            <a:pPr marL="0" indent="0" algn="l">
              <a:buNone/>
            </a:pPr>
            <a:r>
              <a:rPr lang="en-US" sz="1250" b="1" dirty="0">
                <a:solidFill>
                  <a:srgbClr val="1E293B"/>
                </a:solidFill>
                <a:latin typeface="Calibri" pitchFamily="34" charset="0"/>
                <a:ea typeface="Calibri" pitchFamily="34" charset="-122"/>
                <a:cs typeface="Calibri" pitchFamily="34" charset="-120"/>
              </a:rPr>
              <a:t>“Orada görmemiz gereken tarihî bir mekân ya da doğal güzellik var mı?” diye sorun.</a:t>
            </a:r>
            <a:endParaRPr lang="en-US" sz="1250" dirty="0"/>
          </a:p>
        </p:txBody>
      </p:sp>
      <p:pic>
        <p:nvPicPr>
          <p:cNvPr id="29" name="Picture 28" descr="1f54c.png"/>
          <p:cNvPicPr>
            <a:picLocks noChangeAspect="1"/>
          </p:cNvPicPr>
          <p:nvPr/>
        </p:nvPicPr>
        <p:blipFill>
          <a:blip r:embed="rId6"/>
          <a:stretch>
            <a:fillRect/>
          </a:stretch>
        </p:blipFill>
        <p:spPr>
          <a:xfrm>
            <a:off x="1463040" y="3301143"/>
            <a:ext cx="182562" cy="182562"/>
          </a:xfrm>
          <a:prstGeom prst="rect">
            <a:avLst/>
          </a:prstGeom>
        </p:spPr>
      </p:pic>
      <p:sp>
        <p:nvSpPr>
          <p:cNvPr id="18" name="Shape 16"/>
          <p:cNvSpPr/>
          <p:nvPr/>
        </p:nvSpPr>
        <p:spPr>
          <a:xfrm>
            <a:off x="502920" y="388620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9" name="Shape 17"/>
          <p:cNvSpPr/>
          <p:nvPr/>
        </p:nvSpPr>
        <p:spPr>
          <a:xfrm>
            <a:off x="731520" y="4032504"/>
            <a:ext cx="457200" cy="457200"/>
          </a:xfrm>
          <a:prstGeom prst="ellipse">
            <a:avLst/>
          </a:prstGeom>
          <a:solidFill>
            <a:srgbClr val="F97316"/>
          </a:solidFill>
          <a:ln/>
        </p:spPr>
        <p:txBody>
          <a:bodyPr/>
          <a:lstStyle/>
          <a:p>
            <a:endParaRPr/>
          </a:p>
        </p:txBody>
      </p:sp>
      <p:sp>
        <p:nvSpPr>
          <p:cNvPr id="20" name="Text 18"/>
          <p:cNvSpPr/>
          <p:nvPr/>
        </p:nvSpPr>
        <p:spPr>
          <a:xfrm>
            <a:off x="731520" y="403250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3886200"/>
            <a:ext cx="7086600" cy="749808"/>
          </a:xfrm>
          <a:prstGeom prst="rect">
            <a:avLst/>
          </a:prstGeom>
          <a:noFill/>
          <a:ln/>
        </p:spPr>
        <p:txBody>
          <a:bodyPr wrap="square" lIns="329564" rtlCol="0" anchor="ctr"/>
          <a:lstStyle/>
          <a:p>
            <a:pPr marL="0" indent="0" algn="l">
              <a:buNone/>
            </a:pPr>
            <a:r>
              <a:rPr lang="en-US" sz="1250" b="1" dirty="0">
                <a:solidFill>
                  <a:srgbClr val="1E293B"/>
                </a:solidFill>
                <a:latin typeface="Calibri" pitchFamily="34" charset="0"/>
                <a:ea typeface="Calibri" pitchFamily="34" charset="-122"/>
                <a:cs typeface="Calibri" pitchFamily="34" charset="-120"/>
              </a:rPr>
              <a:t>Memleketinizi yaşadığınız yerle karşılaştırıp “Bence / Bana göre” ile bir yorum yazın.</a:t>
            </a:r>
            <a:endParaRPr lang="en-US" sz="1250" dirty="0"/>
          </a:p>
        </p:txBody>
      </p:sp>
      <p:pic>
        <p:nvPicPr>
          <p:cNvPr id="30" name="Picture 29" descr="1f4ad.png"/>
          <p:cNvPicPr>
            <a:picLocks noChangeAspect="1"/>
          </p:cNvPicPr>
          <p:nvPr/>
        </p:nvPicPr>
        <p:blipFill>
          <a:blip r:embed="rId7"/>
          <a:stretch>
            <a:fillRect/>
          </a:stretch>
        </p:blipFill>
        <p:spPr>
          <a:xfrm>
            <a:off x="1463040" y="4169823"/>
            <a:ext cx="182562" cy="182562"/>
          </a:xfrm>
          <a:prstGeom prst="rect">
            <a:avLst/>
          </a:prstGeom>
        </p:spPr>
      </p:pic>
      <p:sp>
        <p:nvSpPr>
          <p:cNvPr id="22" name="Shape 20"/>
          <p:cNvSpPr/>
          <p:nvPr/>
        </p:nvSpPr>
        <p:spPr>
          <a:xfrm>
            <a:off x="1280160" y="4590288"/>
            <a:ext cx="6583680" cy="438912"/>
          </a:xfrm>
          <a:prstGeom prst="roundRect">
            <a:avLst>
              <a:gd name="adj" fmla="val 50000"/>
            </a:avLst>
          </a:prstGeom>
          <a:solidFill>
            <a:srgbClr val="F97316"/>
          </a:solidFill>
          <a:ln/>
        </p:spPr>
        <p:txBody>
          <a:bodyPr/>
          <a:lstStyle/>
          <a:p>
            <a:endParaRPr/>
          </a:p>
        </p:txBody>
      </p:sp>
      <p:sp>
        <p:nvSpPr>
          <p:cNvPr id="23" name="Text 21"/>
          <p:cNvSpPr/>
          <p:nvPr/>
        </p:nvSpPr>
        <p:spPr>
          <a:xfrm>
            <a:off x="1280160" y="4590288"/>
            <a:ext cx="6583680" cy="438912"/>
          </a:xfrm>
          <a:prstGeom prst="rect">
            <a:avLst/>
          </a:prstGeom>
          <a:noFill/>
          <a:ln/>
        </p:spPr>
        <p:txBody>
          <a:bodyPr wrap="square" rIns="32004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Memleket Kartını sınıfa getir — belki bir hemşehrini bulursun!</a:t>
            </a:r>
            <a:endParaRPr lang="en-US" sz="1200" dirty="0"/>
          </a:p>
        </p:txBody>
      </p:sp>
      <p:pic>
        <p:nvPicPr>
          <p:cNvPr id="31" name="Picture 30" descr="1f3af.png"/>
          <p:cNvPicPr>
            <a:picLocks noChangeAspect="1"/>
          </p:cNvPicPr>
          <p:nvPr/>
        </p:nvPicPr>
        <p:blipFill>
          <a:blip r:embed="rId8"/>
          <a:stretch>
            <a:fillRect/>
          </a:stretch>
        </p:blipFill>
        <p:spPr>
          <a:xfrm>
            <a:off x="6465171" y="4722114"/>
            <a:ext cx="175260" cy="1752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txBody>
          <a:bodyPr/>
          <a:lstStyle/>
          <a:p>
            <a:endParaRPr/>
          </a:p>
        </p:txBody>
      </p:sp>
      <p:sp>
        <p:nvSpPr>
          <p:cNvPr id="31" name="5-Point Star 30"/>
          <p:cNvSpPr/>
          <p:nvPr/>
        </p:nvSpPr>
        <p:spPr>
          <a:xfrm>
            <a:off x="36068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5-Point Star 31"/>
          <p:cNvSpPr/>
          <p:nvPr/>
        </p:nvSpPr>
        <p:spPr>
          <a:xfrm>
            <a:off x="840740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5-Point Star 32"/>
          <p:cNvSpPr/>
          <p:nvPr/>
        </p:nvSpPr>
        <p:spPr>
          <a:xfrm>
            <a:off x="36068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5-Point Star 33"/>
          <p:cNvSpPr/>
          <p:nvPr/>
        </p:nvSpPr>
        <p:spPr>
          <a:xfrm>
            <a:off x="840740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5"/>
          <p:cNvSpPr/>
          <p:nvPr/>
        </p:nvSpPr>
        <p:spPr>
          <a:xfrm>
            <a:off x="457200" y="502920"/>
            <a:ext cx="8229600" cy="640080"/>
          </a:xfrm>
          <a:prstGeom prst="rect">
            <a:avLst/>
          </a:prstGeom>
          <a:noFill/>
          <a:ln/>
        </p:spPr>
        <p:txBody>
          <a:bodyPr wrap="square"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GÖREV TAMAMLANDI!</a:t>
            </a:r>
            <a:endParaRPr lang="en-US" sz="3200" dirty="0"/>
          </a:p>
        </p:txBody>
      </p:sp>
      <p:sp>
        <p:nvSpPr>
          <p:cNvPr id="19" name="Rounded Rectangle 18"/>
          <p:cNvSpPr/>
          <p:nvPr/>
        </p:nvSpPr>
        <p:spPr>
          <a:xfrm>
            <a:off x="502920" y="2011680"/>
            <a:ext cx="1280160" cy="1371600"/>
          </a:xfrm>
          <a:prstGeom prst="roundRect">
            <a:avLst>
              <a:gd name="adj" fmla="val 8000"/>
            </a:avLst>
          </a:prstGeom>
          <a:solidFill>
            <a:srgbClr val="F97316"/>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İstanbul</a:t>
            </a:r>
          </a:p>
        </p:txBody>
      </p:sp>
      <p:sp>
        <p:nvSpPr>
          <p:cNvPr id="21" name="Rounded Rectangle 20"/>
          <p:cNvSpPr/>
          <p:nvPr/>
        </p:nvSpPr>
        <p:spPr>
          <a:xfrm>
            <a:off x="1874520" y="2011680"/>
            <a:ext cx="1280160" cy="1371600"/>
          </a:xfrm>
          <a:prstGeom prst="roundRect">
            <a:avLst>
              <a:gd name="adj" fmla="val 8000"/>
            </a:avLst>
          </a:prstGeom>
          <a:solidFill>
            <a:srgbClr val="2563EB"/>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8745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Tarihî Mekânlar</a:t>
            </a:r>
          </a:p>
        </p:txBody>
      </p:sp>
      <p:sp>
        <p:nvSpPr>
          <p:cNvPr id="23" name="Rounded Rectangle 22"/>
          <p:cNvSpPr/>
          <p:nvPr/>
        </p:nvSpPr>
        <p:spPr>
          <a:xfrm>
            <a:off x="3246120" y="2011680"/>
            <a:ext cx="1280160" cy="1371600"/>
          </a:xfrm>
          <a:prstGeom prst="roundRect">
            <a:avLst>
              <a:gd name="adj" fmla="val 8000"/>
            </a:avLst>
          </a:prstGeom>
          <a:solidFill>
            <a:srgbClr val="16A34A"/>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2461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Memleketim</a:t>
            </a:r>
          </a:p>
        </p:txBody>
      </p:sp>
      <p:sp>
        <p:nvSpPr>
          <p:cNvPr id="25" name="Rounded Rectangle 24"/>
          <p:cNvSpPr/>
          <p:nvPr/>
        </p:nvSpPr>
        <p:spPr>
          <a:xfrm>
            <a:off x="4617720" y="2011680"/>
            <a:ext cx="1280160" cy="1371600"/>
          </a:xfrm>
          <a:prstGeom prst="roundRect">
            <a:avLst>
              <a:gd name="adj" fmla="val 8000"/>
            </a:avLst>
          </a:prstGeom>
          <a:solidFill>
            <a:srgbClr val="F59E0B"/>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6177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Coğrafi İşaret</a:t>
            </a:r>
          </a:p>
        </p:txBody>
      </p:sp>
      <p:sp>
        <p:nvSpPr>
          <p:cNvPr id="27" name="Rounded Rectangle 26"/>
          <p:cNvSpPr/>
          <p:nvPr/>
        </p:nvSpPr>
        <p:spPr>
          <a:xfrm>
            <a:off x="5989320" y="2011680"/>
            <a:ext cx="1280160" cy="1371600"/>
          </a:xfrm>
          <a:prstGeom prst="roundRect">
            <a:avLst>
              <a:gd name="adj" fmla="val 8000"/>
            </a:avLst>
          </a:prstGeom>
          <a:solidFill>
            <a:srgbClr val="7C3AED"/>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893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Bence / Bana Göre</a:t>
            </a:r>
          </a:p>
        </p:txBody>
      </p:sp>
      <p:sp>
        <p:nvSpPr>
          <p:cNvPr id="29" name="Rounded Rectangle 28"/>
          <p:cNvSpPr/>
          <p:nvPr/>
        </p:nvSpPr>
        <p:spPr>
          <a:xfrm>
            <a:off x="7360920" y="2011680"/>
            <a:ext cx="1280160" cy="1371600"/>
          </a:xfrm>
          <a:prstGeom prst="roundRect">
            <a:avLst>
              <a:gd name="adj" fmla="val 8000"/>
            </a:avLst>
          </a:prstGeom>
          <a:solidFill>
            <a:srgbClr val="0D9488"/>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60920" y="2011680"/>
            <a:ext cx="1280160" cy="1371600"/>
          </a:xfrm>
          <a:prstGeom prst="rect">
            <a:avLst/>
          </a:prstGeom>
          <a:noFill/>
        </p:spPr>
        <p:txBody>
          <a:bodyPr wrap="square" lIns="73152" tIns="45720" rIns="73152" bIns="45720" anchor="ctr"/>
          <a:lstStyle/>
          <a:p>
            <a:pPr algn="ctr"/>
            <a:r>
              <a:rPr lang="tr-TR" sz="1500" b="1" i="0">
                <a:solidFill>
                  <a:srgbClr val="FFFFFF"/>
                </a:solidFill>
                <a:latin typeface="Calibri"/>
              </a:rPr>
              <a:t>Hemşehri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1590</Words>
  <Application>Microsoft Office PowerPoint</Application>
  <PresentationFormat>Ekran Gösterisi (16:9)</PresentationFormat>
  <Paragraphs>182</Paragraphs>
  <Slides>14</Slides>
  <Notes>14</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14</vt:i4>
      </vt:variant>
    </vt:vector>
  </HeadingPairs>
  <TitlesOfParts>
    <vt:vector size="18"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Edibe YILMAZ</cp:lastModifiedBy>
  <cp:revision>3</cp:revision>
  <dcterms:created xsi:type="dcterms:W3CDTF">2026-07-23T19:46:29Z</dcterms:created>
  <dcterms:modified xsi:type="dcterms:W3CDTF">2026-10-02T08:43:17Z</dcterms:modified>
</cp:coreProperties>
</file>