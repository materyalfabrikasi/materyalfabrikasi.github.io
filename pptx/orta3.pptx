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5" r:id="rId4"/>
    <p:sldId id="266" r:id="rId5"/>
    <p:sldId id="259" r:id="rId6"/>
    <p:sldId id="260" r:id="rId7"/>
    <p:sldId id="258" r:id="rId8"/>
    <p:sldId id="262" r:id="rId9"/>
    <p:sldId id="261" r:id="rId10"/>
    <p:sldId id="263" r:id="rId11"/>
    <p:sldId id="264"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20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167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'Merhaba dedektifler! Bugün kendi hayat hikâyemizin yönetmeni oluyoruz.' de. 'Başlangıç'ta yaşımızı, Temel'de doğum günümüzü söyledik. Bugün doğum tarihimizi yılıyla birlikte söyleyeceğiz!' de, bir sonraki slayta geç.</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Kartları sırayla oku: 'Bir: Doğum tarihimizi gün, ay ve yılla söyleyeceğiz. İki: Hayat hikâyemizi önce, sonra, ardından ile sıralayacağız. Üç: Türkiye'deki yaşa saygıyı yaşadığımız ülkeyle karşılaştıracağız.' Sonra 'Hazır mısınız?' diye sor.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'Ne zaman doğdun?' diye sor, bekle. Yılları birlikte oku: iki bin on, iki bin on bir, iki bin on iki, iki bin on üç. Kalıbı göster: '12 Mart 2011'de doğdum.' Ardından yaş hesaplat: '2011'de doğdum, yani 15 yaşındayım.' Ek kuralını vurgula: ek, sayının yazılışına değil okunuşuna göre gelir. Okunuşun son kelimesine bak: on → 2010'da, bir → 2011'de, iki → 2012'de, üç → 2013'te. Sonra her öğrenci kendi doğum tarihini söylesin.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'Dedektif dosyalarını açıyoruz!' de. Atatürk dosyasını oku: 'Mustafa Kemal Atatürk 1881'de Selanik'te doğdu.' Yılı birlikte oku: bin sekiz yüz seksen bir. Not: Atatürk'ün doğduğu gün kesin olarak bilinmez. Bu yüzden yalnızca yılı söyleriz. Atatürk, doğum günü olarak 19 Mayıs'ı benimsemiştir. Mevlânâ dosyasını oku: '1207'de Belh'te doğdu.' (bin iki yüz yedi) Son olarak her öğrenci kalıpla kendi doğum tarihini ve yerini söylesin.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Örnek hikâyeyi birlikte oku. Doğum tarihi ve yeriyle başladığına dikkat çek. Geçmiş zaman eklerini (-dı/-di/-du/-dü, -tı/-ti/-tu/-tü) elinle göster: doğdum, başladım, taşındık. Ardından öğrenciler iskeleti kendi bilgileriyle doldursun ve sırayla anlatsın.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Zaman ifadelerini sırayla okut: önce, sonra, ardından, daha sonra. Örnek cümleyi birlikte oku. Sonra öğrencilere kendi hayatlarından üç olayı bu ifadelerle sıralatarak söylet.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Soruyu oku ve öğrencilere düşünme süresi ver. Sol kartı oku: Türkiye'de yaşa saygı hitaplarda görünür (Abi, Abla, Amca, Teyze ve 'siz'). Sağ kartı öğrencilerle birlikte tartış: 'Senin yaşadığın ülkede büyüklere nasıl seslenilir?' Her öğrenci kendi ülkesinden bir örnek versin. Son soruyu sor ve cevapları karşılaştır.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Üç geleneği tanıt: bayramda el öpme, büyüklere 'siz' deme, sofrada büyükler başlamadan yemeğe başlamama. El öpmeyi göster: büyüğün eli öpülür ve alna konur. Son soruyu sor: 'Senin yaşadığın ülkede buna benzer bir gelenek var mı?' Cevapları benzerlik ve farklılık olarak tahtada iki sütuna yaz.</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Yazı görevini açıkla: kısa bir paragraf yazacaklar. Üç maddeyi sırayla oku. Önce doğum tarihi ve yeri, sonra üç önemli olay, en sonda yaşa saygı yorumu. Gerekirse dil iskeleti slaytına geri dön. Yazma süresi ver, sonra gönüllüler paragraflarını okusun.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Görevi adım adım anlat. İlk fotoğrafın doğduğu yıldan olacağını, her fotoğrafın altına tarih yazılacağını vurgula. Üçüncü adımda aile büyüğüne 'Ne zaman doğdunuz?' diye 'siz' ile sorulduğuna dikkat çek. Albümleri bir sonraki derste paylaşacağınızı söyle.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'Görev tamamlandı dedektifler!' de. Kartları sırayla okut: doğum tarihi, önce/sonra/ardından, hayat hikâyem, yaşa saygı, ünlü dosyalar. 'Bir sonraki görevde görüşmek üzere!' diyerek kapat.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E5A"/>
          </a:solidFill>
          <a:ln/>
        </p:spPr>
      </p:sp>
      <p:sp>
        <p:nvSpPr>
          <p:cNvPr id="3" name="Text 1"/>
          <p:cNvSpPr/>
          <p:nvPr/>
        </p:nvSpPr>
        <p:spPr>
          <a:xfrm>
            <a:off x="274320" y="18288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4" name="Text 2"/>
          <p:cNvSpPr/>
          <p:nvPr/>
        </p:nvSpPr>
        <p:spPr>
          <a:xfrm>
            <a:off x="8321040" y="18288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5" name="Text 3"/>
          <p:cNvSpPr/>
          <p:nvPr/>
        </p:nvSpPr>
        <p:spPr>
          <a:xfrm>
            <a:off x="274320" y="448056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6" name="Text 4"/>
          <p:cNvSpPr/>
          <p:nvPr/>
        </p:nvSpPr>
        <p:spPr>
          <a:xfrm>
            <a:off x="8321040" y="448056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7" name="Text 5"/>
          <p:cNvSpPr/>
          <p:nvPr/>
        </p:nvSpPr>
        <p:spPr>
          <a:xfrm>
            <a:off x="1005840" y="402336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8" name="Text 6"/>
          <p:cNvSpPr/>
          <p:nvPr/>
        </p:nvSpPr>
        <p:spPr>
          <a:xfrm>
            <a:off x="7589520" y="64008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9" name="Shape 7"/>
          <p:cNvSpPr/>
          <p:nvPr/>
        </p:nvSpPr>
        <p:spPr>
          <a:xfrm>
            <a:off x="3886200" y="502920"/>
            <a:ext cx="1371600" cy="1371600"/>
          </a:xfrm>
          <a:prstGeom prst="ellipse">
            <a:avLst/>
          </a:prstGeom>
          <a:solidFill>
            <a:srgbClr val="F97316"/>
          </a:solidFill>
          <a:ln/>
          <a:effectLst>
            <a:outerShdw blurRad="76200" dist="25400" dir="5400000" algn="bl" rotWithShape="0">
              <a:srgbClr val="1A2E5A">
                <a:alpha val="18000"/>
              </a:srgbClr>
            </a:outerShdw>
          </a:effectLst>
        </p:spPr>
      </p:sp>
      <p:sp>
        <p:nvSpPr>
          <p:cNvPr id="10" name="Text 8"/>
          <p:cNvSpPr/>
          <p:nvPr/>
        </p:nvSpPr>
        <p:spPr>
          <a:xfrm>
            <a:off x="3886200" y="502920"/>
            <a:ext cx="1371600" cy="1371600"/>
          </a:xfrm>
          <a:prstGeom prst="rect">
            <a:avLst/>
          </a:prstGeom>
          <a:noFill/>
          <a:ln/>
        </p:spPr>
        <p:txBody>
          <a:bodyPr wrap="square" rtlCol="0" anchor="ctr"/>
          <a:lstStyle/>
          <a:p>
            <a:pPr marL="0" indent="0" algn="ctr">
              <a:buNone/>
            </a:pPr>
            <a:r>
              <a:rPr lang="en-US" sz="4400" dirty="0">
                <a:solidFill>
                  <a:srgbClr val="000000"/>
                </a:solidFill>
              </a:rPr>
              <a:t>    </a:t>
            </a:r>
            <a:endParaRPr lang="en-US" sz="4400" dirty="0"/>
          </a:p>
        </p:txBody>
      </p:sp>
      <p:pic>
        <p:nvPicPr>
          <p:cNvPr id="16" name="Emoji 16" descr="emoji"/>
          <p:cNvPicPr>
            <a:picLocks noChangeAspect="1"/>
          </p:cNvPicPr>
          <p:nvPr/>
        </p:nvPicPr>
        <p:blipFill>
          <a:blip r:embed="rId3"/>
          <a:stretch>
            <a:fillRect/>
          </a:stretch>
        </p:blipFill>
        <p:spPr>
          <a:xfrm>
            <a:off x="4292600" y="909320"/>
            <a:ext cx="558800" cy="558800"/>
          </a:xfrm>
          <a:prstGeom prst="rect">
            <a:avLst/>
          </a:prstGeom>
        </p:spPr>
      </p:pic>
      <p:sp>
        <p:nvSpPr>
          <p:cNvPr id="11" name="Text 9"/>
          <p:cNvSpPr/>
          <p:nvPr/>
        </p:nvSpPr>
        <p:spPr>
          <a:xfrm>
            <a:off x="457200" y="2103120"/>
            <a:ext cx="8229600" cy="640080"/>
          </a:xfrm>
          <a:prstGeom prst="rect">
            <a:avLst/>
          </a:prstGeom>
          <a:noFill/>
          <a:ln/>
        </p:spPr>
        <p:txBody>
          <a:bodyPr wrap="square" rtlCol="0" anchor="ctr"/>
          <a:lstStyle/>
          <a:p>
            <a:pPr marL="0" indent="0" algn="ctr">
              <a:buNone/>
            </a:pPr>
            <a:r>
              <a:rPr lang="en-US" sz="4000" b="1" dirty="0">
                <a:solidFill>
                  <a:srgbClr val="FBBF24"/>
                </a:solidFill>
                <a:latin typeface="Cambria" pitchFamily="34" charset="0"/>
                <a:ea typeface="Cambria" pitchFamily="34" charset="-122"/>
                <a:cs typeface="Cambria" pitchFamily="34" charset="-120"/>
              </a:rPr>
              <a:t>DİL DEDEKTİFİ</a:t>
            </a:r>
            <a:endParaRPr lang="en-US" sz="4000" dirty="0"/>
          </a:p>
        </p:txBody>
      </p:sp>
      <p:sp>
        <p:nvSpPr>
          <p:cNvPr id="12" name="Text 10"/>
          <p:cNvSpPr/>
          <p:nvPr/>
        </p:nvSpPr>
        <p:spPr>
          <a:xfrm>
            <a:off x="457200" y="2697480"/>
            <a:ext cx="8229600" cy="4114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ORTA SEVİYE </a:t>
            </a:r>
            <a:r>
              <a:rPr lang="en-US" sz="1600" dirty="0" smtClean="0">
                <a:solidFill>
                  <a:srgbClr val="FFFFFF"/>
                </a:solidFill>
                <a:latin typeface="Calibri" pitchFamily="34" charset="0"/>
                <a:ea typeface="Calibri" pitchFamily="34" charset="-122"/>
                <a:cs typeface="Calibri" pitchFamily="34" charset="-120"/>
              </a:rPr>
              <a:t>• </a:t>
            </a:r>
            <a:r>
              <a:rPr lang="en-US" sz="1600" dirty="0">
                <a:solidFill>
                  <a:srgbClr val="FFFFFF"/>
                </a:solidFill>
                <a:latin typeface="Calibri" pitchFamily="34" charset="0"/>
                <a:ea typeface="Calibri" pitchFamily="34" charset="-122"/>
                <a:cs typeface="Calibri" pitchFamily="34" charset="-120"/>
              </a:rPr>
              <a:t>HAYAT HİKÂYEM</a:t>
            </a:r>
            <a:endParaRPr lang="en-US" sz="1600" dirty="0"/>
          </a:p>
        </p:txBody>
      </p:sp>
      <p:sp>
        <p:nvSpPr>
          <p:cNvPr id="13" name="Shape 11"/>
          <p:cNvSpPr/>
          <p:nvPr/>
        </p:nvSpPr>
        <p:spPr>
          <a:xfrm>
            <a:off x="2103120" y="3291840"/>
            <a:ext cx="4937760" cy="457200"/>
          </a:xfrm>
          <a:prstGeom prst="roundRect">
            <a:avLst>
              <a:gd name="adj" fmla="val 50000"/>
            </a:avLst>
          </a:prstGeom>
          <a:solidFill>
            <a:srgbClr val="F97316"/>
          </a:solidFill>
          <a:ln/>
        </p:spPr>
      </p:sp>
      <p:sp>
        <p:nvSpPr>
          <p:cNvPr id="14" name="Text 12"/>
          <p:cNvSpPr/>
          <p:nvPr/>
        </p:nvSpPr>
        <p:spPr>
          <a:xfrm>
            <a:off x="2103120" y="3291840"/>
            <a:ext cx="493776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Doğum Tarihi • Hayat Hikâyem • Yaşa Saygı</a:t>
            </a:r>
            <a:endParaRPr lang="en-US" sz="1250" dirty="0"/>
          </a:p>
        </p:txBody>
      </p:sp>
      <p:pic>
        <p:nvPicPr>
          <p:cNvPr id="17" name="Emoji 17" descr="emoji"/>
          <p:cNvPicPr>
            <a:picLocks noChangeAspect="1"/>
          </p:cNvPicPr>
          <p:nvPr/>
        </p:nvPicPr>
        <p:blipFill>
          <a:blip r:embed="rId4"/>
          <a:stretch>
            <a:fillRect/>
          </a:stretch>
        </p:blipFill>
        <p:spPr>
          <a:xfrm>
            <a:off x="3041344" y="3441065"/>
            <a:ext cx="158750" cy="158750"/>
          </a:xfrm>
          <a:prstGeom prst="rect">
            <a:avLst/>
          </a:prstGeom>
        </p:spPr>
      </p:pic>
      <p:sp>
        <p:nvSpPr>
          <p:cNvPr id="15" name="Text 13"/>
          <p:cNvSpPr/>
          <p:nvPr/>
        </p:nvSpPr>
        <p:spPr>
          <a:xfrm>
            <a:off x="457200" y="4114800"/>
            <a:ext cx="8229600" cy="457200"/>
          </a:xfrm>
          <a:prstGeom prst="rect">
            <a:avLst/>
          </a:prstGeom>
          <a:noFill/>
          <a:ln/>
        </p:spPr>
        <p:txBody>
          <a:bodyPr wrap="square" rtlCol="0" anchor="ctr"/>
          <a:lstStyle/>
          <a:p>
            <a:pPr marL="0" indent="0" algn="ctr">
              <a:buNone/>
            </a:pPr>
            <a:r>
              <a:rPr lang="en-US" sz="1400" i="1" dirty="0">
                <a:solidFill>
                  <a:srgbClr val="DBEAFE"/>
                </a:solidFill>
                <a:latin typeface="Calibri" pitchFamily="34" charset="0"/>
                <a:ea typeface="Calibri" pitchFamily="34" charset="-122"/>
                <a:cs typeface="Calibri" pitchFamily="34" charset="-120"/>
              </a:rPr>
              <a:t>Bugün kendi zaman çizgimizin yönetmeni oluyoruz!</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AFC"/>
          </a:solidFill>
          <a:ln/>
        </p:spPr>
      </p:sp>
      <p:sp>
        <p:nvSpPr>
          <p:cNvPr id="3" name="Shape 1"/>
          <p:cNvSpPr/>
          <p:nvPr/>
        </p:nvSpPr>
        <p:spPr>
          <a:xfrm>
            <a:off x="0" y="0"/>
            <a:ext cx="9144000" cy="658368"/>
          </a:xfrm>
          <a:prstGeom prst="rect">
            <a:avLst/>
          </a:prstGeom>
          <a:solidFill>
            <a:srgbClr val="1E293B"/>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      GÖREV RAPORUMUZ</a:t>
            </a:r>
            <a:endParaRPr lang="en-US" sz="1800" dirty="0"/>
          </a:p>
        </p:txBody>
      </p:sp>
      <p:pic>
        <p:nvPicPr>
          <p:cNvPr id="18" name="Emoji 18" descr="emoji"/>
          <p:cNvPicPr>
            <a:picLocks noChangeAspect="1"/>
          </p:cNvPicPr>
          <p:nvPr/>
        </p:nvPicPr>
        <p:blipFill>
          <a:blip r:embed="rId3"/>
          <a:stretch>
            <a:fillRect/>
          </a:stretch>
        </p:blipFill>
        <p:spPr>
          <a:xfrm>
            <a:off x="443484" y="214884"/>
            <a:ext cx="228600" cy="228600"/>
          </a:xfrm>
          <a:prstGeom prst="rect">
            <a:avLst/>
          </a:prstGeom>
        </p:spPr>
      </p:pic>
      <p:sp>
        <p:nvSpPr>
          <p:cNvPr id="17" name="Text 17"/>
          <p:cNvSpPr txBox="1"/>
          <p:nvPr/>
        </p:nvSpPr>
        <p:spPr>
          <a:xfrm>
            <a:off x="548640" y="694944"/>
            <a:ext cx="8046720" cy="283464"/>
          </a:xfrm>
          <a:prstGeom prst="rect">
            <a:avLst/>
          </a:prstGeom>
          <a:noFill/>
          <a:ln/>
        </p:spPr>
        <p:txBody>
          <a:bodyPr wrap="square" rtlCol="0" anchor="ctr"/>
          <a:lstStyle/>
          <a:p>
            <a:pPr marL="0" indent="0" algn="r">
              <a:buNone/>
            </a:pPr>
            <a:r>
              <a:rPr lang="tr-TR" sz="1000" dirty="0">
                <a:solidFill>
                  <a:srgbClr val="94A3B8"/>
                </a:solidFill>
                <a:latin typeface="Calibri" pitchFamily="34" charset="0"/>
                <a:ea typeface="Calibri" pitchFamily="34" charset="-122"/>
                <a:cs typeface="Calibri" pitchFamily="34" charset="-120"/>
              </a:rPr>
              <a:t>2026 TTKD Öğretim Programı </a:t>
            </a:r>
            <a:r>
              <a:rPr lang="tr-TR" sz="1000" dirty="0" smtClean="0">
                <a:solidFill>
                  <a:srgbClr val="94A3B8"/>
                </a:solidFill>
                <a:latin typeface="Calibri" pitchFamily="34" charset="0"/>
                <a:ea typeface="Calibri" pitchFamily="34" charset="-122"/>
                <a:cs typeface="Calibri" pitchFamily="34" charset="-120"/>
              </a:rPr>
              <a:t>—3</a:t>
            </a:r>
            <a:r>
              <a:rPr lang="tr-TR" sz="1000" dirty="0">
                <a:solidFill>
                  <a:srgbClr val="94A3B8"/>
                </a:solidFill>
                <a:latin typeface="Calibri" pitchFamily="34" charset="0"/>
                <a:ea typeface="Calibri" pitchFamily="34" charset="-122"/>
                <a:cs typeface="Calibri" pitchFamily="34" charset="-120"/>
              </a:rPr>
              <a:t>. Seviye: 1B3, </a:t>
            </a:r>
            <a:r>
              <a:rPr lang="tr-TR" sz="1000" dirty="0" smtClean="0">
                <a:solidFill>
                  <a:srgbClr val="94A3B8"/>
                </a:solidFill>
                <a:latin typeface="Calibri" pitchFamily="34" charset="0"/>
                <a:ea typeface="Calibri" pitchFamily="34" charset="-122"/>
                <a:cs typeface="Calibri" pitchFamily="34" charset="-120"/>
              </a:rPr>
              <a:t>3A5</a:t>
            </a:r>
            <a:endParaRPr lang="tr-TR" sz="1000" dirty="0">
              <a:solidFill>
                <a:srgbClr val="94A3B8"/>
              </a:solidFill>
              <a:latin typeface="Calibri" pitchFamily="34" charset="0"/>
              <a:ea typeface="Calibri" pitchFamily="34" charset="-122"/>
              <a:cs typeface="Calibri" pitchFamily="34" charset="-120"/>
            </a:endParaRPr>
          </a:p>
        </p:txBody>
      </p:sp>
      <p:sp>
        <p:nvSpPr>
          <p:cNvPr id="5" name="Shape 3"/>
          <p:cNvSpPr/>
          <p:nvPr/>
        </p:nvSpPr>
        <p:spPr>
          <a:xfrm>
            <a:off x="548640" y="1051560"/>
            <a:ext cx="8046720" cy="1051560"/>
          </a:xfrm>
          <a:prstGeom prst="roundRect">
            <a:avLst>
              <a:gd name="adj" fmla="val 10435"/>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6" name="Shape 4"/>
          <p:cNvSpPr/>
          <p:nvPr/>
        </p:nvSpPr>
        <p:spPr>
          <a:xfrm>
            <a:off x="822960" y="1307592"/>
            <a:ext cx="548640" cy="548640"/>
          </a:xfrm>
          <a:prstGeom prst="ellipse">
            <a:avLst/>
          </a:prstGeom>
          <a:solidFill>
            <a:srgbClr val="F97316"/>
          </a:solidFill>
          <a:ln/>
        </p:spPr>
      </p:sp>
      <p:sp>
        <p:nvSpPr>
          <p:cNvPr id="7" name="Text 5"/>
          <p:cNvSpPr/>
          <p:nvPr/>
        </p:nvSpPr>
        <p:spPr>
          <a:xfrm>
            <a:off x="822960" y="1307592"/>
            <a:ext cx="548640" cy="548640"/>
          </a:xfrm>
          <a:prstGeom prst="rect">
            <a:avLst/>
          </a:prstGeom>
          <a:noFill/>
          <a:ln/>
        </p:spPr>
        <p:txBody>
          <a:bodyPr wrap="square" rtlCol="0" anchor="ctr"/>
          <a:lstStyle/>
          <a:p>
            <a:pPr marL="0" indent="0" algn="ctr">
              <a:buNone/>
            </a:pPr>
            <a:r>
              <a:rPr lang="en-US" sz="2200" dirty="0">
                <a:solidFill>
                  <a:srgbClr val="000000"/>
                </a:solidFill>
              </a:rPr>
              <a:t>    </a:t>
            </a:r>
            <a:endParaRPr lang="en-US" sz="2200" dirty="0"/>
          </a:p>
        </p:txBody>
      </p:sp>
      <p:pic>
        <p:nvPicPr>
          <p:cNvPr id="19" name="Emoji 19" descr="emoji"/>
          <p:cNvPicPr>
            <a:picLocks noChangeAspect="1"/>
          </p:cNvPicPr>
          <p:nvPr/>
        </p:nvPicPr>
        <p:blipFill>
          <a:blip r:embed="rId4"/>
          <a:stretch>
            <a:fillRect/>
          </a:stretch>
        </p:blipFill>
        <p:spPr>
          <a:xfrm>
            <a:off x="957580" y="1442212"/>
            <a:ext cx="279400" cy="279400"/>
          </a:xfrm>
          <a:prstGeom prst="rect">
            <a:avLst/>
          </a:prstGeom>
        </p:spPr>
      </p:pic>
      <p:sp>
        <p:nvSpPr>
          <p:cNvPr id="8" name="Text 6"/>
          <p:cNvSpPr/>
          <p:nvPr/>
        </p:nvSpPr>
        <p:spPr>
          <a:xfrm>
            <a:off x="1600200" y="1051560"/>
            <a:ext cx="6766560" cy="1051560"/>
          </a:xfrm>
          <a:prstGeom prst="rect">
            <a:avLst/>
          </a:prstGeom>
          <a:noFill/>
          <a:ln/>
        </p:spPr>
        <p:txBody>
          <a:bodyPr wrap="square" rtlCol="0" anchor="ctr"/>
          <a:lstStyle/>
          <a:p>
            <a:pPr marL="0" indent="0" algn="l">
              <a:buNone/>
            </a:pPr>
            <a:r>
              <a:rPr lang="en-US" sz="1500" b="1" dirty="0">
                <a:solidFill>
                  <a:srgbClr val="1E293B"/>
                </a:solidFill>
                <a:latin typeface="Calibri" pitchFamily="34" charset="0"/>
                <a:ea typeface="Calibri" pitchFamily="34" charset="-122"/>
                <a:cs typeface="Calibri" pitchFamily="34" charset="-120"/>
              </a:rPr>
              <a:t>1. Doğum tarihimizi gün, ay ve yılla söyleyeceğiz.</a:t>
            </a:r>
            <a:endParaRPr lang="en-US" sz="1500" dirty="0"/>
          </a:p>
        </p:txBody>
      </p:sp>
      <p:sp>
        <p:nvSpPr>
          <p:cNvPr id="9" name="Shape 7"/>
          <p:cNvSpPr/>
          <p:nvPr/>
        </p:nvSpPr>
        <p:spPr>
          <a:xfrm>
            <a:off x="548640" y="2286000"/>
            <a:ext cx="8046720" cy="1051560"/>
          </a:xfrm>
          <a:prstGeom prst="roundRect">
            <a:avLst>
              <a:gd name="adj" fmla="val 10435"/>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0" name="Shape 8"/>
          <p:cNvSpPr/>
          <p:nvPr/>
        </p:nvSpPr>
        <p:spPr>
          <a:xfrm>
            <a:off x="822960" y="2542032"/>
            <a:ext cx="548640" cy="548640"/>
          </a:xfrm>
          <a:prstGeom prst="ellipse">
            <a:avLst/>
          </a:prstGeom>
          <a:solidFill>
            <a:srgbClr val="2563EB"/>
          </a:solidFill>
          <a:ln/>
        </p:spPr>
      </p:sp>
      <p:sp>
        <p:nvSpPr>
          <p:cNvPr id="11" name="Text 9"/>
          <p:cNvSpPr/>
          <p:nvPr/>
        </p:nvSpPr>
        <p:spPr>
          <a:xfrm>
            <a:off x="822960" y="2542032"/>
            <a:ext cx="548640" cy="548640"/>
          </a:xfrm>
          <a:prstGeom prst="rect">
            <a:avLst/>
          </a:prstGeom>
          <a:noFill/>
          <a:ln/>
        </p:spPr>
        <p:txBody>
          <a:bodyPr wrap="square" rtlCol="0" anchor="ctr"/>
          <a:lstStyle/>
          <a:p>
            <a:pPr marL="0" indent="0" algn="ctr">
              <a:buNone/>
            </a:pPr>
            <a:r>
              <a:rPr lang="en-US" sz="2200" dirty="0">
                <a:solidFill>
                  <a:srgbClr val="000000"/>
                </a:solidFill>
              </a:rPr>
              <a:t>    </a:t>
            </a:r>
            <a:endParaRPr lang="en-US" sz="2200" dirty="0"/>
          </a:p>
        </p:txBody>
      </p:sp>
      <p:pic>
        <p:nvPicPr>
          <p:cNvPr id="20" name="Emoji 20" descr="emoji"/>
          <p:cNvPicPr>
            <a:picLocks noChangeAspect="1"/>
          </p:cNvPicPr>
          <p:nvPr/>
        </p:nvPicPr>
        <p:blipFill>
          <a:blip r:embed="rId5"/>
          <a:stretch>
            <a:fillRect/>
          </a:stretch>
        </p:blipFill>
        <p:spPr>
          <a:xfrm>
            <a:off x="957580" y="2676652"/>
            <a:ext cx="279400" cy="279400"/>
          </a:xfrm>
          <a:prstGeom prst="rect">
            <a:avLst/>
          </a:prstGeom>
        </p:spPr>
      </p:pic>
      <p:sp>
        <p:nvSpPr>
          <p:cNvPr id="12" name="Text 10"/>
          <p:cNvSpPr/>
          <p:nvPr/>
        </p:nvSpPr>
        <p:spPr>
          <a:xfrm>
            <a:off x="1600200" y="2286000"/>
            <a:ext cx="6766560" cy="1051560"/>
          </a:xfrm>
          <a:prstGeom prst="rect">
            <a:avLst/>
          </a:prstGeom>
          <a:noFill/>
          <a:ln/>
        </p:spPr>
        <p:txBody>
          <a:bodyPr wrap="square" rtlCol="0" anchor="ctr"/>
          <a:lstStyle/>
          <a:p>
            <a:pPr marL="0" indent="0" algn="l">
              <a:buNone/>
            </a:pPr>
            <a:r>
              <a:rPr lang="en-US" sz="1500" b="1" dirty="0">
                <a:solidFill>
                  <a:srgbClr val="1E293B"/>
                </a:solidFill>
                <a:latin typeface="Calibri" pitchFamily="34" charset="0"/>
                <a:ea typeface="Calibri" pitchFamily="34" charset="-122"/>
                <a:cs typeface="Calibri" pitchFamily="34" charset="-120"/>
              </a:rPr>
              <a:t>2. Hayat hikâyemizi “önce, sonra, ardından” ile sıralayacağız.</a:t>
            </a:r>
            <a:endParaRPr lang="en-US" sz="1500" dirty="0"/>
          </a:p>
        </p:txBody>
      </p:sp>
      <p:sp>
        <p:nvSpPr>
          <p:cNvPr id="13" name="Shape 11"/>
          <p:cNvSpPr/>
          <p:nvPr/>
        </p:nvSpPr>
        <p:spPr>
          <a:xfrm>
            <a:off x="548640" y="3520440"/>
            <a:ext cx="8046720" cy="1051560"/>
          </a:xfrm>
          <a:prstGeom prst="roundRect">
            <a:avLst>
              <a:gd name="adj" fmla="val 10435"/>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4" name="Shape 12"/>
          <p:cNvSpPr/>
          <p:nvPr/>
        </p:nvSpPr>
        <p:spPr>
          <a:xfrm>
            <a:off x="822960" y="3776472"/>
            <a:ext cx="548640" cy="548640"/>
          </a:xfrm>
          <a:prstGeom prst="ellipse">
            <a:avLst/>
          </a:prstGeom>
          <a:solidFill>
            <a:srgbClr val="7C3AED"/>
          </a:solidFill>
          <a:ln/>
        </p:spPr>
      </p:sp>
      <p:sp>
        <p:nvSpPr>
          <p:cNvPr id="15" name="Text 13"/>
          <p:cNvSpPr/>
          <p:nvPr/>
        </p:nvSpPr>
        <p:spPr>
          <a:xfrm>
            <a:off x="822960" y="3776472"/>
            <a:ext cx="548640" cy="548640"/>
          </a:xfrm>
          <a:prstGeom prst="rect">
            <a:avLst/>
          </a:prstGeom>
          <a:noFill/>
          <a:ln/>
        </p:spPr>
        <p:txBody>
          <a:bodyPr wrap="square" rtlCol="0" anchor="ctr"/>
          <a:lstStyle/>
          <a:p>
            <a:pPr marL="0" indent="0" algn="ctr">
              <a:buNone/>
            </a:pPr>
            <a:r>
              <a:rPr lang="en-US" sz="2200" dirty="0">
                <a:solidFill>
                  <a:srgbClr val="000000"/>
                </a:solidFill>
              </a:rPr>
              <a:t>    </a:t>
            </a:r>
            <a:endParaRPr lang="en-US" sz="2200" dirty="0"/>
          </a:p>
        </p:txBody>
      </p:sp>
      <p:pic>
        <p:nvPicPr>
          <p:cNvPr id="21" name="Emoji 21" descr="emoji"/>
          <p:cNvPicPr>
            <a:picLocks noChangeAspect="1"/>
          </p:cNvPicPr>
          <p:nvPr/>
        </p:nvPicPr>
        <p:blipFill>
          <a:blip r:embed="rId6"/>
          <a:stretch>
            <a:fillRect/>
          </a:stretch>
        </p:blipFill>
        <p:spPr>
          <a:xfrm>
            <a:off x="957580" y="3911092"/>
            <a:ext cx="279400" cy="279400"/>
          </a:xfrm>
          <a:prstGeom prst="rect">
            <a:avLst/>
          </a:prstGeom>
        </p:spPr>
      </p:pic>
      <p:sp>
        <p:nvSpPr>
          <p:cNvPr id="16" name="Text 14"/>
          <p:cNvSpPr/>
          <p:nvPr/>
        </p:nvSpPr>
        <p:spPr>
          <a:xfrm>
            <a:off x="1600200" y="3520440"/>
            <a:ext cx="6766560" cy="1051560"/>
          </a:xfrm>
          <a:prstGeom prst="rect">
            <a:avLst/>
          </a:prstGeom>
          <a:noFill/>
          <a:ln/>
        </p:spPr>
        <p:txBody>
          <a:bodyPr wrap="square" rtlCol="0" anchor="ctr"/>
          <a:lstStyle/>
          <a:p>
            <a:pPr marL="0" indent="0" algn="l">
              <a:buNone/>
            </a:pPr>
            <a:r>
              <a:rPr lang="en-US" sz="1500" b="1" dirty="0">
                <a:solidFill>
                  <a:srgbClr val="1E293B"/>
                </a:solidFill>
                <a:latin typeface="Calibri" pitchFamily="34" charset="0"/>
                <a:ea typeface="Calibri" pitchFamily="34" charset="-122"/>
                <a:cs typeface="Calibri" pitchFamily="34" charset="-120"/>
              </a:rPr>
              <a:t>3. Türkiye'deki yaşa saygıyı yaşadığımız ülkeyle karşılaştıracağız.</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E9FE"/>
          </a:solidFill>
          <a:ln/>
        </p:spPr>
      </p:sp>
      <p:sp>
        <p:nvSpPr>
          <p:cNvPr id="3" name="Shape 1"/>
          <p:cNvSpPr/>
          <p:nvPr/>
        </p:nvSpPr>
        <p:spPr>
          <a:xfrm>
            <a:off x="0" y="0"/>
            <a:ext cx="9144000" cy="658368"/>
          </a:xfrm>
          <a:prstGeom prst="rect">
            <a:avLst/>
          </a:prstGeom>
          <a:solidFill>
            <a:srgbClr val="7C3AED"/>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      NE ZAMAN DOĞDUN?</a:t>
            </a:r>
            <a:endParaRPr lang="en-US" sz="1800" dirty="0"/>
          </a:p>
        </p:txBody>
      </p:sp>
      <p:pic>
        <p:nvPicPr>
          <p:cNvPr id="15" name="Emoji 15" descr="emoji"/>
          <p:cNvPicPr>
            <a:picLocks noChangeAspect="1"/>
          </p:cNvPicPr>
          <p:nvPr/>
        </p:nvPicPr>
        <p:blipFill>
          <a:blip r:embed="rId3"/>
          <a:stretch>
            <a:fillRect/>
          </a:stretch>
        </p:blipFill>
        <p:spPr>
          <a:xfrm>
            <a:off x="443484" y="214884"/>
            <a:ext cx="228600" cy="228600"/>
          </a:xfrm>
          <a:prstGeom prst="rect">
            <a:avLst/>
          </a:prstGeom>
        </p:spPr>
      </p:pic>
      <p:sp>
        <p:nvSpPr>
          <p:cNvPr id="5" name="Shape 3"/>
          <p:cNvSpPr/>
          <p:nvPr/>
        </p:nvSpPr>
        <p:spPr>
          <a:xfrm>
            <a:off x="708660" y="914400"/>
            <a:ext cx="1828800" cy="640080"/>
          </a:xfrm>
          <a:prstGeom prst="roundRect">
            <a:avLst>
              <a:gd name="adj" fmla="val 21429"/>
            </a:avLst>
          </a:prstGeom>
          <a:solidFill>
            <a:srgbClr val="7C3AED"/>
          </a:solidFill>
          <a:ln/>
        </p:spPr>
      </p:sp>
      <p:sp>
        <p:nvSpPr>
          <p:cNvPr id="6" name="Text 4"/>
          <p:cNvSpPr/>
          <p:nvPr/>
        </p:nvSpPr>
        <p:spPr>
          <a:xfrm>
            <a:off x="708660" y="914400"/>
            <a:ext cx="182880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2010</a:t>
            </a:r>
            <a:endParaRPr lang="en-US" sz="1400" dirty="0"/>
          </a:p>
          <a:p>
            <a:pPr marL="0" indent="0" algn="ctr">
              <a:buNone/>
            </a:pPr>
            <a:r>
              <a:rPr lang="en-US" sz="1050" dirty="0">
                <a:solidFill>
                  <a:srgbClr val="FFFFFF"/>
                </a:solidFill>
                <a:latin typeface="Cambria" pitchFamily="34" charset="0"/>
                <a:ea typeface="Cambria" pitchFamily="34" charset="-122"/>
                <a:cs typeface="Cambria" pitchFamily="34" charset="-120"/>
              </a:rPr>
              <a:t>iki bin on</a:t>
            </a:r>
            <a:endParaRPr lang="en-US" sz="1050" dirty="0"/>
          </a:p>
        </p:txBody>
      </p:sp>
      <p:sp>
        <p:nvSpPr>
          <p:cNvPr id="7" name="Shape 5"/>
          <p:cNvSpPr/>
          <p:nvPr/>
        </p:nvSpPr>
        <p:spPr>
          <a:xfrm>
            <a:off x="2674620" y="914400"/>
            <a:ext cx="1828800" cy="640080"/>
          </a:xfrm>
          <a:prstGeom prst="roundRect">
            <a:avLst>
              <a:gd name="adj" fmla="val 21429"/>
            </a:avLst>
          </a:prstGeom>
          <a:solidFill>
            <a:srgbClr val="7C3AED"/>
          </a:solidFill>
          <a:ln/>
        </p:spPr>
      </p:sp>
      <p:sp>
        <p:nvSpPr>
          <p:cNvPr id="8" name="Text 6"/>
          <p:cNvSpPr/>
          <p:nvPr/>
        </p:nvSpPr>
        <p:spPr>
          <a:xfrm>
            <a:off x="2674620" y="914400"/>
            <a:ext cx="182880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2011</a:t>
            </a:r>
            <a:endParaRPr lang="en-US" sz="1400" dirty="0"/>
          </a:p>
          <a:p>
            <a:pPr marL="0" indent="0" algn="ctr">
              <a:buNone/>
            </a:pPr>
            <a:r>
              <a:rPr lang="en-US" sz="1050" dirty="0">
                <a:solidFill>
                  <a:srgbClr val="FFFFFF"/>
                </a:solidFill>
                <a:latin typeface="Cambria" pitchFamily="34" charset="0"/>
                <a:ea typeface="Cambria" pitchFamily="34" charset="-122"/>
                <a:cs typeface="Cambria" pitchFamily="34" charset="-120"/>
              </a:rPr>
              <a:t>iki bin on bir</a:t>
            </a:r>
            <a:endParaRPr lang="en-US" sz="1050" dirty="0"/>
          </a:p>
        </p:txBody>
      </p:sp>
      <p:sp>
        <p:nvSpPr>
          <p:cNvPr id="9" name="Shape 7"/>
          <p:cNvSpPr/>
          <p:nvPr/>
        </p:nvSpPr>
        <p:spPr>
          <a:xfrm>
            <a:off x="4640580" y="914400"/>
            <a:ext cx="1828800" cy="640080"/>
          </a:xfrm>
          <a:prstGeom prst="roundRect">
            <a:avLst>
              <a:gd name="adj" fmla="val 21429"/>
            </a:avLst>
          </a:prstGeom>
          <a:solidFill>
            <a:srgbClr val="7C3AED"/>
          </a:solidFill>
          <a:ln/>
        </p:spPr>
      </p:sp>
      <p:sp>
        <p:nvSpPr>
          <p:cNvPr id="10" name="Text 8"/>
          <p:cNvSpPr/>
          <p:nvPr/>
        </p:nvSpPr>
        <p:spPr>
          <a:xfrm>
            <a:off x="4640580" y="914400"/>
            <a:ext cx="182880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2012</a:t>
            </a:r>
            <a:endParaRPr lang="en-US" sz="1400" dirty="0"/>
          </a:p>
          <a:p>
            <a:pPr marL="0" indent="0" algn="ctr">
              <a:buNone/>
            </a:pPr>
            <a:r>
              <a:rPr lang="en-US" sz="1050" dirty="0">
                <a:solidFill>
                  <a:srgbClr val="FFFFFF"/>
                </a:solidFill>
                <a:latin typeface="Cambria" pitchFamily="34" charset="0"/>
                <a:ea typeface="Cambria" pitchFamily="34" charset="-122"/>
                <a:cs typeface="Cambria" pitchFamily="34" charset="-120"/>
              </a:rPr>
              <a:t>iki bin on iki</a:t>
            </a:r>
            <a:endParaRPr lang="en-US" sz="1050" dirty="0"/>
          </a:p>
        </p:txBody>
      </p:sp>
      <p:sp>
        <p:nvSpPr>
          <p:cNvPr id="11" name="Shape 9"/>
          <p:cNvSpPr/>
          <p:nvPr/>
        </p:nvSpPr>
        <p:spPr>
          <a:xfrm>
            <a:off x="6606540" y="914400"/>
            <a:ext cx="1828800" cy="640080"/>
          </a:xfrm>
          <a:prstGeom prst="roundRect">
            <a:avLst>
              <a:gd name="adj" fmla="val 21429"/>
            </a:avLst>
          </a:prstGeom>
          <a:solidFill>
            <a:srgbClr val="7C3AED"/>
          </a:solidFill>
          <a:ln/>
        </p:spPr>
      </p:sp>
      <p:sp>
        <p:nvSpPr>
          <p:cNvPr id="12" name="Text 10"/>
          <p:cNvSpPr/>
          <p:nvPr/>
        </p:nvSpPr>
        <p:spPr>
          <a:xfrm>
            <a:off x="6606540" y="914400"/>
            <a:ext cx="1828800" cy="64008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2013</a:t>
            </a:r>
            <a:endParaRPr lang="en-US" sz="1400" dirty="0"/>
          </a:p>
          <a:p>
            <a:pPr marL="0" indent="0" algn="ctr">
              <a:buNone/>
            </a:pPr>
            <a:r>
              <a:rPr lang="en-US" sz="1050" dirty="0">
                <a:solidFill>
                  <a:srgbClr val="FFFFFF"/>
                </a:solidFill>
                <a:latin typeface="Cambria" pitchFamily="34" charset="0"/>
                <a:ea typeface="Cambria" pitchFamily="34" charset="-122"/>
                <a:cs typeface="Cambria" pitchFamily="34" charset="-120"/>
              </a:rPr>
              <a:t>iki bin on üç</a:t>
            </a:r>
            <a:endParaRPr lang="en-US" sz="1050" dirty="0"/>
          </a:p>
        </p:txBody>
      </p:sp>
      <p:sp>
        <p:nvSpPr>
          <p:cNvPr id="13" name="Shape 11"/>
          <p:cNvSpPr/>
          <p:nvPr/>
        </p:nvSpPr>
        <p:spPr>
          <a:xfrm>
            <a:off x="548640" y="1828800"/>
            <a:ext cx="8046720" cy="2286000"/>
          </a:xfrm>
          <a:prstGeom prst="roundRect">
            <a:avLst>
              <a:gd name="adj" fmla="val 4800"/>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4" name="Text 12"/>
          <p:cNvSpPr/>
          <p:nvPr/>
        </p:nvSpPr>
        <p:spPr>
          <a:xfrm>
            <a:off x="822960" y="1965960"/>
            <a:ext cx="7498080" cy="2011680"/>
          </a:xfrm>
          <a:prstGeom prst="rect">
            <a:avLst/>
          </a:prstGeom>
          <a:noFill/>
          <a:ln/>
        </p:spPr>
        <p:txBody>
          <a:bodyPr wrap="square" rtlCol="0" anchor="ctr"/>
          <a:lstStyle/>
          <a:p>
            <a:pPr marL="0" indent="0" algn="ctr">
              <a:lnSpc>
                <a:spcPct val="130000"/>
              </a:lnSpc>
              <a:buNone/>
            </a:pPr>
            <a:r>
              <a:rPr lang="en-US" sz="1700" b="1" dirty="0">
                <a:solidFill>
                  <a:srgbClr val="1A2E5A"/>
                </a:solidFill>
                <a:latin typeface="Calibri" pitchFamily="34" charset="0"/>
                <a:ea typeface="Calibri" pitchFamily="34" charset="-122"/>
                <a:cs typeface="Calibri" pitchFamily="34" charset="-120"/>
              </a:rPr>
              <a:t>Ne zaman doğdun?  →  “12 Mart 2011'de doğdum.”</a:t>
            </a:r>
            <a:endParaRPr lang="en-US" sz="1700" dirty="0"/>
          </a:p>
          <a:p>
            <a:pPr marL="0" indent="0" algn="ctr">
              <a:lnSpc>
                <a:spcPct val="130000"/>
              </a:lnSpc>
              <a:buNone/>
            </a:pPr>
            <a:r>
              <a:rPr lang="en-US" sz="1500" dirty="0">
                <a:solidFill>
                  <a:srgbClr val="1A2E5A"/>
                </a:solidFill>
                <a:latin typeface="Calibri" pitchFamily="34" charset="0"/>
                <a:ea typeface="Calibri" pitchFamily="34" charset="-122"/>
                <a:cs typeface="Calibri" pitchFamily="34" charset="-120"/>
              </a:rPr>
              <a:t>2011'de doğdum, yani 15 yaşındayım.</a:t>
            </a:r>
            <a:endParaRPr lang="en-US" sz="1500" dirty="0"/>
          </a:p>
          <a:p>
            <a:pPr marL="0" indent="0" algn="ctr">
              <a:lnSpc>
                <a:spcPct val="130000"/>
              </a:lnSpc>
              <a:buNone/>
            </a:pPr>
            <a:r>
              <a:rPr lang="en-US" sz="800" dirty="0">
                <a:solidFill>
                  <a:srgbClr val="1A2E5A"/>
                </a:solidFill>
                <a:latin typeface="Calibri" pitchFamily="34" charset="0"/>
                <a:ea typeface="Calibri" pitchFamily="34" charset="-122"/>
                <a:cs typeface="Calibri" pitchFamily="34" charset="-120"/>
              </a:rPr>
              <a:t> </a:t>
            </a:r>
            <a:endParaRPr lang="en-US" sz="800" dirty="0"/>
          </a:p>
          <a:p>
            <a:pPr marL="0" indent="0" algn="ctr">
              <a:lnSpc>
                <a:spcPct val="130000"/>
              </a:lnSpc>
              <a:buNone/>
            </a:pPr>
            <a:r>
              <a:rPr lang="en-US" sz="1250" b="1" dirty="0">
                <a:solidFill>
                  <a:srgbClr val="1A2E5A"/>
                </a:solidFill>
                <a:latin typeface="Calibri" pitchFamily="34" charset="0"/>
                <a:ea typeface="Calibri" pitchFamily="34" charset="-122"/>
                <a:cs typeface="Calibri" pitchFamily="34" charset="-120"/>
              </a:rPr>
              <a:t>Eke dikkat: 2010'da • 2011'de • 2012'de • 2013'te — ek, sayının okunuşuna göre değişir!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      ÜNLÜ DEDEKTİF DOSYALARI: KİM, NE ZAMAN, NEREDE DOĞDU?</a:t>
            </a:r>
            <a:endParaRPr lang="en-US" sz="1800" dirty="0"/>
          </a:p>
        </p:txBody>
      </p:sp>
      <p:pic>
        <p:nvPicPr>
          <p:cNvPr id="14" name="Emoji 14" descr="emoji"/>
          <p:cNvPicPr>
            <a:picLocks noChangeAspect="1"/>
          </p:cNvPicPr>
          <p:nvPr/>
        </p:nvPicPr>
        <p:blipFill>
          <a:blip r:embed="rId3"/>
          <a:stretch>
            <a:fillRect/>
          </a:stretch>
        </p:blipFill>
        <p:spPr>
          <a:xfrm>
            <a:off x="443484" y="214884"/>
            <a:ext cx="228600" cy="228600"/>
          </a:xfrm>
          <a:prstGeom prst="rect">
            <a:avLst/>
          </a:prstGeom>
        </p:spPr>
      </p:pic>
      <p:sp>
        <p:nvSpPr>
          <p:cNvPr id="5" name="Shape 3"/>
          <p:cNvSpPr/>
          <p:nvPr/>
        </p:nvSpPr>
        <p:spPr>
          <a:xfrm>
            <a:off x="548640" y="914400"/>
            <a:ext cx="8046720" cy="1371600"/>
          </a:xfrm>
          <a:prstGeom prst="roundRect">
            <a:avLst>
              <a:gd name="adj" fmla="val 8000"/>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6" name="Text 4"/>
          <p:cNvSpPr/>
          <p:nvPr/>
        </p:nvSpPr>
        <p:spPr>
          <a:xfrm>
            <a:off x="822960" y="914400"/>
            <a:ext cx="7498080" cy="1371600"/>
          </a:xfrm>
          <a:prstGeom prst="rect">
            <a:avLst/>
          </a:prstGeom>
          <a:noFill/>
          <a:ln/>
        </p:spPr>
        <p:txBody>
          <a:bodyPr wrap="square" rtlCol="0" anchor="ctr"/>
          <a:lstStyle/>
          <a:p>
            <a:pPr marL="0" indent="0" algn="ctr">
              <a:buNone/>
            </a:pPr>
            <a:r>
              <a:rPr lang="en-US" sz="1600" b="1" dirty="0">
                <a:solidFill>
                  <a:srgbClr val="1A2E5A"/>
                </a:solidFill>
                <a:latin typeface="Calibri" pitchFamily="34" charset="0"/>
                <a:ea typeface="Calibri" pitchFamily="34" charset="-122"/>
                <a:cs typeface="Calibri" pitchFamily="34" charset="-120"/>
              </a:rPr>
              <a:t>Tarih söylerken yılı okumayı unutma: 1881 → bin sekiz yüz seksen bir. Şimdi dosyaları okuyalım!</a:t>
            </a:r>
            <a:endParaRPr lang="en-US" sz="1600" dirty="0"/>
          </a:p>
        </p:txBody>
      </p:sp>
      <p:sp>
        <p:nvSpPr>
          <p:cNvPr id="7" name="Shape 5"/>
          <p:cNvSpPr/>
          <p:nvPr/>
        </p:nvSpPr>
        <p:spPr>
          <a:xfrm>
            <a:off x="548640" y="2514600"/>
            <a:ext cx="3931920" cy="1554480"/>
          </a:xfrm>
          <a:prstGeom prst="roundRect">
            <a:avLst>
              <a:gd name="adj" fmla="val 7059"/>
            </a:avLst>
          </a:prstGeom>
          <a:solidFill>
            <a:srgbClr val="FFEDD5"/>
          </a:solidFill>
          <a:ln w="12700">
            <a:solidFill>
              <a:srgbClr val="FFFFFF"/>
            </a:solidFill>
            <a:prstDash val="solid"/>
          </a:ln>
        </p:spPr>
      </p:sp>
      <p:sp>
        <p:nvSpPr>
          <p:cNvPr id="8" name="Text 6"/>
          <p:cNvSpPr/>
          <p:nvPr/>
        </p:nvSpPr>
        <p:spPr>
          <a:xfrm>
            <a:off x="731520" y="2606040"/>
            <a:ext cx="3566160" cy="365760"/>
          </a:xfrm>
          <a:prstGeom prst="rect">
            <a:avLst/>
          </a:prstGeom>
          <a:noFill/>
          <a:ln/>
        </p:spPr>
        <p:txBody>
          <a:bodyPr wrap="square" rtlCol="0" anchor="ctr"/>
          <a:lstStyle/>
          <a:p>
            <a:pPr marL="0" indent="0" algn="ctr">
              <a:buNone/>
            </a:pPr>
            <a:r>
              <a:rPr lang="en-US" sz="1400" b="1" dirty="0">
                <a:solidFill>
                  <a:srgbClr val="F97316"/>
                </a:solidFill>
                <a:latin typeface="Calibri" pitchFamily="34" charset="0"/>
                <a:ea typeface="Calibri" pitchFamily="34" charset="-122"/>
                <a:cs typeface="Calibri" pitchFamily="34" charset="-120"/>
              </a:rPr>
              <a:t>Mustafa Kemal Atatürk</a:t>
            </a:r>
            <a:endParaRPr lang="en-US" sz="1400" dirty="0"/>
          </a:p>
        </p:txBody>
      </p:sp>
      <p:sp>
        <p:nvSpPr>
          <p:cNvPr id="9" name="Text 7"/>
          <p:cNvSpPr/>
          <p:nvPr/>
        </p:nvSpPr>
        <p:spPr>
          <a:xfrm>
            <a:off x="731520" y="2971800"/>
            <a:ext cx="3566160" cy="1005840"/>
          </a:xfrm>
          <a:prstGeom prst="rect">
            <a:avLst/>
          </a:prstGeom>
          <a:noFill/>
          <a:ln/>
        </p:spPr>
        <p:txBody>
          <a:bodyPr wrap="square" rtlCol="0" anchor="ctr"/>
          <a:lstStyle/>
          <a:p>
            <a:pPr marL="0" indent="0" algn="ctr">
              <a:buNone/>
            </a:pPr>
            <a:r>
              <a:rPr lang="en-US" sz="1250" dirty="0">
                <a:solidFill>
                  <a:srgbClr val="1E293B"/>
                </a:solidFill>
                <a:latin typeface="Calibri" pitchFamily="34" charset="0"/>
                <a:ea typeface="Calibri" pitchFamily="34" charset="-122"/>
                <a:cs typeface="Calibri" pitchFamily="34" charset="-120"/>
              </a:rPr>
              <a:t>1881'de Selanik'te doğdu.  (bin sekiz yüz seksen bir)</a:t>
            </a:r>
            <a:endParaRPr lang="en-US" sz="1250" dirty="0"/>
          </a:p>
        </p:txBody>
      </p:sp>
      <p:sp>
        <p:nvSpPr>
          <p:cNvPr id="10" name="Shape 8"/>
          <p:cNvSpPr/>
          <p:nvPr/>
        </p:nvSpPr>
        <p:spPr>
          <a:xfrm>
            <a:off x="4663440" y="2514600"/>
            <a:ext cx="3931920" cy="1554480"/>
          </a:xfrm>
          <a:prstGeom prst="roundRect">
            <a:avLst>
              <a:gd name="adj" fmla="val 7059"/>
            </a:avLst>
          </a:prstGeom>
          <a:solidFill>
            <a:srgbClr val="DBEAFE"/>
          </a:solidFill>
          <a:ln w="12700">
            <a:solidFill>
              <a:srgbClr val="FFFFFF"/>
            </a:solidFill>
            <a:prstDash val="solid"/>
          </a:ln>
        </p:spPr>
      </p:sp>
      <p:sp>
        <p:nvSpPr>
          <p:cNvPr id="11" name="Text 9"/>
          <p:cNvSpPr/>
          <p:nvPr/>
        </p:nvSpPr>
        <p:spPr>
          <a:xfrm>
            <a:off x="4846320" y="2606040"/>
            <a:ext cx="3566160" cy="365760"/>
          </a:xfrm>
          <a:prstGeom prst="rect">
            <a:avLst/>
          </a:prstGeom>
          <a:noFill/>
          <a:ln/>
        </p:spPr>
        <p:txBody>
          <a:bodyPr wrap="square"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Mevlânâ Celâleddin-i Rûmî</a:t>
            </a:r>
            <a:endParaRPr lang="en-US" sz="1400" dirty="0"/>
          </a:p>
        </p:txBody>
      </p:sp>
      <p:sp>
        <p:nvSpPr>
          <p:cNvPr id="12" name="Text 10"/>
          <p:cNvSpPr/>
          <p:nvPr/>
        </p:nvSpPr>
        <p:spPr>
          <a:xfrm>
            <a:off x="4846320" y="2971800"/>
            <a:ext cx="3566160" cy="1005840"/>
          </a:xfrm>
          <a:prstGeom prst="rect">
            <a:avLst/>
          </a:prstGeom>
          <a:noFill/>
          <a:ln/>
        </p:spPr>
        <p:txBody>
          <a:bodyPr wrap="square" rtlCol="0" anchor="ctr"/>
          <a:lstStyle/>
          <a:p>
            <a:pPr marL="0" indent="0" algn="ctr">
              <a:buNone/>
            </a:pPr>
            <a:r>
              <a:rPr lang="en-US" sz="1250" dirty="0">
                <a:solidFill>
                  <a:srgbClr val="1E293B"/>
                </a:solidFill>
                <a:latin typeface="Calibri" pitchFamily="34" charset="0"/>
                <a:ea typeface="Calibri" pitchFamily="34" charset="-122"/>
                <a:cs typeface="Calibri" pitchFamily="34" charset="-120"/>
              </a:rPr>
              <a:t>1207'de Belh'te doğdu.  (bin iki yüz yedi)</a:t>
            </a:r>
            <a:endParaRPr lang="en-US" sz="1250" dirty="0"/>
          </a:p>
        </p:txBody>
      </p:sp>
      <p:sp>
        <p:nvSpPr>
          <p:cNvPr id="13" name="Text 11"/>
          <p:cNvSpPr/>
          <p:nvPr/>
        </p:nvSpPr>
        <p:spPr>
          <a:xfrm>
            <a:off x="457200" y="4251960"/>
            <a:ext cx="8229600" cy="457200"/>
          </a:xfrm>
          <a:prstGeom prst="rect">
            <a:avLst/>
          </a:prstGeom>
          <a:noFill/>
          <a:ln/>
        </p:spPr>
        <p:txBody>
          <a:bodyPr wrap="square" rtlCol="0" anchor="ctr"/>
          <a:lstStyle/>
          <a:p>
            <a:pPr marL="0" indent="0" algn="ctr">
              <a:buNone/>
            </a:pPr>
            <a:r>
              <a:rPr lang="en-US" sz="1300" i="1" dirty="0">
                <a:solidFill>
                  <a:srgbClr val="1A2E5A"/>
                </a:solidFill>
                <a:latin typeface="Calibri" pitchFamily="34" charset="0"/>
                <a:ea typeface="Calibri" pitchFamily="34" charset="-122"/>
                <a:cs typeface="Calibri" pitchFamily="34" charset="-120"/>
              </a:rPr>
              <a:t>Sıra sende: “Ben ____ ____ ____'de/da ____'de/da doğdum.”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BEAFE"/>
          </a:solidFill>
          <a:ln/>
        </p:spPr>
      </p:sp>
      <p:sp>
        <p:nvSpPr>
          <p:cNvPr id="3" name="Shape 1"/>
          <p:cNvSpPr/>
          <p:nvPr/>
        </p:nvSpPr>
        <p:spPr>
          <a:xfrm>
            <a:off x="0" y="0"/>
            <a:ext cx="9144000" cy="658368"/>
          </a:xfrm>
          <a:prstGeom prst="rect">
            <a:avLst/>
          </a:prstGeom>
          <a:solidFill>
            <a:srgbClr val="2563EB"/>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      DİL İSKELETİ İSTASYONU</a:t>
            </a:r>
            <a:endParaRPr lang="en-US" sz="1800" dirty="0"/>
          </a:p>
        </p:txBody>
      </p:sp>
      <p:pic>
        <p:nvPicPr>
          <p:cNvPr id="11" name="Emoji 11" descr="emoji"/>
          <p:cNvPicPr>
            <a:picLocks noChangeAspect="1"/>
          </p:cNvPicPr>
          <p:nvPr/>
        </p:nvPicPr>
        <p:blipFill>
          <a:blip r:embed="rId3"/>
          <a:stretch>
            <a:fillRect/>
          </a:stretch>
        </p:blipFill>
        <p:spPr>
          <a:xfrm>
            <a:off x="443484" y="214884"/>
            <a:ext cx="228600" cy="228600"/>
          </a:xfrm>
          <a:prstGeom prst="rect">
            <a:avLst/>
          </a:prstGeom>
        </p:spPr>
      </p:pic>
      <p:sp>
        <p:nvSpPr>
          <p:cNvPr id="5" name="Shape 3"/>
          <p:cNvSpPr/>
          <p:nvPr/>
        </p:nvSpPr>
        <p:spPr>
          <a:xfrm>
            <a:off x="457200" y="914400"/>
            <a:ext cx="8229600" cy="1920240"/>
          </a:xfrm>
          <a:prstGeom prst="roundRect">
            <a:avLst>
              <a:gd name="adj" fmla="val 571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6" name="Text 4"/>
          <p:cNvSpPr/>
          <p:nvPr/>
        </p:nvSpPr>
        <p:spPr>
          <a:xfrm>
            <a:off x="731520" y="914400"/>
            <a:ext cx="7680960" cy="1920240"/>
          </a:xfrm>
          <a:prstGeom prst="rect">
            <a:avLst/>
          </a:prstGeom>
          <a:noFill/>
          <a:ln/>
        </p:spPr>
        <p:txBody>
          <a:bodyPr wrap="square" rtlCol="0" anchor="ctr"/>
          <a:lstStyle/>
          <a:p>
            <a:pPr marL="0" indent="0" algn="l">
              <a:lnSpc>
                <a:spcPct val="130000"/>
              </a:lnSpc>
              <a:buNone/>
            </a:pPr>
            <a:r>
              <a:rPr lang="en-US" sz="1600" b="1" dirty="0">
                <a:solidFill>
                  <a:srgbClr val="1A2E5A"/>
                </a:solidFill>
                <a:latin typeface="Calibri" pitchFamily="34" charset="0"/>
                <a:ea typeface="Calibri" pitchFamily="34" charset="-122"/>
                <a:cs typeface="Calibri" pitchFamily="34" charset="-120"/>
              </a:rPr>
              <a:t>“2011'de Berlin'de doğdum. Üç yaşında kreşe başladım. Önce biraz çekingendim ama sonra çok arkadaş edindim. Altı yaşında ilkokula başladım. Ardından ailemle yeni bir şehre taşındık.”</a:t>
            </a:r>
            <a:endParaRPr lang="en-US" sz="1600" dirty="0"/>
          </a:p>
        </p:txBody>
      </p:sp>
      <p:sp>
        <p:nvSpPr>
          <p:cNvPr id="7" name="Shape 5"/>
          <p:cNvSpPr/>
          <p:nvPr/>
        </p:nvSpPr>
        <p:spPr>
          <a:xfrm>
            <a:off x="457200" y="2971800"/>
            <a:ext cx="2377440" cy="411480"/>
          </a:xfrm>
          <a:prstGeom prst="roundRect">
            <a:avLst>
              <a:gd name="adj" fmla="val 48889"/>
            </a:avLst>
          </a:prstGeom>
          <a:solidFill>
            <a:srgbClr val="16A34A"/>
          </a:solidFill>
          <a:ln/>
        </p:spPr>
      </p:sp>
      <p:sp>
        <p:nvSpPr>
          <p:cNvPr id="8" name="Text 6"/>
          <p:cNvSpPr/>
          <p:nvPr/>
        </p:nvSpPr>
        <p:spPr>
          <a:xfrm>
            <a:off x="457200" y="2971800"/>
            <a:ext cx="237744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Şimdi sen anlat!</a:t>
            </a:r>
            <a:endParaRPr lang="en-US" sz="1250" dirty="0"/>
          </a:p>
        </p:txBody>
      </p:sp>
      <p:pic>
        <p:nvPicPr>
          <p:cNvPr id="12" name="Emoji 12" descr="emoji"/>
          <p:cNvPicPr>
            <a:picLocks noChangeAspect="1"/>
          </p:cNvPicPr>
          <p:nvPr/>
        </p:nvPicPr>
        <p:blipFill>
          <a:blip r:embed="rId4"/>
          <a:stretch>
            <a:fillRect/>
          </a:stretch>
        </p:blipFill>
        <p:spPr>
          <a:xfrm>
            <a:off x="1021728" y="3098165"/>
            <a:ext cx="158750" cy="158750"/>
          </a:xfrm>
          <a:prstGeom prst="rect">
            <a:avLst/>
          </a:prstGeom>
        </p:spPr>
      </p:pic>
      <p:sp>
        <p:nvSpPr>
          <p:cNvPr id="9" name="Shape 7"/>
          <p:cNvSpPr/>
          <p:nvPr/>
        </p:nvSpPr>
        <p:spPr>
          <a:xfrm>
            <a:off x="457200" y="3474720"/>
            <a:ext cx="8229600" cy="1280160"/>
          </a:xfrm>
          <a:prstGeom prst="roundRect">
            <a:avLst>
              <a:gd name="adj" fmla="val 8571"/>
            </a:avLst>
          </a:prstGeom>
          <a:solidFill>
            <a:srgbClr val="DCFCE7"/>
          </a:solidFill>
          <a:ln w="12700">
            <a:solidFill>
              <a:srgbClr val="FFFFFF"/>
            </a:solidFill>
            <a:prstDash val="solid"/>
          </a:ln>
        </p:spPr>
      </p:sp>
      <p:sp>
        <p:nvSpPr>
          <p:cNvPr id="10" name="Text 8"/>
          <p:cNvSpPr/>
          <p:nvPr/>
        </p:nvSpPr>
        <p:spPr>
          <a:xfrm>
            <a:off x="731520" y="3474720"/>
            <a:ext cx="7680960" cy="1280160"/>
          </a:xfrm>
          <a:prstGeom prst="rect">
            <a:avLst/>
          </a:prstGeom>
          <a:noFill/>
          <a:ln/>
        </p:spPr>
        <p:txBody>
          <a:bodyPr wrap="square" rtlCol="0" anchor="ctr"/>
          <a:lstStyle/>
          <a:p>
            <a:pPr marL="0" indent="0" algn="l">
              <a:buNone/>
            </a:pPr>
            <a:r>
              <a:rPr lang="en-US" sz="1500" i="1" dirty="0">
                <a:solidFill>
                  <a:srgbClr val="1E293B"/>
                </a:solidFill>
                <a:latin typeface="Calibri" pitchFamily="34" charset="0"/>
                <a:ea typeface="Calibri" pitchFamily="34" charset="-122"/>
                <a:cs typeface="Calibri" pitchFamily="34" charset="-120"/>
              </a:rPr>
              <a:t>“____'de/da ____'de/da doğdum. ____ yaşında ____. Önce ____, sonra ____. Ardından ____.”</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E9FE"/>
          </a:solidFill>
          <a:ln/>
        </p:spPr>
      </p:sp>
      <p:sp>
        <p:nvSpPr>
          <p:cNvPr id="3" name="Shape 1"/>
          <p:cNvSpPr/>
          <p:nvPr/>
        </p:nvSpPr>
        <p:spPr>
          <a:xfrm>
            <a:off x="0" y="0"/>
            <a:ext cx="9144000" cy="658368"/>
          </a:xfrm>
          <a:prstGeom prst="rect">
            <a:avLst/>
          </a:prstGeom>
          <a:solidFill>
            <a:srgbClr val="7C3AED"/>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      ZAMAN İFADELERİ</a:t>
            </a:r>
            <a:endParaRPr lang="en-US" sz="1800" dirty="0"/>
          </a:p>
        </p:txBody>
      </p:sp>
      <p:pic>
        <p:nvPicPr>
          <p:cNvPr id="15" name="Emoji 15" descr="emoji"/>
          <p:cNvPicPr>
            <a:picLocks noChangeAspect="1"/>
          </p:cNvPicPr>
          <p:nvPr/>
        </p:nvPicPr>
        <p:blipFill>
          <a:blip r:embed="rId3"/>
          <a:stretch>
            <a:fillRect/>
          </a:stretch>
        </p:blipFill>
        <p:spPr>
          <a:xfrm>
            <a:off x="443484" y="214884"/>
            <a:ext cx="228600" cy="228600"/>
          </a:xfrm>
          <a:prstGeom prst="rect">
            <a:avLst/>
          </a:prstGeom>
        </p:spPr>
      </p:pic>
      <p:sp>
        <p:nvSpPr>
          <p:cNvPr id="5" name="Shape 3"/>
          <p:cNvSpPr/>
          <p:nvPr/>
        </p:nvSpPr>
        <p:spPr>
          <a:xfrm>
            <a:off x="708660" y="914400"/>
            <a:ext cx="1828800" cy="640080"/>
          </a:xfrm>
          <a:prstGeom prst="roundRect">
            <a:avLst>
              <a:gd name="adj" fmla="val 21429"/>
            </a:avLst>
          </a:prstGeom>
          <a:solidFill>
            <a:srgbClr val="7C3AED"/>
          </a:solidFill>
          <a:ln/>
        </p:spPr>
      </p:sp>
      <p:sp>
        <p:nvSpPr>
          <p:cNvPr id="6" name="Text 4"/>
          <p:cNvSpPr/>
          <p:nvPr/>
        </p:nvSpPr>
        <p:spPr>
          <a:xfrm>
            <a:off x="708660" y="914400"/>
            <a:ext cx="1828800" cy="6400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Önce</a:t>
            </a:r>
            <a:endParaRPr lang="en-US" sz="1400" dirty="0"/>
          </a:p>
        </p:txBody>
      </p:sp>
      <p:sp>
        <p:nvSpPr>
          <p:cNvPr id="7" name="Shape 5"/>
          <p:cNvSpPr/>
          <p:nvPr/>
        </p:nvSpPr>
        <p:spPr>
          <a:xfrm>
            <a:off x="2674620" y="914400"/>
            <a:ext cx="1828800" cy="640080"/>
          </a:xfrm>
          <a:prstGeom prst="roundRect">
            <a:avLst>
              <a:gd name="adj" fmla="val 21429"/>
            </a:avLst>
          </a:prstGeom>
          <a:solidFill>
            <a:srgbClr val="7C3AED"/>
          </a:solidFill>
          <a:ln/>
        </p:spPr>
      </p:sp>
      <p:sp>
        <p:nvSpPr>
          <p:cNvPr id="8" name="Text 6"/>
          <p:cNvSpPr/>
          <p:nvPr/>
        </p:nvSpPr>
        <p:spPr>
          <a:xfrm>
            <a:off x="2674620" y="914400"/>
            <a:ext cx="1828800" cy="6400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Sonra</a:t>
            </a:r>
            <a:endParaRPr lang="en-US" sz="1400" dirty="0"/>
          </a:p>
        </p:txBody>
      </p:sp>
      <p:sp>
        <p:nvSpPr>
          <p:cNvPr id="9" name="Shape 7"/>
          <p:cNvSpPr/>
          <p:nvPr/>
        </p:nvSpPr>
        <p:spPr>
          <a:xfrm>
            <a:off x="4640580" y="914400"/>
            <a:ext cx="1828800" cy="640080"/>
          </a:xfrm>
          <a:prstGeom prst="roundRect">
            <a:avLst>
              <a:gd name="adj" fmla="val 21429"/>
            </a:avLst>
          </a:prstGeom>
          <a:solidFill>
            <a:srgbClr val="7C3AED"/>
          </a:solidFill>
          <a:ln/>
        </p:spPr>
      </p:sp>
      <p:sp>
        <p:nvSpPr>
          <p:cNvPr id="10" name="Text 8"/>
          <p:cNvSpPr/>
          <p:nvPr/>
        </p:nvSpPr>
        <p:spPr>
          <a:xfrm>
            <a:off x="4640580" y="914400"/>
            <a:ext cx="1828800" cy="6400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Ardından</a:t>
            </a:r>
            <a:endParaRPr lang="en-US" sz="1400" dirty="0"/>
          </a:p>
        </p:txBody>
      </p:sp>
      <p:sp>
        <p:nvSpPr>
          <p:cNvPr id="11" name="Shape 9"/>
          <p:cNvSpPr/>
          <p:nvPr/>
        </p:nvSpPr>
        <p:spPr>
          <a:xfrm>
            <a:off x="6606540" y="914400"/>
            <a:ext cx="1828800" cy="640080"/>
          </a:xfrm>
          <a:prstGeom prst="roundRect">
            <a:avLst>
              <a:gd name="adj" fmla="val 21429"/>
            </a:avLst>
          </a:prstGeom>
          <a:solidFill>
            <a:srgbClr val="7C3AED"/>
          </a:solidFill>
          <a:ln/>
        </p:spPr>
      </p:sp>
      <p:sp>
        <p:nvSpPr>
          <p:cNvPr id="12" name="Text 10"/>
          <p:cNvSpPr/>
          <p:nvPr/>
        </p:nvSpPr>
        <p:spPr>
          <a:xfrm>
            <a:off x="6606540" y="914400"/>
            <a:ext cx="1828800" cy="6400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Daha sonra</a:t>
            </a:r>
            <a:endParaRPr lang="en-US" sz="1400" dirty="0"/>
          </a:p>
        </p:txBody>
      </p:sp>
      <p:sp>
        <p:nvSpPr>
          <p:cNvPr id="13" name="Shape 11"/>
          <p:cNvSpPr/>
          <p:nvPr/>
        </p:nvSpPr>
        <p:spPr>
          <a:xfrm>
            <a:off x="548640" y="1828800"/>
            <a:ext cx="8046720" cy="2286000"/>
          </a:xfrm>
          <a:prstGeom prst="roundRect">
            <a:avLst>
              <a:gd name="adj" fmla="val 4800"/>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4" name="Text 12"/>
          <p:cNvSpPr/>
          <p:nvPr/>
        </p:nvSpPr>
        <p:spPr>
          <a:xfrm>
            <a:off x="822960" y="1965960"/>
            <a:ext cx="7498080" cy="2011680"/>
          </a:xfrm>
          <a:prstGeom prst="rect">
            <a:avLst/>
          </a:prstGeom>
          <a:noFill/>
          <a:ln/>
        </p:spPr>
        <p:txBody>
          <a:bodyPr wrap="square" rtlCol="0" anchor="ctr"/>
          <a:lstStyle/>
          <a:p>
            <a:pPr marL="0" indent="0" algn="ctr">
              <a:lnSpc>
                <a:spcPct val="130000"/>
              </a:lnSpc>
              <a:buNone/>
            </a:pPr>
            <a:r>
              <a:rPr lang="en-US" sz="1700" b="1" dirty="0">
                <a:solidFill>
                  <a:srgbClr val="1A2E5A"/>
                </a:solidFill>
                <a:latin typeface="Calibri" pitchFamily="34" charset="0"/>
                <a:ea typeface="Calibri" pitchFamily="34" charset="-122"/>
                <a:cs typeface="Calibri" pitchFamily="34" charset="-120"/>
              </a:rPr>
              <a:t>"Önce kreşe gittim, sonra ilkokula başladım. Ardından spor kulübüne katıldım."</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      KÜLTÜR DEDEKTİFİ: YAŞA SAYGI KARŞILAŞTIRMASI</a:t>
            </a:r>
            <a:endParaRPr lang="en-US" sz="1800" dirty="0"/>
          </a:p>
        </p:txBody>
      </p:sp>
      <p:pic>
        <p:nvPicPr>
          <p:cNvPr id="14" name="Emoji 14" descr="emoji"/>
          <p:cNvPicPr>
            <a:picLocks noChangeAspect="1"/>
          </p:cNvPicPr>
          <p:nvPr/>
        </p:nvPicPr>
        <p:blipFill>
          <a:blip r:embed="rId3"/>
          <a:stretch>
            <a:fillRect/>
          </a:stretch>
        </p:blipFill>
        <p:spPr>
          <a:xfrm>
            <a:off x="443484" y="214884"/>
            <a:ext cx="228600" cy="228600"/>
          </a:xfrm>
          <a:prstGeom prst="rect">
            <a:avLst/>
          </a:prstGeom>
        </p:spPr>
      </p:pic>
      <p:sp>
        <p:nvSpPr>
          <p:cNvPr id="5" name="Shape 3"/>
          <p:cNvSpPr/>
          <p:nvPr/>
        </p:nvSpPr>
        <p:spPr>
          <a:xfrm>
            <a:off x="548640" y="914400"/>
            <a:ext cx="8046720" cy="1371600"/>
          </a:xfrm>
          <a:prstGeom prst="roundRect">
            <a:avLst>
              <a:gd name="adj" fmla="val 8000"/>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6" name="Text 4"/>
          <p:cNvSpPr/>
          <p:nvPr/>
        </p:nvSpPr>
        <p:spPr>
          <a:xfrm>
            <a:off x="822960" y="914400"/>
            <a:ext cx="7498080" cy="1371600"/>
          </a:xfrm>
          <a:prstGeom prst="rect">
            <a:avLst/>
          </a:prstGeom>
          <a:noFill/>
          <a:ln/>
        </p:spPr>
        <p:txBody>
          <a:bodyPr wrap="square" rtlCol="0" anchor="ctr"/>
          <a:lstStyle/>
          <a:p>
            <a:pPr marL="0" indent="0" algn="ctr">
              <a:buNone/>
            </a:pPr>
            <a:r>
              <a:rPr lang="en-US" sz="1600" b="1" dirty="0">
                <a:solidFill>
                  <a:srgbClr val="1A2E5A"/>
                </a:solidFill>
                <a:latin typeface="Calibri" pitchFamily="34" charset="0"/>
                <a:ea typeface="Calibri" pitchFamily="34" charset="-122"/>
                <a:cs typeface="Calibri" pitchFamily="34" charset="-120"/>
              </a:rPr>
              <a:t>Yaşadığınız ülkede çocuklar büyüklerle nasıl konuşur? Türkiye'deki “yaşa saygı” kültürü nerede benziyor, nerede ayrılıyor?</a:t>
            </a:r>
            <a:endParaRPr lang="en-US" sz="1600" dirty="0"/>
          </a:p>
        </p:txBody>
      </p:sp>
      <p:sp>
        <p:nvSpPr>
          <p:cNvPr id="7" name="Shape 5"/>
          <p:cNvSpPr/>
          <p:nvPr/>
        </p:nvSpPr>
        <p:spPr>
          <a:xfrm>
            <a:off x="548640" y="2514600"/>
            <a:ext cx="3931920" cy="1554480"/>
          </a:xfrm>
          <a:prstGeom prst="roundRect">
            <a:avLst>
              <a:gd name="adj" fmla="val 7059"/>
            </a:avLst>
          </a:prstGeom>
          <a:solidFill>
            <a:srgbClr val="FFEDD5"/>
          </a:solidFill>
          <a:ln w="12700">
            <a:solidFill>
              <a:srgbClr val="FFFFFF"/>
            </a:solidFill>
            <a:prstDash val="solid"/>
          </a:ln>
        </p:spPr>
      </p:sp>
      <p:sp>
        <p:nvSpPr>
          <p:cNvPr id="8" name="Text 6"/>
          <p:cNvSpPr/>
          <p:nvPr/>
        </p:nvSpPr>
        <p:spPr>
          <a:xfrm>
            <a:off x="731520" y="2606040"/>
            <a:ext cx="3566160" cy="365760"/>
          </a:xfrm>
          <a:prstGeom prst="rect">
            <a:avLst/>
          </a:prstGeom>
          <a:noFill/>
          <a:ln/>
        </p:spPr>
        <p:txBody>
          <a:bodyPr wrap="square" rtlCol="0" anchor="ctr"/>
          <a:lstStyle/>
          <a:p>
            <a:pPr marL="0" indent="0" algn="ctr">
              <a:buNone/>
            </a:pPr>
            <a:r>
              <a:rPr lang="en-US" sz="1400" b="1" dirty="0">
                <a:solidFill>
                  <a:srgbClr val="F97316"/>
                </a:solidFill>
                <a:latin typeface="Calibri" pitchFamily="34" charset="0"/>
                <a:ea typeface="Calibri" pitchFamily="34" charset="-122"/>
                <a:cs typeface="Calibri" pitchFamily="34" charset="-120"/>
              </a:rPr>
              <a:t>Türkiye'de</a:t>
            </a:r>
            <a:endParaRPr lang="en-US" sz="1400" dirty="0"/>
          </a:p>
        </p:txBody>
      </p:sp>
      <p:sp>
        <p:nvSpPr>
          <p:cNvPr id="9" name="Text 7"/>
          <p:cNvSpPr/>
          <p:nvPr/>
        </p:nvSpPr>
        <p:spPr>
          <a:xfrm>
            <a:off x="731520" y="2971800"/>
            <a:ext cx="3566160" cy="1005840"/>
          </a:xfrm>
          <a:prstGeom prst="rect">
            <a:avLst/>
          </a:prstGeom>
          <a:noFill/>
          <a:ln/>
        </p:spPr>
        <p:txBody>
          <a:bodyPr wrap="square" rtlCol="0" anchor="ctr"/>
          <a:lstStyle/>
          <a:p>
            <a:pPr marL="0" indent="0" algn="ctr">
              <a:buNone/>
            </a:pPr>
            <a:r>
              <a:rPr lang="en-US" sz="1250" dirty="0">
                <a:solidFill>
                  <a:srgbClr val="1E293B"/>
                </a:solidFill>
                <a:latin typeface="Calibri" pitchFamily="34" charset="0"/>
                <a:ea typeface="Calibri" pitchFamily="34" charset="-122"/>
                <a:cs typeface="Calibri" pitchFamily="34" charset="-120"/>
              </a:rPr>
              <a:t>Yaşa saygı hitaplarda görünür: Abi, Abla, Amca, Teyze ve “siz”.</a:t>
            </a:r>
            <a:endParaRPr lang="en-US" sz="1250" dirty="0"/>
          </a:p>
        </p:txBody>
      </p:sp>
      <p:sp>
        <p:nvSpPr>
          <p:cNvPr id="10" name="Shape 8"/>
          <p:cNvSpPr/>
          <p:nvPr/>
        </p:nvSpPr>
        <p:spPr>
          <a:xfrm>
            <a:off x="4663440" y="2514600"/>
            <a:ext cx="3931920" cy="1554480"/>
          </a:xfrm>
          <a:prstGeom prst="roundRect">
            <a:avLst>
              <a:gd name="adj" fmla="val 7059"/>
            </a:avLst>
          </a:prstGeom>
          <a:solidFill>
            <a:srgbClr val="DBEAFE"/>
          </a:solidFill>
          <a:ln w="12700">
            <a:solidFill>
              <a:srgbClr val="FFFFFF"/>
            </a:solidFill>
            <a:prstDash val="solid"/>
          </a:ln>
        </p:spPr>
      </p:sp>
      <p:sp>
        <p:nvSpPr>
          <p:cNvPr id="11" name="Text 9"/>
          <p:cNvSpPr/>
          <p:nvPr/>
        </p:nvSpPr>
        <p:spPr>
          <a:xfrm>
            <a:off x="4846320" y="2606040"/>
            <a:ext cx="3566160" cy="365760"/>
          </a:xfrm>
          <a:prstGeom prst="rect">
            <a:avLst/>
          </a:prstGeom>
          <a:noFill/>
          <a:ln/>
        </p:spPr>
        <p:txBody>
          <a:bodyPr wrap="square"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Yaşadığın Ülkede</a:t>
            </a:r>
            <a:endParaRPr lang="en-US" sz="1400" dirty="0"/>
          </a:p>
        </p:txBody>
      </p:sp>
      <p:sp>
        <p:nvSpPr>
          <p:cNvPr id="12" name="Text 10"/>
          <p:cNvSpPr/>
          <p:nvPr/>
        </p:nvSpPr>
        <p:spPr>
          <a:xfrm>
            <a:off x="4846320" y="2971800"/>
            <a:ext cx="3566160" cy="1005840"/>
          </a:xfrm>
          <a:prstGeom prst="rect">
            <a:avLst/>
          </a:prstGeom>
          <a:noFill/>
          <a:ln/>
        </p:spPr>
        <p:txBody>
          <a:bodyPr wrap="square" rtlCol="0" anchor="ctr"/>
          <a:lstStyle/>
          <a:p>
            <a:pPr marL="0" indent="0" algn="ctr">
              <a:buNone/>
            </a:pPr>
            <a:r>
              <a:rPr lang="en-US" sz="1250" dirty="0">
                <a:solidFill>
                  <a:srgbClr val="1E293B"/>
                </a:solidFill>
                <a:latin typeface="Calibri" pitchFamily="34" charset="0"/>
                <a:ea typeface="Calibri" pitchFamily="34" charset="-122"/>
                <a:cs typeface="Calibri" pitchFamily="34" charset="-120"/>
              </a:rPr>
              <a:t>Birçok ülkede büyüklere </a:t>
            </a:r>
            <a:r>
              <a:rPr lang="en-US" sz="1250" dirty="0" err="1">
                <a:solidFill>
                  <a:srgbClr val="1E293B"/>
                </a:solidFill>
                <a:latin typeface="Calibri" pitchFamily="34" charset="0"/>
                <a:ea typeface="Calibri" pitchFamily="34" charset="-122"/>
                <a:cs typeface="Calibri" pitchFamily="34" charset="-120"/>
              </a:rPr>
              <a:t>isimle</a:t>
            </a:r>
            <a:r>
              <a:rPr lang="en-US" sz="1250" dirty="0">
                <a:solidFill>
                  <a:srgbClr val="1E293B"/>
                </a:solidFill>
                <a:latin typeface="Calibri" pitchFamily="34" charset="0"/>
                <a:ea typeface="Calibri" pitchFamily="34" charset="-122"/>
                <a:cs typeface="Calibri" pitchFamily="34" charset="-120"/>
              </a:rPr>
              <a:t> </a:t>
            </a:r>
            <a:r>
              <a:rPr lang="en-US" sz="1250" dirty="0" err="1" smtClean="0">
                <a:solidFill>
                  <a:srgbClr val="1E293B"/>
                </a:solidFill>
                <a:latin typeface="Calibri" pitchFamily="34" charset="0"/>
                <a:ea typeface="Calibri" pitchFamily="34" charset="-122"/>
                <a:cs typeface="Calibri" pitchFamily="34" charset="-120"/>
              </a:rPr>
              <a:t>seslenilir</a:t>
            </a:r>
            <a:r>
              <a:rPr lang="en-US" sz="1250" dirty="0">
                <a:solidFill>
                  <a:srgbClr val="1E293B"/>
                </a:solidFill>
                <a:latin typeface="Calibri" pitchFamily="34" charset="0"/>
                <a:ea typeface="Calibri" pitchFamily="34" charset="-122"/>
                <a:cs typeface="Calibri" pitchFamily="34" charset="-120"/>
              </a:rPr>
              <a:t>.</a:t>
            </a:r>
            <a:endParaRPr lang="en-US" sz="1250" dirty="0"/>
          </a:p>
        </p:txBody>
      </p:sp>
      <p:sp>
        <p:nvSpPr>
          <p:cNvPr id="13" name="Text 11"/>
          <p:cNvSpPr/>
          <p:nvPr/>
        </p:nvSpPr>
        <p:spPr>
          <a:xfrm>
            <a:off x="457200" y="4251960"/>
            <a:ext cx="8229600" cy="457200"/>
          </a:xfrm>
          <a:prstGeom prst="rect">
            <a:avLst/>
          </a:prstGeom>
          <a:noFill/>
          <a:ln/>
        </p:spPr>
        <p:txBody>
          <a:bodyPr wrap="square" rtlCol="0" anchor="ctr"/>
          <a:lstStyle/>
          <a:p>
            <a:pPr marL="0" indent="0" algn="ctr">
              <a:buNone/>
            </a:pPr>
            <a:r>
              <a:rPr lang="en-US" sz="1300" i="1" dirty="0">
                <a:solidFill>
                  <a:srgbClr val="1A2E5A"/>
                </a:solidFill>
                <a:latin typeface="Calibri" pitchFamily="34" charset="0"/>
                <a:ea typeface="Calibri" pitchFamily="34" charset="-122"/>
                <a:cs typeface="Calibri" pitchFamily="34" charset="-120"/>
              </a:rPr>
              <a:t>Hangi durumda hangisi size daha doğal geliyor?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1A2E5A"/>
                </a:solidFill>
                <a:latin typeface="Cambria" pitchFamily="34" charset="0"/>
                <a:ea typeface="Cambria" pitchFamily="34" charset="-122"/>
                <a:cs typeface="Cambria" pitchFamily="34" charset="-120"/>
              </a:rPr>
              <a:t>      KÜLTÜR KÖŞESİ – DEDEKTİF SIRRI!</a:t>
            </a:r>
            <a:endParaRPr lang="en-US" sz="1800" dirty="0"/>
          </a:p>
        </p:txBody>
      </p:sp>
      <p:pic>
        <p:nvPicPr>
          <p:cNvPr id="18" name="Emoji 18" descr="emoji"/>
          <p:cNvPicPr>
            <a:picLocks noChangeAspect="1"/>
          </p:cNvPicPr>
          <p:nvPr/>
        </p:nvPicPr>
        <p:blipFill>
          <a:blip r:embed="rId3"/>
          <a:stretch>
            <a:fillRect/>
          </a:stretch>
        </p:blipFill>
        <p:spPr>
          <a:xfrm>
            <a:off x="443484" y="214884"/>
            <a:ext cx="228600" cy="228600"/>
          </a:xfrm>
          <a:prstGeom prst="rect">
            <a:avLst/>
          </a:prstGeom>
        </p:spPr>
      </p:pic>
      <p:sp>
        <p:nvSpPr>
          <p:cNvPr id="5" name="Shape 3"/>
          <p:cNvSpPr/>
          <p:nvPr/>
        </p:nvSpPr>
        <p:spPr>
          <a:xfrm>
            <a:off x="548640" y="868680"/>
            <a:ext cx="8046720" cy="960120"/>
          </a:xfrm>
          <a:prstGeom prst="roundRect">
            <a:avLst>
              <a:gd name="adj" fmla="val 11429"/>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6" name="Text 4"/>
          <p:cNvSpPr/>
          <p:nvPr/>
        </p:nvSpPr>
        <p:spPr>
          <a:xfrm>
            <a:off x="822960" y="868680"/>
            <a:ext cx="7498080" cy="960120"/>
          </a:xfrm>
          <a:prstGeom prst="rect">
            <a:avLst/>
          </a:prstGeom>
          <a:noFill/>
          <a:ln/>
        </p:spPr>
        <p:txBody>
          <a:bodyPr wrap="square" rtlCol="0" anchor="ctr"/>
          <a:lstStyle/>
          <a:p>
            <a:pPr marL="0" indent="0" algn="l">
              <a:buNone/>
            </a:pPr>
            <a:r>
              <a:rPr lang="en-US" sz="1500" dirty="0">
                <a:solidFill>
                  <a:srgbClr val="1E1E1E"/>
                </a:solidFill>
                <a:latin typeface="Calibri" pitchFamily="34" charset="0"/>
                <a:ea typeface="Calibri" pitchFamily="34" charset="-122"/>
                <a:cs typeface="Calibri" pitchFamily="34" charset="-120"/>
              </a:rPr>
              <a:t>      Türk ailelerinde yaşa saygı günlük hayatın içindedir.</a:t>
            </a:r>
            <a:endParaRPr lang="en-US" sz="1500" dirty="0"/>
          </a:p>
        </p:txBody>
      </p:sp>
      <p:pic>
        <p:nvPicPr>
          <p:cNvPr id="19" name="Emoji 19" descr="emoji"/>
          <p:cNvPicPr>
            <a:picLocks noChangeAspect="1"/>
          </p:cNvPicPr>
          <p:nvPr/>
        </p:nvPicPr>
        <p:blipFill>
          <a:blip r:embed="rId4"/>
          <a:stretch>
            <a:fillRect/>
          </a:stretch>
        </p:blipFill>
        <p:spPr>
          <a:xfrm>
            <a:off x="905285" y="1253490"/>
            <a:ext cx="190500" cy="190500"/>
          </a:xfrm>
          <a:prstGeom prst="rect">
            <a:avLst/>
          </a:prstGeom>
        </p:spPr>
      </p:pic>
      <p:sp>
        <p:nvSpPr>
          <p:cNvPr id="7" name="Shape 5"/>
          <p:cNvSpPr/>
          <p:nvPr/>
        </p:nvSpPr>
        <p:spPr>
          <a:xfrm>
            <a:off x="685800" y="2011680"/>
            <a:ext cx="2468880" cy="1143000"/>
          </a:xfrm>
          <a:prstGeom prst="roundRect">
            <a:avLst>
              <a:gd name="adj" fmla="val 9600"/>
            </a:avLst>
          </a:prstGeom>
          <a:solidFill>
            <a:srgbClr val="FFFFFF"/>
          </a:solidFill>
          <a:ln w="12700">
            <a:solidFill>
              <a:srgbClr val="FFFFFF"/>
            </a:solidFill>
            <a:prstDash val="solid"/>
          </a:ln>
        </p:spPr>
      </p:sp>
      <p:sp>
        <p:nvSpPr>
          <p:cNvPr id="8" name="Text 6"/>
          <p:cNvSpPr/>
          <p:nvPr/>
        </p:nvSpPr>
        <p:spPr>
          <a:xfrm>
            <a:off x="685800" y="2084832"/>
            <a:ext cx="2468880" cy="594360"/>
          </a:xfrm>
          <a:prstGeom prst="rect">
            <a:avLst/>
          </a:prstGeom>
          <a:noFill/>
          <a:ln/>
        </p:spPr>
        <p:txBody>
          <a:bodyPr wrap="square" rtlCol="0" anchor="ctr"/>
          <a:lstStyle/>
          <a:p>
            <a:pPr marL="0" indent="0" algn="ctr">
              <a:buNone/>
            </a:pPr>
            <a:r>
              <a:rPr lang="en-US" sz="3000" dirty="0">
                <a:solidFill>
                  <a:srgbClr val="000000"/>
                </a:solidFill>
              </a:rPr>
              <a:t>    </a:t>
            </a:r>
            <a:endParaRPr lang="en-US" sz="3000" dirty="0"/>
          </a:p>
        </p:txBody>
      </p:sp>
      <p:pic>
        <p:nvPicPr>
          <p:cNvPr id="20" name="Emoji 20" descr="emoji"/>
          <p:cNvPicPr>
            <a:picLocks noChangeAspect="1"/>
          </p:cNvPicPr>
          <p:nvPr/>
        </p:nvPicPr>
        <p:blipFill>
          <a:blip r:embed="rId5"/>
          <a:stretch>
            <a:fillRect/>
          </a:stretch>
        </p:blipFill>
        <p:spPr>
          <a:xfrm>
            <a:off x="1729740" y="2191512"/>
            <a:ext cx="381000" cy="381000"/>
          </a:xfrm>
          <a:prstGeom prst="rect">
            <a:avLst/>
          </a:prstGeom>
        </p:spPr>
      </p:pic>
      <p:sp>
        <p:nvSpPr>
          <p:cNvPr id="9" name="Text 7"/>
          <p:cNvSpPr/>
          <p:nvPr/>
        </p:nvSpPr>
        <p:spPr>
          <a:xfrm>
            <a:off x="685800" y="2651760"/>
            <a:ext cx="2468880" cy="411480"/>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El öpme</a:t>
            </a:r>
            <a:endParaRPr lang="en-US" sz="1150" dirty="0"/>
          </a:p>
        </p:txBody>
      </p:sp>
      <p:sp>
        <p:nvSpPr>
          <p:cNvPr id="10" name="Shape 8"/>
          <p:cNvSpPr/>
          <p:nvPr/>
        </p:nvSpPr>
        <p:spPr>
          <a:xfrm>
            <a:off x="3337560" y="2011680"/>
            <a:ext cx="2468880" cy="1143000"/>
          </a:xfrm>
          <a:prstGeom prst="roundRect">
            <a:avLst>
              <a:gd name="adj" fmla="val 9600"/>
            </a:avLst>
          </a:prstGeom>
          <a:solidFill>
            <a:srgbClr val="FFFFFF"/>
          </a:solidFill>
          <a:ln w="12700">
            <a:solidFill>
              <a:srgbClr val="FFFFFF"/>
            </a:solidFill>
            <a:prstDash val="solid"/>
          </a:ln>
        </p:spPr>
      </p:sp>
      <p:sp>
        <p:nvSpPr>
          <p:cNvPr id="11" name="Text 9"/>
          <p:cNvSpPr/>
          <p:nvPr/>
        </p:nvSpPr>
        <p:spPr>
          <a:xfrm>
            <a:off x="3337560" y="2084832"/>
            <a:ext cx="2468880" cy="594360"/>
          </a:xfrm>
          <a:prstGeom prst="rect">
            <a:avLst/>
          </a:prstGeom>
          <a:noFill/>
          <a:ln/>
        </p:spPr>
        <p:txBody>
          <a:bodyPr wrap="square" rtlCol="0" anchor="ctr"/>
          <a:lstStyle/>
          <a:p>
            <a:pPr marL="0" indent="0" algn="ctr">
              <a:buNone/>
            </a:pPr>
            <a:r>
              <a:rPr lang="en-US" sz="3000" dirty="0">
                <a:solidFill>
                  <a:srgbClr val="000000"/>
                </a:solidFill>
              </a:rPr>
              <a:t>    </a:t>
            </a:r>
            <a:endParaRPr lang="en-US" sz="3000" dirty="0"/>
          </a:p>
        </p:txBody>
      </p:sp>
      <p:pic>
        <p:nvPicPr>
          <p:cNvPr id="21" name="Emoji 21" descr="emoji"/>
          <p:cNvPicPr>
            <a:picLocks noChangeAspect="1"/>
          </p:cNvPicPr>
          <p:nvPr/>
        </p:nvPicPr>
        <p:blipFill>
          <a:blip r:embed="rId6"/>
          <a:stretch>
            <a:fillRect/>
          </a:stretch>
        </p:blipFill>
        <p:spPr>
          <a:xfrm>
            <a:off x="4381500" y="2191512"/>
            <a:ext cx="381000" cy="381000"/>
          </a:xfrm>
          <a:prstGeom prst="rect">
            <a:avLst/>
          </a:prstGeom>
        </p:spPr>
      </p:pic>
      <p:sp>
        <p:nvSpPr>
          <p:cNvPr id="12" name="Text 10"/>
          <p:cNvSpPr/>
          <p:nvPr/>
        </p:nvSpPr>
        <p:spPr>
          <a:xfrm>
            <a:off x="3337560" y="2651760"/>
            <a:ext cx="2468880" cy="411480"/>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“Siz” ile konuşma</a:t>
            </a:r>
            <a:endParaRPr lang="en-US" sz="1150" dirty="0"/>
          </a:p>
        </p:txBody>
      </p:sp>
      <p:sp>
        <p:nvSpPr>
          <p:cNvPr id="13" name="Shape 11"/>
          <p:cNvSpPr/>
          <p:nvPr/>
        </p:nvSpPr>
        <p:spPr>
          <a:xfrm>
            <a:off x="5989320" y="2011680"/>
            <a:ext cx="2468880" cy="1143000"/>
          </a:xfrm>
          <a:prstGeom prst="roundRect">
            <a:avLst>
              <a:gd name="adj" fmla="val 9600"/>
            </a:avLst>
          </a:prstGeom>
          <a:solidFill>
            <a:srgbClr val="FFFFFF"/>
          </a:solidFill>
          <a:ln w="12700">
            <a:solidFill>
              <a:srgbClr val="FFFFFF"/>
            </a:solidFill>
            <a:prstDash val="solid"/>
          </a:ln>
        </p:spPr>
      </p:sp>
      <p:sp>
        <p:nvSpPr>
          <p:cNvPr id="14" name="Text 12"/>
          <p:cNvSpPr/>
          <p:nvPr/>
        </p:nvSpPr>
        <p:spPr>
          <a:xfrm>
            <a:off x="5989320" y="2084832"/>
            <a:ext cx="2468880" cy="594360"/>
          </a:xfrm>
          <a:prstGeom prst="rect">
            <a:avLst/>
          </a:prstGeom>
          <a:noFill/>
          <a:ln/>
        </p:spPr>
        <p:txBody>
          <a:bodyPr wrap="square" rtlCol="0" anchor="ctr"/>
          <a:lstStyle/>
          <a:p>
            <a:pPr marL="0" indent="0" algn="ctr">
              <a:buNone/>
            </a:pPr>
            <a:r>
              <a:rPr lang="en-US" sz="3000" dirty="0">
                <a:solidFill>
                  <a:srgbClr val="000000"/>
                </a:solidFill>
              </a:rPr>
              <a:t>    </a:t>
            </a:r>
            <a:endParaRPr lang="en-US" sz="3000" dirty="0"/>
          </a:p>
        </p:txBody>
      </p:sp>
      <p:pic>
        <p:nvPicPr>
          <p:cNvPr id="22" name="Emoji 22" descr="emoji"/>
          <p:cNvPicPr>
            <a:picLocks noChangeAspect="1"/>
          </p:cNvPicPr>
          <p:nvPr/>
        </p:nvPicPr>
        <p:blipFill>
          <a:blip r:embed="rId7"/>
          <a:stretch>
            <a:fillRect/>
          </a:stretch>
        </p:blipFill>
        <p:spPr>
          <a:xfrm>
            <a:off x="7033260" y="2191512"/>
            <a:ext cx="381000" cy="381000"/>
          </a:xfrm>
          <a:prstGeom prst="rect">
            <a:avLst/>
          </a:prstGeom>
        </p:spPr>
      </p:pic>
      <p:sp>
        <p:nvSpPr>
          <p:cNvPr id="15" name="Text 13"/>
          <p:cNvSpPr/>
          <p:nvPr/>
        </p:nvSpPr>
        <p:spPr>
          <a:xfrm>
            <a:off x="5989320" y="2651760"/>
            <a:ext cx="2468880" cy="411480"/>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Önce büyükler</a:t>
            </a:r>
            <a:endParaRPr lang="en-US" sz="1150" dirty="0"/>
          </a:p>
        </p:txBody>
      </p:sp>
      <p:sp>
        <p:nvSpPr>
          <p:cNvPr id="16" name="Shape 14"/>
          <p:cNvSpPr/>
          <p:nvPr/>
        </p:nvSpPr>
        <p:spPr>
          <a:xfrm>
            <a:off x="548640" y="3337560"/>
            <a:ext cx="8046720" cy="1234440"/>
          </a:xfrm>
          <a:prstGeom prst="roundRect">
            <a:avLst>
              <a:gd name="adj" fmla="val 8889"/>
            </a:avLst>
          </a:prstGeom>
          <a:solidFill>
            <a:srgbClr val="FFEDD5"/>
          </a:solidFill>
          <a:ln w="12700">
            <a:solidFill>
              <a:srgbClr val="FFFFFF"/>
            </a:solidFill>
            <a:prstDash val="solid"/>
          </a:ln>
        </p:spPr>
      </p:sp>
      <p:sp>
        <p:nvSpPr>
          <p:cNvPr id="17" name="Text 15"/>
          <p:cNvSpPr/>
          <p:nvPr/>
        </p:nvSpPr>
        <p:spPr>
          <a:xfrm>
            <a:off x="822960" y="3337560"/>
            <a:ext cx="7498080" cy="1234440"/>
          </a:xfrm>
          <a:prstGeom prst="rect">
            <a:avLst/>
          </a:prstGeom>
          <a:noFill/>
          <a:ln/>
        </p:spPr>
        <p:txBody>
          <a:bodyPr wrap="square" rtlCol="0" anchor="ctr"/>
          <a:lstStyle/>
          <a:p>
            <a:pPr marL="0" indent="0" algn="l">
              <a:lnSpc>
                <a:spcPct val="125000"/>
              </a:lnSpc>
              <a:buNone/>
            </a:pPr>
            <a:r>
              <a:rPr lang="en-US" sz="1350" dirty="0">
                <a:solidFill>
                  <a:srgbClr val="1E293B"/>
                </a:solidFill>
                <a:latin typeface="Calibri" pitchFamily="34" charset="0"/>
                <a:ea typeface="Calibri" pitchFamily="34" charset="-122"/>
                <a:cs typeface="Calibri" pitchFamily="34" charset="-120"/>
              </a:rPr>
              <a:t>Bayramda büyüklerin elini öperiz. Onlara “siz” deriz. Sofrada büyükler başlamadan yemeğe başlamayız.</a:t>
            </a:r>
            <a:endParaRPr lang="en-US" sz="1350" dirty="0"/>
          </a:p>
          <a:p>
            <a:pPr marL="0" indent="0" algn="l">
              <a:lnSpc>
                <a:spcPct val="125000"/>
              </a:lnSpc>
              <a:buNone/>
            </a:pPr>
            <a:r>
              <a:rPr lang="en-US" sz="1350" dirty="0">
                <a:solidFill>
                  <a:srgbClr val="1E293B"/>
                </a:solidFill>
                <a:latin typeface="Calibri" pitchFamily="34" charset="0"/>
                <a:ea typeface="Calibri" pitchFamily="34" charset="-122"/>
                <a:cs typeface="Calibri" pitchFamily="34" charset="-120"/>
              </a:rPr>
              <a:t>Senin yaşadığın ülkede buna benzer bir gelenek var mı?</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      YAZI ATÖLYESİ: “HAYAT HİKÂYEM”</a:t>
            </a:r>
            <a:endParaRPr lang="en-US" sz="1800" dirty="0"/>
          </a:p>
        </p:txBody>
      </p:sp>
      <p:pic>
        <p:nvPicPr>
          <p:cNvPr id="19" name="Emoji 19" descr="emoji"/>
          <p:cNvPicPr>
            <a:picLocks noChangeAspect="1"/>
          </p:cNvPicPr>
          <p:nvPr/>
        </p:nvPicPr>
        <p:blipFill>
          <a:blip r:embed="rId3"/>
          <a:stretch>
            <a:fillRect/>
          </a:stretch>
        </p:blipFill>
        <p:spPr>
          <a:xfrm>
            <a:off x="443484" y="214884"/>
            <a:ext cx="228600" cy="228600"/>
          </a:xfrm>
          <a:prstGeom prst="rect">
            <a:avLst/>
          </a:prstGeom>
        </p:spPr>
      </p:pic>
      <p:sp>
        <p:nvSpPr>
          <p:cNvPr id="5" name="Text 3"/>
          <p:cNvSpPr/>
          <p:nvPr/>
        </p:nvSpPr>
        <p:spPr>
          <a:xfrm>
            <a:off x="457200" y="868680"/>
            <a:ext cx="8229600" cy="411480"/>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Kısa bir paragraf yaz. Paragrafında şunlar olsun:</a:t>
            </a:r>
            <a:endParaRPr lang="en-US" sz="1400" dirty="0"/>
          </a:p>
        </p:txBody>
      </p:sp>
      <p:sp>
        <p:nvSpPr>
          <p:cNvPr id="6" name="Shape 4"/>
          <p:cNvSpPr/>
          <p:nvPr/>
        </p:nvSpPr>
        <p:spPr>
          <a:xfrm>
            <a:off x="822960" y="1463040"/>
            <a:ext cx="7498080" cy="777240"/>
          </a:xfrm>
          <a:prstGeom prst="roundRect">
            <a:avLst>
              <a:gd name="adj" fmla="val 14118"/>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7" name="Shape 5"/>
          <p:cNvSpPr/>
          <p:nvPr/>
        </p:nvSpPr>
        <p:spPr>
          <a:xfrm>
            <a:off x="1051560" y="1627632"/>
            <a:ext cx="457200" cy="457200"/>
          </a:xfrm>
          <a:prstGeom prst="ellipse">
            <a:avLst/>
          </a:prstGeom>
          <a:solidFill>
            <a:srgbClr val="F97316"/>
          </a:solidFill>
          <a:ln/>
        </p:spPr>
      </p:sp>
      <p:sp>
        <p:nvSpPr>
          <p:cNvPr id="8" name="Text 6"/>
          <p:cNvSpPr/>
          <p:nvPr/>
        </p:nvSpPr>
        <p:spPr>
          <a:xfrm>
            <a:off x="1051560" y="162763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691640" y="1463040"/>
            <a:ext cx="6400800" cy="777240"/>
          </a:xfrm>
          <a:prstGeom prst="rect">
            <a:avLst/>
          </a:prstGeom>
          <a:noFill/>
          <a:ln/>
        </p:spPr>
        <p:txBody>
          <a:bodyPr wrap="square" rtlCol="0" anchor="ctr"/>
          <a:lstStyle/>
          <a:p>
            <a:pPr marL="0" indent="0" algn="l">
              <a:buNone/>
            </a:pPr>
            <a:r>
              <a:rPr lang="en-US" sz="1400" b="1" dirty="0">
                <a:solidFill>
                  <a:srgbClr val="1A2E5A"/>
                </a:solidFill>
                <a:latin typeface="Calibri" pitchFamily="34" charset="0"/>
                <a:ea typeface="Calibri" pitchFamily="34" charset="-122"/>
                <a:cs typeface="Calibri" pitchFamily="34" charset="-120"/>
              </a:rPr>
              <a:t>Doğum tarihin ve doğum yerinle başla (gün, ay, yıl)</a:t>
            </a:r>
            <a:endParaRPr lang="en-US" sz="1400" dirty="0"/>
          </a:p>
        </p:txBody>
      </p:sp>
      <p:sp>
        <p:nvSpPr>
          <p:cNvPr id="10" name="Shape 8"/>
          <p:cNvSpPr/>
          <p:nvPr/>
        </p:nvSpPr>
        <p:spPr>
          <a:xfrm>
            <a:off x="822960" y="2377440"/>
            <a:ext cx="7498080" cy="777240"/>
          </a:xfrm>
          <a:prstGeom prst="roundRect">
            <a:avLst>
              <a:gd name="adj" fmla="val 14118"/>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1" name="Shape 9"/>
          <p:cNvSpPr/>
          <p:nvPr/>
        </p:nvSpPr>
        <p:spPr>
          <a:xfrm>
            <a:off x="1051560" y="2542032"/>
            <a:ext cx="457200" cy="457200"/>
          </a:xfrm>
          <a:prstGeom prst="ellipse">
            <a:avLst/>
          </a:prstGeom>
          <a:solidFill>
            <a:srgbClr val="F97316"/>
          </a:solidFill>
          <a:ln/>
        </p:spPr>
      </p:sp>
      <p:sp>
        <p:nvSpPr>
          <p:cNvPr id="12" name="Text 10"/>
          <p:cNvSpPr/>
          <p:nvPr/>
        </p:nvSpPr>
        <p:spPr>
          <a:xfrm>
            <a:off x="1051560" y="254203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691640" y="2377440"/>
            <a:ext cx="6400800" cy="777240"/>
          </a:xfrm>
          <a:prstGeom prst="rect">
            <a:avLst/>
          </a:prstGeom>
          <a:noFill/>
          <a:ln/>
        </p:spPr>
        <p:txBody>
          <a:bodyPr wrap="square" rtlCol="0" anchor="ctr"/>
          <a:lstStyle/>
          <a:p>
            <a:pPr marL="0" indent="0" algn="l">
              <a:buNone/>
            </a:pPr>
            <a:r>
              <a:rPr lang="en-US" sz="1400" b="1" dirty="0">
                <a:solidFill>
                  <a:srgbClr val="1A2E5A"/>
                </a:solidFill>
                <a:latin typeface="Calibri" pitchFamily="34" charset="0"/>
                <a:ea typeface="Calibri" pitchFamily="34" charset="-122"/>
                <a:cs typeface="Calibri" pitchFamily="34" charset="-120"/>
              </a:rPr>
              <a:t>3 önemli olayı sırayla anlat: önce, sonra, ardından</a:t>
            </a:r>
            <a:endParaRPr lang="en-US" sz="1400" dirty="0"/>
          </a:p>
        </p:txBody>
      </p:sp>
      <p:sp>
        <p:nvSpPr>
          <p:cNvPr id="14" name="Shape 12"/>
          <p:cNvSpPr/>
          <p:nvPr/>
        </p:nvSpPr>
        <p:spPr>
          <a:xfrm>
            <a:off x="822960" y="3291840"/>
            <a:ext cx="7498080" cy="777240"/>
          </a:xfrm>
          <a:prstGeom prst="roundRect">
            <a:avLst>
              <a:gd name="adj" fmla="val 14118"/>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5" name="Shape 13"/>
          <p:cNvSpPr/>
          <p:nvPr/>
        </p:nvSpPr>
        <p:spPr>
          <a:xfrm>
            <a:off x="1051560" y="3456432"/>
            <a:ext cx="457200" cy="457200"/>
          </a:xfrm>
          <a:prstGeom prst="ellipse">
            <a:avLst/>
          </a:prstGeom>
          <a:solidFill>
            <a:srgbClr val="F97316"/>
          </a:solidFill>
          <a:ln/>
        </p:spPr>
      </p:sp>
      <p:sp>
        <p:nvSpPr>
          <p:cNvPr id="16" name="Text 14"/>
          <p:cNvSpPr/>
          <p:nvPr/>
        </p:nvSpPr>
        <p:spPr>
          <a:xfrm>
            <a:off x="1051560" y="345643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691640" y="3291840"/>
            <a:ext cx="6400800" cy="777240"/>
          </a:xfrm>
          <a:prstGeom prst="rect">
            <a:avLst/>
          </a:prstGeom>
          <a:noFill/>
          <a:ln/>
        </p:spPr>
        <p:txBody>
          <a:bodyPr wrap="square" rtlCol="0" anchor="ctr"/>
          <a:lstStyle/>
          <a:p>
            <a:pPr marL="0" indent="0" algn="l">
              <a:buNone/>
            </a:pPr>
            <a:r>
              <a:rPr lang="en-US" sz="1400" b="1" dirty="0">
                <a:solidFill>
                  <a:srgbClr val="1A2E5A"/>
                </a:solidFill>
                <a:latin typeface="Calibri" pitchFamily="34" charset="0"/>
                <a:ea typeface="Calibri" pitchFamily="34" charset="-122"/>
                <a:cs typeface="Calibri" pitchFamily="34" charset="-120"/>
              </a:rPr>
              <a:t>Yaşa saygı hakkında kendi yorumunu ekle</a:t>
            </a:r>
            <a:endParaRPr lang="en-US" sz="1400" dirty="0"/>
          </a:p>
        </p:txBody>
      </p:sp>
      <p:sp>
        <p:nvSpPr>
          <p:cNvPr id="18" name="Text 16"/>
          <p:cNvSpPr/>
          <p:nvPr/>
        </p:nvSpPr>
        <p:spPr>
          <a:xfrm>
            <a:off x="457200" y="4297680"/>
            <a:ext cx="8229600" cy="411480"/>
          </a:xfrm>
          <a:prstGeom prst="rect">
            <a:avLst/>
          </a:prstGeom>
          <a:noFill/>
          <a:ln/>
        </p:spPr>
        <p:txBody>
          <a:bodyPr wrap="square" rtlCol="0" anchor="ctr"/>
          <a:lstStyle/>
          <a:p>
            <a:pPr marL="0" indent="0" algn="ctr">
              <a:buNone/>
            </a:pPr>
            <a:r>
              <a:rPr lang="en-US" sz="1300" i="1" dirty="0">
                <a:solidFill>
                  <a:srgbClr val="1E293B"/>
                </a:solidFill>
                <a:latin typeface="Calibri" pitchFamily="34" charset="0"/>
                <a:ea typeface="Calibri" pitchFamily="34" charset="-122"/>
                <a:cs typeface="Calibri" pitchFamily="34" charset="-120"/>
              </a:rPr>
              <a:t>Yaşadığın ülke ile Türkiye arasındaki farkı da eklemeyi unutma!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sp>
      <p:sp>
        <p:nvSpPr>
          <p:cNvPr id="3" name="Shape 1"/>
          <p:cNvSpPr/>
          <p:nvPr/>
        </p:nvSpPr>
        <p:spPr>
          <a:xfrm>
            <a:off x="0" y="0"/>
            <a:ext cx="9144000" cy="658368"/>
          </a:xfrm>
          <a:prstGeom prst="rect">
            <a:avLst/>
          </a:prstGeom>
          <a:solidFill>
            <a:srgbClr val="F97316"/>
          </a:solidFill>
          <a:ln/>
        </p:spPr>
      </p:sp>
      <p:sp>
        <p:nvSpPr>
          <p:cNvPr id="4" name="Text 2"/>
          <p:cNvSpPr/>
          <p:nvPr/>
        </p:nvSpPr>
        <p:spPr>
          <a:xfrm>
            <a:off x="365760" y="0"/>
            <a:ext cx="8412480" cy="658368"/>
          </a:xfrm>
          <a:prstGeom prst="rect">
            <a:avLst/>
          </a:prstGeom>
          <a:noFill/>
          <a:ln/>
        </p:spPr>
        <p:txBody>
          <a:bodyPr wrap="square"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      YENİ SAHA GÖREVİ</a:t>
            </a:r>
            <a:endParaRPr lang="en-US" sz="1800" dirty="0"/>
          </a:p>
        </p:txBody>
      </p:sp>
      <p:pic>
        <p:nvPicPr>
          <p:cNvPr id="24" name="Emoji 24" descr="emoji"/>
          <p:cNvPicPr>
            <a:picLocks noChangeAspect="1"/>
          </p:cNvPicPr>
          <p:nvPr/>
        </p:nvPicPr>
        <p:blipFill>
          <a:blip r:embed="rId3"/>
          <a:stretch>
            <a:fillRect/>
          </a:stretch>
        </p:blipFill>
        <p:spPr>
          <a:xfrm>
            <a:off x="443484" y="214884"/>
            <a:ext cx="228600" cy="228600"/>
          </a:xfrm>
          <a:prstGeom prst="rect">
            <a:avLst/>
          </a:prstGeom>
        </p:spPr>
      </p:pic>
      <p:sp>
        <p:nvSpPr>
          <p:cNvPr id="5" name="Text 3"/>
          <p:cNvSpPr/>
          <p:nvPr/>
        </p:nvSpPr>
        <p:spPr>
          <a:xfrm>
            <a:off x="457200" y="749808"/>
            <a:ext cx="8229600" cy="411480"/>
          </a:xfrm>
          <a:prstGeom prst="rect">
            <a:avLst/>
          </a:prstGeom>
          <a:noFill/>
          <a:ln/>
        </p:spPr>
        <p:txBody>
          <a:bodyPr wrap="square" rtlCol="0" anchor="ctr"/>
          <a:lstStyle/>
          <a:p>
            <a:pPr marL="0" indent="0" algn="ctr">
              <a:buNone/>
            </a:pPr>
            <a:r>
              <a:rPr lang="en-US" sz="1150" b="1" i="1" dirty="0">
                <a:solidFill>
                  <a:srgbClr val="1A2E5A"/>
                </a:solidFill>
                <a:latin typeface="Calibri" pitchFamily="34" charset="0"/>
                <a:ea typeface="Calibri" pitchFamily="34" charset="-122"/>
                <a:cs typeface="Calibri" pitchFamily="34" charset="-120"/>
              </a:rPr>
              <a:t>Bu kez göreviniz: Kendi ZAMAN ÇİZGİNİZİ hazırlamak ve yaşa saygıyı karşılaştırmak!</a:t>
            </a:r>
            <a:endParaRPr lang="en-US" sz="1150" dirty="0"/>
          </a:p>
        </p:txBody>
      </p:sp>
      <p:sp>
        <p:nvSpPr>
          <p:cNvPr id="6" name="Shape 4"/>
          <p:cNvSpPr/>
          <p:nvPr/>
        </p:nvSpPr>
        <p:spPr>
          <a:xfrm>
            <a:off x="502920" y="128016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7" name="Shape 5"/>
          <p:cNvSpPr/>
          <p:nvPr/>
        </p:nvSpPr>
        <p:spPr>
          <a:xfrm>
            <a:off x="731520" y="1426464"/>
            <a:ext cx="457200" cy="457200"/>
          </a:xfrm>
          <a:prstGeom prst="ellipse">
            <a:avLst/>
          </a:prstGeom>
          <a:solidFill>
            <a:srgbClr val="F97316"/>
          </a:solidFill>
          <a:ln/>
        </p:spPr>
      </p:sp>
      <p:sp>
        <p:nvSpPr>
          <p:cNvPr id="8" name="Text 6"/>
          <p:cNvSpPr/>
          <p:nvPr/>
        </p:nvSpPr>
        <p:spPr>
          <a:xfrm>
            <a:off x="731520" y="142646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371600" y="1280160"/>
            <a:ext cx="7086600" cy="749808"/>
          </a:xfrm>
          <a:prstGeom prst="rect">
            <a:avLst/>
          </a:prstGeom>
          <a:noFill/>
          <a:ln/>
        </p:spPr>
        <p:txBody>
          <a:bodyPr wrap="square"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4 fotoğraflı bir “Zaman Çizgisi Albümü” hazırlayın. İlk fotoğraf doğduğunuz yıldan olsun!</a:t>
            </a:r>
            <a:endParaRPr lang="en-US" sz="1200" dirty="0"/>
          </a:p>
        </p:txBody>
      </p:sp>
      <p:pic>
        <p:nvPicPr>
          <p:cNvPr id="25" name="Emoji 25" descr="emoji"/>
          <p:cNvPicPr>
            <a:picLocks noChangeAspect="1"/>
          </p:cNvPicPr>
          <p:nvPr/>
        </p:nvPicPr>
        <p:blipFill>
          <a:blip r:embed="rId4"/>
          <a:stretch>
            <a:fillRect/>
          </a:stretch>
        </p:blipFill>
        <p:spPr>
          <a:xfrm>
            <a:off x="1455748" y="1578864"/>
            <a:ext cx="152400" cy="152400"/>
          </a:xfrm>
          <a:prstGeom prst="rect">
            <a:avLst/>
          </a:prstGeom>
        </p:spPr>
      </p:pic>
      <p:sp>
        <p:nvSpPr>
          <p:cNvPr id="10" name="Shape 8"/>
          <p:cNvSpPr/>
          <p:nvPr/>
        </p:nvSpPr>
        <p:spPr>
          <a:xfrm>
            <a:off x="502920" y="214884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1" name="Shape 9"/>
          <p:cNvSpPr/>
          <p:nvPr/>
        </p:nvSpPr>
        <p:spPr>
          <a:xfrm>
            <a:off x="731520" y="2295144"/>
            <a:ext cx="457200" cy="457200"/>
          </a:xfrm>
          <a:prstGeom prst="ellipse">
            <a:avLst/>
          </a:prstGeom>
          <a:solidFill>
            <a:srgbClr val="F97316"/>
          </a:solidFill>
          <a:ln/>
        </p:spPr>
      </p:sp>
      <p:sp>
        <p:nvSpPr>
          <p:cNvPr id="12" name="Text 10"/>
          <p:cNvSpPr/>
          <p:nvPr/>
        </p:nvSpPr>
        <p:spPr>
          <a:xfrm>
            <a:off x="731520" y="229514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371600" y="2148840"/>
            <a:ext cx="7086600" cy="749808"/>
          </a:xfrm>
          <a:prstGeom prst="rect">
            <a:avLst/>
          </a:prstGeom>
          <a:noFill/>
          <a:ln/>
        </p:spPr>
        <p:txBody>
          <a:bodyPr wrap="square"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Her fotoğrafın altına tarihini ve “Önce...”, “Sonra...”, “Ardından...” ile ne yaptığınızı yazın.</a:t>
            </a:r>
            <a:endParaRPr lang="en-US" sz="1200" dirty="0"/>
          </a:p>
        </p:txBody>
      </p:sp>
      <p:pic>
        <p:nvPicPr>
          <p:cNvPr id="26" name="Emoji 26" descr="emoji"/>
          <p:cNvPicPr>
            <a:picLocks noChangeAspect="1"/>
          </p:cNvPicPr>
          <p:nvPr/>
        </p:nvPicPr>
        <p:blipFill>
          <a:blip r:embed="rId5"/>
          <a:stretch>
            <a:fillRect/>
          </a:stretch>
        </p:blipFill>
        <p:spPr>
          <a:xfrm>
            <a:off x="1455748" y="2447544"/>
            <a:ext cx="152400" cy="152400"/>
          </a:xfrm>
          <a:prstGeom prst="rect">
            <a:avLst/>
          </a:prstGeom>
        </p:spPr>
      </p:pic>
      <p:sp>
        <p:nvSpPr>
          <p:cNvPr id="14" name="Shape 12"/>
          <p:cNvSpPr/>
          <p:nvPr/>
        </p:nvSpPr>
        <p:spPr>
          <a:xfrm>
            <a:off x="502920" y="301752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5" name="Shape 13"/>
          <p:cNvSpPr/>
          <p:nvPr/>
        </p:nvSpPr>
        <p:spPr>
          <a:xfrm>
            <a:off x="731520" y="3163824"/>
            <a:ext cx="457200" cy="457200"/>
          </a:xfrm>
          <a:prstGeom prst="ellipse">
            <a:avLst/>
          </a:prstGeom>
          <a:solidFill>
            <a:srgbClr val="F97316"/>
          </a:solidFill>
          <a:ln/>
        </p:spPr>
      </p:sp>
      <p:sp>
        <p:nvSpPr>
          <p:cNvPr id="16" name="Text 14"/>
          <p:cNvSpPr/>
          <p:nvPr/>
        </p:nvSpPr>
        <p:spPr>
          <a:xfrm>
            <a:off x="731520" y="316382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371600" y="3017520"/>
            <a:ext cx="7086600" cy="749808"/>
          </a:xfrm>
          <a:prstGeom prst="rect">
            <a:avLst/>
          </a:prstGeom>
          <a:noFill/>
          <a:ln/>
        </p:spPr>
        <p:txBody>
          <a:bodyPr wrap="square"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Bir aile büyüğüne “Ne zaman doğdunuz?” diye sorun, çocukken nasıl hitap ettiğini öğrenin.</a:t>
            </a:r>
            <a:endParaRPr lang="en-US" sz="1200" dirty="0"/>
          </a:p>
        </p:txBody>
      </p:sp>
      <p:pic>
        <p:nvPicPr>
          <p:cNvPr id="27" name="Emoji 27" descr="emoji"/>
          <p:cNvPicPr>
            <a:picLocks noChangeAspect="1"/>
          </p:cNvPicPr>
          <p:nvPr/>
        </p:nvPicPr>
        <p:blipFill>
          <a:blip r:embed="rId6"/>
          <a:stretch>
            <a:fillRect/>
          </a:stretch>
        </p:blipFill>
        <p:spPr>
          <a:xfrm>
            <a:off x="1455748" y="3316224"/>
            <a:ext cx="152400" cy="152400"/>
          </a:xfrm>
          <a:prstGeom prst="rect">
            <a:avLst/>
          </a:prstGeom>
        </p:spPr>
      </p:pic>
      <p:sp>
        <p:nvSpPr>
          <p:cNvPr id="18" name="Shape 16"/>
          <p:cNvSpPr/>
          <p:nvPr/>
        </p:nvSpPr>
        <p:spPr>
          <a:xfrm>
            <a:off x="502920" y="388620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sp>
      <p:sp>
        <p:nvSpPr>
          <p:cNvPr id="19" name="Shape 17"/>
          <p:cNvSpPr/>
          <p:nvPr/>
        </p:nvSpPr>
        <p:spPr>
          <a:xfrm>
            <a:off x="731520" y="4032504"/>
            <a:ext cx="457200" cy="457200"/>
          </a:xfrm>
          <a:prstGeom prst="ellipse">
            <a:avLst/>
          </a:prstGeom>
          <a:solidFill>
            <a:srgbClr val="F97316"/>
          </a:solidFill>
          <a:ln/>
        </p:spPr>
      </p:sp>
      <p:sp>
        <p:nvSpPr>
          <p:cNvPr id="20" name="Text 18"/>
          <p:cNvSpPr/>
          <p:nvPr/>
        </p:nvSpPr>
        <p:spPr>
          <a:xfrm>
            <a:off x="731520" y="403250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3886200"/>
            <a:ext cx="7086600" cy="749808"/>
          </a:xfrm>
          <a:prstGeom prst="rect">
            <a:avLst/>
          </a:prstGeom>
          <a:noFill/>
          <a:ln/>
        </p:spPr>
        <p:txBody>
          <a:bodyPr wrap="square"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Türkiye'deki yaşa saygı ile yaşadığınız ülkedeki yaklaşımı karşılaştırıp bir yorum cümlesi ekleyin.</a:t>
            </a:r>
            <a:endParaRPr lang="en-US" sz="1200" dirty="0"/>
          </a:p>
        </p:txBody>
      </p:sp>
      <p:pic>
        <p:nvPicPr>
          <p:cNvPr id="28" name="Emoji 28" descr="emoji"/>
          <p:cNvPicPr>
            <a:picLocks noChangeAspect="1"/>
          </p:cNvPicPr>
          <p:nvPr/>
        </p:nvPicPr>
        <p:blipFill>
          <a:blip r:embed="rId7"/>
          <a:stretch>
            <a:fillRect/>
          </a:stretch>
        </p:blipFill>
        <p:spPr>
          <a:xfrm>
            <a:off x="1455748" y="4184904"/>
            <a:ext cx="152400" cy="152400"/>
          </a:xfrm>
          <a:prstGeom prst="rect">
            <a:avLst/>
          </a:prstGeom>
        </p:spPr>
      </p:pic>
      <p:sp>
        <p:nvSpPr>
          <p:cNvPr id="22" name="Shape 20"/>
          <p:cNvSpPr/>
          <p:nvPr/>
        </p:nvSpPr>
        <p:spPr>
          <a:xfrm>
            <a:off x="1371600" y="4590288"/>
            <a:ext cx="6400800" cy="438912"/>
          </a:xfrm>
          <a:prstGeom prst="roundRect">
            <a:avLst>
              <a:gd name="adj" fmla="val 50000"/>
            </a:avLst>
          </a:prstGeom>
          <a:solidFill>
            <a:srgbClr val="F97316"/>
          </a:solidFill>
          <a:ln/>
        </p:spPr>
      </p:sp>
      <p:sp>
        <p:nvSpPr>
          <p:cNvPr id="23" name="Text 21"/>
          <p:cNvSpPr/>
          <p:nvPr/>
        </p:nvSpPr>
        <p:spPr>
          <a:xfrm>
            <a:off x="1371600" y="4590288"/>
            <a:ext cx="640080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Albümünüzü sınıfa getirin — zaman çizginizi arkadaşlarınızla paylaşın!     </a:t>
            </a:r>
            <a:endParaRPr lang="en-US" sz="1200" dirty="0"/>
          </a:p>
        </p:txBody>
      </p:sp>
      <p:pic>
        <p:nvPicPr>
          <p:cNvPr id="29" name="Emoji 29" descr="emoji"/>
          <p:cNvPicPr>
            <a:picLocks noChangeAspect="1"/>
          </p:cNvPicPr>
          <p:nvPr/>
        </p:nvPicPr>
        <p:blipFill>
          <a:blip r:embed="rId8"/>
          <a:stretch>
            <a:fillRect/>
          </a:stretch>
        </p:blipFill>
        <p:spPr>
          <a:xfrm>
            <a:off x="6709751" y="4733544"/>
            <a:ext cx="152400" cy="152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E5A"/>
          </a:solidFill>
          <a:ln/>
        </p:spPr>
      </p:sp>
      <p:sp>
        <p:nvSpPr>
          <p:cNvPr id="3" name="Text 1"/>
          <p:cNvSpPr/>
          <p:nvPr/>
        </p:nvSpPr>
        <p:spPr>
          <a:xfrm>
            <a:off x="274320" y="18288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4" name="Text 2"/>
          <p:cNvSpPr/>
          <p:nvPr/>
        </p:nvSpPr>
        <p:spPr>
          <a:xfrm>
            <a:off x="8321040" y="18288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5" name="Text 3"/>
          <p:cNvSpPr/>
          <p:nvPr/>
        </p:nvSpPr>
        <p:spPr>
          <a:xfrm>
            <a:off x="274320" y="448056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6" name="Text 4"/>
          <p:cNvSpPr/>
          <p:nvPr/>
        </p:nvSpPr>
        <p:spPr>
          <a:xfrm>
            <a:off x="8321040" y="4480560"/>
            <a:ext cx="365760" cy="365760"/>
          </a:xfrm>
          <a:prstGeom prst="rect">
            <a:avLst/>
          </a:prstGeom>
          <a:noFill/>
          <a:ln/>
        </p:spPr>
        <p:txBody>
          <a:bodyPr wrap="square" rtlCol="0" anchor="ctr"/>
          <a:lstStyle/>
          <a:p>
            <a:pPr marL="0" indent="0" algn="ctr">
              <a:buNone/>
            </a:pPr>
            <a:r>
              <a:rPr lang="en-US" sz="1600" dirty="0">
                <a:solidFill>
                  <a:srgbClr val="FBBF24"/>
                </a:solidFill>
              </a:rPr>
              <a:t>★</a:t>
            </a:r>
            <a:endParaRPr lang="en-US" sz="1600" dirty="0"/>
          </a:p>
        </p:txBody>
      </p:sp>
      <p:sp>
        <p:nvSpPr>
          <p:cNvPr id="7" name="Text 5"/>
          <p:cNvSpPr/>
          <p:nvPr/>
        </p:nvSpPr>
        <p:spPr>
          <a:xfrm>
            <a:off x="457200" y="502920"/>
            <a:ext cx="8229600" cy="640080"/>
          </a:xfrm>
          <a:prstGeom prst="rect">
            <a:avLst/>
          </a:prstGeom>
          <a:noFill/>
          <a:ln/>
        </p:spPr>
        <p:txBody>
          <a:bodyPr wrap="square"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GÖREV TAMAMLANDI!</a:t>
            </a:r>
            <a:endParaRPr lang="en-US" sz="3200" dirty="0"/>
          </a:p>
        </p:txBody>
      </p:sp>
      <p:sp>
        <p:nvSpPr>
          <p:cNvPr id="8" name="Shape 6"/>
          <p:cNvSpPr/>
          <p:nvPr/>
        </p:nvSpPr>
        <p:spPr>
          <a:xfrm>
            <a:off x="388620" y="2011680"/>
            <a:ext cx="1600200" cy="1371600"/>
          </a:xfrm>
          <a:prstGeom prst="roundRect">
            <a:avLst>
              <a:gd name="adj" fmla="val 8000"/>
            </a:avLst>
          </a:prstGeom>
          <a:solidFill>
            <a:srgbClr val="F97316"/>
          </a:solidFill>
          <a:ln/>
        </p:spPr>
      </p:sp>
      <p:sp>
        <p:nvSpPr>
          <p:cNvPr id="9" name="Text 7"/>
          <p:cNvSpPr/>
          <p:nvPr/>
        </p:nvSpPr>
        <p:spPr>
          <a:xfrm>
            <a:off x="388620" y="2011680"/>
            <a:ext cx="1600200" cy="13716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Doğum Tarihi</a:t>
            </a:r>
            <a:endParaRPr lang="en-US" sz="1150" dirty="0"/>
          </a:p>
        </p:txBody>
      </p:sp>
      <p:sp>
        <p:nvSpPr>
          <p:cNvPr id="10" name="Shape 8"/>
          <p:cNvSpPr/>
          <p:nvPr/>
        </p:nvSpPr>
        <p:spPr>
          <a:xfrm>
            <a:off x="2080260" y="2011680"/>
            <a:ext cx="1600200" cy="1371600"/>
          </a:xfrm>
          <a:prstGeom prst="roundRect">
            <a:avLst>
              <a:gd name="adj" fmla="val 8000"/>
            </a:avLst>
          </a:prstGeom>
          <a:solidFill>
            <a:srgbClr val="2563EB"/>
          </a:solidFill>
          <a:ln/>
        </p:spPr>
      </p:sp>
      <p:sp>
        <p:nvSpPr>
          <p:cNvPr id="11" name="Text 9"/>
          <p:cNvSpPr/>
          <p:nvPr/>
        </p:nvSpPr>
        <p:spPr>
          <a:xfrm>
            <a:off x="2080260" y="2011680"/>
            <a:ext cx="1600200" cy="13716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Önce/Sonra/Ardından</a:t>
            </a:r>
            <a:endParaRPr lang="en-US" sz="1150" dirty="0"/>
          </a:p>
        </p:txBody>
      </p:sp>
      <p:sp>
        <p:nvSpPr>
          <p:cNvPr id="12" name="Shape 10"/>
          <p:cNvSpPr/>
          <p:nvPr/>
        </p:nvSpPr>
        <p:spPr>
          <a:xfrm>
            <a:off x="3771900" y="2011680"/>
            <a:ext cx="1600200" cy="1371600"/>
          </a:xfrm>
          <a:prstGeom prst="roundRect">
            <a:avLst>
              <a:gd name="adj" fmla="val 8000"/>
            </a:avLst>
          </a:prstGeom>
          <a:solidFill>
            <a:srgbClr val="4338CA"/>
          </a:solidFill>
          <a:ln/>
        </p:spPr>
      </p:sp>
      <p:sp>
        <p:nvSpPr>
          <p:cNvPr id="13" name="Text 11"/>
          <p:cNvSpPr/>
          <p:nvPr/>
        </p:nvSpPr>
        <p:spPr>
          <a:xfrm>
            <a:off x="3771900" y="2011680"/>
            <a:ext cx="1600200" cy="13716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Hayat Hikâyem</a:t>
            </a:r>
            <a:endParaRPr lang="en-US" sz="1150" dirty="0"/>
          </a:p>
        </p:txBody>
      </p:sp>
      <p:sp>
        <p:nvSpPr>
          <p:cNvPr id="14" name="Shape 12"/>
          <p:cNvSpPr/>
          <p:nvPr/>
        </p:nvSpPr>
        <p:spPr>
          <a:xfrm>
            <a:off x="5463540" y="2011680"/>
            <a:ext cx="1600200" cy="1371600"/>
          </a:xfrm>
          <a:prstGeom prst="roundRect">
            <a:avLst>
              <a:gd name="adj" fmla="val 8000"/>
            </a:avLst>
          </a:prstGeom>
          <a:solidFill>
            <a:srgbClr val="16A34A"/>
          </a:solidFill>
          <a:ln/>
        </p:spPr>
      </p:sp>
      <p:sp>
        <p:nvSpPr>
          <p:cNvPr id="15" name="Text 13"/>
          <p:cNvSpPr/>
          <p:nvPr/>
        </p:nvSpPr>
        <p:spPr>
          <a:xfrm>
            <a:off x="5463540" y="2011680"/>
            <a:ext cx="1600200" cy="13716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Yaşa Saygı</a:t>
            </a:r>
            <a:endParaRPr lang="en-US" sz="1150" dirty="0"/>
          </a:p>
        </p:txBody>
      </p:sp>
      <p:sp>
        <p:nvSpPr>
          <p:cNvPr id="16" name="Shape 14"/>
          <p:cNvSpPr/>
          <p:nvPr/>
        </p:nvSpPr>
        <p:spPr>
          <a:xfrm>
            <a:off x="7155180" y="2011680"/>
            <a:ext cx="1600200" cy="1371600"/>
          </a:xfrm>
          <a:prstGeom prst="roundRect">
            <a:avLst>
              <a:gd name="adj" fmla="val 8000"/>
            </a:avLst>
          </a:prstGeom>
          <a:solidFill>
            <a:srgbClr val="7C3AED"/>
          </a:solidFill>
          <a:ln/>
        </p:spPr>
      </p:sp>
      <p:sp>
        <p:nvSpPr>
          <p:cNvPr id="17" name="Text 15"/>
          <p:cNvSpPr/>
          <p:nvPr/>
        </p:nvSpPr>
        <p:spPr>
          <a:xfrm>
            <a:off x="7155180" y="2011680"/>
            <a:ext cx="1600200" cy="13716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Ünlü Dosyalar</a:t>
            </a:r>
            <a:endParaRPr lang="en-US" sz="1150" dirty="0"/>
          </a:p>
        </p:txBody>
      </p:sp>
      <p:sp>
        <p:nvSpPr>
          <p:cNvPr id="18" name="Text 16"/>
          <p:cNvSpPr/>
          <p:nvPr/>
        </p:nvSpPr>
        <p:spPr>
          <a:xfrm>
            <a:off x="457200" y="3931920"/>
            <a:ext cx="8229600" cy="548640"/>
          </a:xfrm>
          <a:prstGeom prst="rect">
            <a:avLst/>
          </a:prstGeom>
          <a:noFill/>
          <a:ln/>
        </p:spPr>
        <p:txBody>
          <a:bodyPr wrap="square" rtlCol="0" anchor="ctr"/>
          <a:lstStyle/>
          <a:p>
            <a:pPr marL="0" indent="0" algn="ctr">
              <a:buNone/>
            </a:pPr>
            <a:r>
              <a:rPr lang="en-US" sz="1500" i="1" dirty="0">
                <a:solidFill>
                  <a:srgbClr val="FFFFFF"/>
                </a:solidFill>
                <a:latin typeface="Calibri" pitchFamily="34" charset="0"/>
                <a:ea typeface="Calibri" pitchFamily="34" charset="-122"/>
                <a:cs typeface="Calibri" pitchFamily="34" charset="-120"/>
              </a:rPr>
              <a:t>Bir sonraki görevde görüşmek üzere!     </a:t>
            </a:r>
            <a:endParaRPr lang="en-US" sz="1500" dirty="0"/>
          </a:p>
        </p:txBody>
      </p:sp>
      <p:pic>
        <p:nvPicPr>
          <p:cNvPr id="19" name="Emoji 19" descr="emoji"/>
          <p:cNvPicPr>
            <a:picLocks noChangeAspect="1"/>
          </p:cNvPicPr>
          <p:nvPr/>
        </p:nvPicPr>
        <p:blipFill>
          <a:blip r:embed="rId3"/>
          <a:stretch>
            <a:fillRect/>
          </a:stretch>
        </p:blipFill>
        <p:spPr>
          <a:xfrm>
            <a:off x="5905324" y="4110990"/>
            <a:ext cx="190500" cy="190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1005</Words>
  <Application>Microsoft Office PowerPoint</Application>
  <PresentationFormat>Ekran Gösterisi (16:9)</PresentationFormat>
  <Paragraphs>119</Paragraphs>
  <Slides>11</Slides>
  <Notes>11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11</vt:i4>
      </vt:variant>
    </vt:vector>
  </HeadingPairs>
  <TitlesOfParts>
    <vt:vector size="15"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Edibe YILMAZ</cp:lastModifiedBy>
  <cp:revision>4</cp:revision>
  <dcterms:created xsi:type="dcterms:W3CDTF">2026-07-23T19:54:43Z</dcterms:created>
  <dcterms:modified xsi:type="dcterms:W3CDTF">2026-10-27T07:06:45Z</dcterms:modified>
</cp:coreProperties>
</file>