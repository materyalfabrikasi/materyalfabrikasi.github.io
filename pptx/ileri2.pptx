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65" r:id="rId4"/>
    <p:sldId id="266" r:id="rId5"/>
    <p:sldId id="267" r:id="rId6"/>
    <p:sldId id="268" r:id="rId7"/>
    <p:sldId id="269" r:id="rId8"/>
    <p:sldId id="270" r:id="rId9"/>
    <p:sldId id="271" r:id="rId10"/>
    <p:sldId id="272" r:id="rId11"/>
    <p:sldId id="273" r:id="rId12"/>
    <p:sldId id="274" r:id="rId13"/>
    <p:sldId id="262" r:id="rId14"/>
    <p:sldId id="263" r:id="rId15"/>
    <p:sldId id="264"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4" d="100"/>
          <a:sy n="104" d="100"/>
        </p:scale>
        <p:origin x="200"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9780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'Dil Dedektifleri, son görevdeyiz! Başlangıç’ta ülkemizi, Temel’de bölgemizi, Orta’da memleketimizi anlattık. Bugün Türkiye’yi dünyaya tanıtacağız: konumu, Türk dünyasıyla bağları ve turizm zenginliği.'</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Görevleri oku. Sağdaki etiketler öğretim programındaki kazanım kodlarıdır (öğretmen için). Sor: 'Türkiye’yi hiç tanımayan birine tek cümleyle nasıl anlatırdınız?' Cevapları ders sonunda yeniden ele al.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Dört basamağı göster: 'Önce kendi ülkemizi söyledik, sonra bölgemizi ve şehrimizi, sonra memleketimizi tanıttık. Şimdi büyük resme bakıyoruz: Türkiye dünyanın neresinde ve kimlerle bağı var?' Öğrencilere her basamaktan bir cümle söylet; böylece dört seviyenin dil yapıları da tekrar edilmiş olur.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Bir dünya haritası ya da küre göster. Topraklarının yaklaşık %97’si Asya’da (Anadolu), %3’ü Avrupa’dadır (Trakya). Üç tarafı denizlerle çevrilidir: Karadeniz, Ege ve Akdeniz; Marmara bir iç denizdir. İstanbul ve Çanakkale Boğazları Karadeniz’i Akdeniz’e bağlar. Asya, Avrupa ve Afrika’ya yakındır. Sebep-sonuç cümlesini birlikte kur: '… bulunduğu için …'. Soru: 'Yaşadığın ülkenin konumu Türkiye’ninkiyle nasıl karşılaştırılabilir?'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Bağlantıları tanıt: 1915 Çanakkale Köprüsü 2022’de açıldı ve Çanakkale Boğazı’nın iki yakasını bağlar. Marmaray, İstanbul Boğazı’nın altından geçen demir yolu tünelidir (2013). İstanbul’da Boğaz’ın üzerinde üç köprü vardır. Mavi Vatan: Türkiye’nin Karadeniz, Ege ve Akdeniz’deki deniz yetki alanlarını anlatan kavramdır. Soru: 'Yaşadığın ülkeden Türkiye’ye nasıl gidiyorsunuz? Kara, deniz, hava?'</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Temel seviyedeki 'ülke – millet – dil' şifresini hatırlat: 'Bu şifre Türk dünyasında da çalışıyor!' Haritada ülkeleri göster. Selamlaşmaları birlikte söyle; Temel’deki 'Dünya merhaba diyor' slaytıyla karşılaştır: Türk dünyasında selamlar birbirine çok benzer. Bu diller Türkçenin kardeşleridir; hepsi Türk dil ailesindendir. KKTC’yi ayrıca işleyeceğiz.</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Orhun Yazıtları: Moğolistan’da, 8. yüzyılda Göktürkler tarafından dikilmiştir; Türk adının geçtiği ilk Türkçe metinlerdir. Bilge Kağan’ın sözünü birlikte oku. Nevruz: Türk dünyasının ortak bahar bayramı. Dede Korkut: ortak destan mirası; 2018’de Azerbaycan, Kazakistan ve Türkiye’nin ortak başvurusuyla UNESCO listesine girdi. Hoca Ahmed Yesevi Türbesi Kazakistan’ın Türkistan şehrinde, Registan Meydanı Özbekistan’ın Semerkant şehrindedir. Soru: 'Sizin ailenizde Nevruz kutlanıyor mu?'</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Temel’deki cümleyi hatırlat: 'Türkçe Türkiye’de, Kıbrıs’ta… konuşulur.' KKTC Kıbrıs Adası’nın kuzeyindedir, 1983’te kurulmuştur, başkenti Lefkoşa’dır. Büyük Han’ı Orta seviyedeki kervansaray kavramıyla bağla: Osmanlılar tarafından 1572’de yapılmış bir handır. Selimiye Camii Lefkoşa’dadır. Dr. Fazıl Küçük ve Rauf Raif Denktaş Kıbrıs Türklerinin önemli liderleridir. Soru: 'Hellim peynirini tattınız mı?'</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Orta seviyede öğrenilen mekânları hızlıca tekrar et: cami, çeşme, köprü, kervansaray, medrese. Yeni kavramlar: Külliye — cami çevresinde medrese, aşevi (imaret), hamam, şifahane gibi yapılardan oluşan yapı topluluğu. Süleymaniye Külliyesi 1550–1557 yılları arasında Mimar Sinan tarafından yapılmıştır. Dergâh ve tekke: tasavvuf ehlinin toplandığı, sohbet ve eğitim yerleri. Mevlana Dergâhı bugün Mevlana Müzesi’dir; Galata Mevlevihanesi bir Mevlevi tekkesidir. Edilgen yapıyı vurgula: '… tarafından inşa edilmiştir.'</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Turizm türlerini örnekleriyle tanıt. Gaziantep ve Hatay UNESCO’nun gastronomi şehirleri arasındadır. Orta seviyedeki memleketleri hatırlat: 'Trabzon hangi turizm türüne uyar?' (yayla ve doğa turizmi). Her öğrenci kendi memleketine en uygun turizm türünü seçsin; bir sonraki etkinlikte kampanya hazırlayacağız.</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B2 düzeyindeki yapıları tek tek göster: 'sadece … değil, aynı zamanda …', '… bulunduğu için …', 'bu nedenle', '… tarafından inşa edilmiştir' (edilgen), 'hem … hem de …'. Öğrenciler her kalıpla Türkiye ya da memleketleri hakkında bir cümle kursun. Örnek metni birlikte oku ve kalıpların altını çizdir.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Öğrenciler küçük gruplar hâlinde bir tanıtım kampanyası hazırlasın: afiş, kısa metin ve slogan. Orta seviyede tanıttıkları memleketi bir turizm türüyle eşleştirsinler (örneğin Trabzon → yayla ve doğa turizmi). Metinde en az üç ikna edici kalıp kullanılmalı. Sunumdan sonra sınıf oylasın: 'En ikna edici kampanya hangisi? Neden?'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Kültür elçisi görevi: Öğrenciler Türkiye’yi yaşadıkları ülkedeki arkadaşlarına tanıtır. Büyüklerle yapılan kısa görüşme kültür aktarımını destekler (7. Seviye 2C1). Gelecek derste çalışmalar izlenir ve değerlendirilir.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Kutulardaki kavramları birlikte tekrar et. Alttaki mesajı vurgula: ana dilini ve kültürünü koruma hakkı (7. Seviye 2B2). Dört seviyenin yolculuğunu kutla: ülke → bölge → memleket → dünya.</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8.png"/><Relationship Id="rId7"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34.png"/><Relationship Id="rId5" Type="http://schemas.openxmlformats.org/officeDocument/2006/relationships/image" Target="../media/image19.png"/><Relationship Id="rId10" Type="http://schemas.openxmlformats.org/officeDocument/2006/relationships/image" Target="../media/image33.png"/><Relationship Id="rId4" Type="http://schemas.openxmlformats.org/officeDocument/2006/relationships/image" Target="../media/image29.png"/><Relationship Id="rId9" Type="http://schemas.openxmlformats.org/officeDocument/2006/relationships/image" Target="../media/image32.png"/></Relationships>
</file>

<file path=ppt/slides/_rels/slide1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14.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2E5A"/>
          </a:solidFill>
          <a:ln/>
        </p:spPr>
        <p:txBody>
          <a:bodyPr/>
          <a:lstStyle/>
          <a:p>
            <a:endParaRPr/>
          </a:p>
        </p:txBody>
      </p:sp>
      <p:sp>
        <p:nvSpPr>
          <p:cNvPr id="16" name="5-Point Star 15"/>
          <p:cNvSpPr/>
          <p:nvPr/>
        </p:nvSpPr>
        <p:spPr>
          <a:xfrm>
            <a:off x="360680" y="269240"/>
            <a:ext cx="193040" cy="193040"/>
          </a:xfrm>
          <a:prstGeom prst="star5">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5-Point Star 16"/>
          <p:cNvSpPr/>
          <p:nvPr/>
        </p:nvSpPr>
        <p:spPr>
          <a:xfrm>
            <a:off x="8407400" y="269240"/>
            <a:ext cx="193040" cy="193040"/>
          </a:xfrm>
          <a:prstGeom prst="star5">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5-Point Star 17"/>
          <p:cNvSpPr/>
          <p:nvPr/>
        </p:nvSpPr>
        <p:spPr>
          <a:xfrm>
            <a:off x="360680" y="4566920"/>
            <a:ext cx="193040" cy="193040"/>
          </a:xfrm>
          <a:prstGeom prst="star5">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5-Point Star 18"/>
          <p:cNvSpPr/>
          <p:nvPr/>
        </p:nvSpPr>
        <p:spPr>
          <a:xfrm>
            <a:off x="8407400" y="4566920"/>
            <a:ext cx="193040" cy="193040"/>
          </a:xfrm>
          <a:prstGeom prst="star5">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5-Point Star 19"/>
          <p:cNvSpPr/>
          <p:nvPr/>
        </p:nvSpPr>
        <p:spPr>
          <a:xfrm>
            <a:off x="1092200" y="4109720"/>
            <a:ext cx="193040" cy="193040"/>
          </a:xfrm>
          <a:prstGeom prst="star5">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5-Point Star 20"/>
          <p:cNvSpPr/>
          <p:nvPr/>
        </p:nvSpPr>
        <p:spPr>
          <a:xfrm>
            <a:off x="7675880" y="726440"/>
            <a:ext cx="193040" cy="193040"/>
          </a:xfrm>
          <a:prstGeom prst="star5">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Shape 7"/>
          <p:cNvSpPr/>
          <p:nvPr/>
        </p:nvSpPr>
        <p:spPr>
          <a:xfrm>
            <a:off x="3886200" y="502920"/>
            <a:ext cx="1371600" cy="1371600"/>
          </a:xfrm>
          <a:prstGeom prst="ellipse">
            <a:avLst/>
          </a:prstGeom>
          <a:solidFill>
            <a:srgbClr val="F97316"/>
          </a:solidFill>
          <a:ln/>
          <a:effectLst>
            <a:outerShdw blurRad="76200" dist="25400" dir="5400000" algn="bl" rotWithShape="0">
              <a:srgbClr val="1A2E5A">
                <a:alpha val="18000"/>
              </a:srgbClr>
            </a:outerShdw>
          </a:effectLst>
        </p:spPr>
        <p:txBody>
          <a:bodyPr/>
          <a:lstStyle/>
          <a:p>
            <a:endParaRPr/>
          </a:p>
        </p:txBody>
      </p:sp>
      <p:pic>
        <p:nvPicPr>
          <p:cNvPr id="22" name="Picture 21" descr="1f30d.png"/>
          <p:cNvPicPr>
            <a:picLocks noChangeAspect="1"/>
          </p:cNvPicPr>
          <p:nvPr/>
        </p:nvPicPr>
        <p:blipFill>
          <a:blip r:embed="rId3"/>
          <a:stretch>
            <a:fillRect/>
          </a:stretch>
        </p:blipFill>
        <p:spPr>
          <a:xfrm>
            <a:off x="4236720" y="853440"/>
            <a:ext cx="670560" cy="670560"/>
          </a:xfrm>
          <a:prstGeom prst="rect">
            <a:avLst/>
          </a:prstGeom>
        </p:spPr>
      </p:pic>
      <p:sp>
        <p:nvSpPr>
          <p:cNvPr id="11" name="Text 9"/>
          <p:cNvSpPr/>
          <p:nvPr/>
        </p:nvSpPr>
        <p:spPr>
          <a:xfrm>
            <a:off x="457200" y="2103120"/>
            <a:ext cx="8229600" cy="640080"/>
          </a:xfrm>
          <a:prstGeom prst="rect">
            <a:avLst/>
          </a:prstGeom>
          <a:noFill/>
          <a:ln/>
        </p:spPr>
        <p:txBody>
          <a:bodyPr wrap="square" rtlCol="0" anchor="ctr"/>
          <a:lstStyle/>
          <a:p>
            <a:pPr marL="0" indent="0" algn="ctr">
              <a:buNone/>
            </a:pPr>
            <a:r>
              <a:rPr lang="en-US" sz="4000" b="1" dirty="0">
                <a:solidFill>
                  <a:srgbClr val="FBBF24"/>
                </a:solidFill>
                <a:latin typeface="Cambria" pitchFamily="34" charset="0"/>
                <a:ea typeface="Cambria" pitchFamily="34" charset="-122"/>
                <a:cs typeface="Cambria" pitchFamily="34" charset="-120"/>
              </a:rPr>
              <a:t>DİL DEDEKTİFİ</a:t>
            </a:r>
            <a:endParaRPr lang="en-US" sz="4000" dirty="0"/>
          </a:p>
        </p:txBody>
      </p:sp>
      <p:sp>
        <p:nvSpPr>
          <p:cNvPr id="12" name="Text 10"/>
          <p:cNvSpPr/>
          <p:nvPr/>
        </p:nvSpPr>
        <p:spPr>
          <a:xfrm>
            <a:off x="457200" y="2697480"/>
            <a:ext cx="8229600" cy="411480"/>
          </a:xfrm>
          <a:prstGeom prst="rect">
            <a:avLst/>
          </a:prstGeom>
          <a:noFill/>
          <a:ln/>
        </p:spPr>
        <p:txBody>
          <a:bodyPr wrap="square" rtlCol="0" anchor="ctr"/>
          <a:lstStyle/>
          <a:p>
            <a:pPr marL="0" indent="0" algn="ctr">
              <a:buNone/>
            </a:pPr>
            <a:r>
              <a:rPr lang="en-US" sz="1600" dirty="0">
                <a:solidFill>
                  <a:srgbClr val="FFFFFF"/>
                </a:solidFill>
                <a:latin typeface="Calibri" pitchFamily="34" charset="0"/>
                <a:ea typeface="Calibri" pitchFamily="34" charset="-122"/>
                <a:cs typeface="Calibri" pitchFamily="34" charset="-120"/>
              </a:rPr>
              <a:t>B2 SEVİYESİ • TÜRKİYE’Yİ DÜNYAYA TANITIYORUM</a:t>
            </a:r>
            <a:endParaRPr lang="en-US" sz="1600" dirty="0"/>
          </a:p>
        </p:txBody>
      </p:sp>
      <p:sp>
        <p:nvSpPr>
          <p:cNvPr id="13" name="Shape 11"/>
          <p:cNvSpPr/>
          <p:nvPr/>
        </p:nvSpPr>
        <p:spPr>
          <a:xfrm>
            <a:off x="1463040" y="3291840"/>
            <a:ext cx="6217920" cy="457200"/>
          </a:xfrm>
          <a:prstGeom prst="roundRect">
            <a:avLst>
              <a:gd name="adj" fmla="val 50000"/>
            </a:avLst>
          </a:prstGeom>
          <a:solidFill>
            <a:srgbClr val="F97316"/>
          </a:solidFill>
          <a:ln/>
        </p:spPr>
        <p:txBody>
          <a:bodyPr/>
          <a:lstStyle/>
          <a:p>
            <a:endParaRPr/>
          </a:p>
        </p:txBody>
      </p:sp>
      <p:sp>
        <p:nvSpPr>
          <p:cNvPr id="14" name="Text 12"/>
          <p:cNvSpPr/>
          <p:nvPr/>
        </p:nvSpPr>
        <p:spPr>
          <a:xfrm>
            <a:off x="1463040" y="3291840"/>
            <a:ext cx="6217920" cy="457200"/>
          </a:xfrm>
          <a:prstGeom prst="rect">
            <a:avLst/>
          </a:prstGeom>
          <a:noFill/>
          <a:ln/>
        </p:spPr>
        <p:txBody>
          <a:bodyPr wrap="square" lIns="32004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Türkiye’nin Konumu • Türk Dünyası • Mavi Yeşil Türkiye</a:t>
            </a:r>
            <a:endParaRPr lang="en-US" sz="1200" dirty="0"/>
          </a:p>
        </p:txBody>
      </p:sp>
      <p:pic>
        <p:nvPicPr>
          <p:cNvPr id="23" name="Picture 22" descr="1f9ed.png"/>
          <p:cNvPicPr>
            <a:picLocks noChangeAspect="1"/>
          </p:cNvPicPr>
          <p:nvPr/>
        </p:nvPicPr>
        <p:blipFill>
          <a:blip r:embed="rId4"/>
          <a:stretch>
            <a:fillRect/>
          </a:stretch>
        </p:blipFill>
        <p:spPr>
          <a:xfrm>
            <a:off x="2711577" y="3432810"/>
            <a:ext cx="175260" cy="175260"/>
          </a:xfrm>
          <a:prstGeom prst="rect">
            <a:avLst/>
          </a:prstGeom>
        </p:spPr>
      </p:pic>
      <p:sp>
        <p:nvSpPr>
          <p:cNvPr id="15" name="Text 13"/>
          <p:cNvSpPr/>
          <p:nvPr/>
        </p:nvSpPr>
        <p:spPr>
          <a:xfrm>
            <a:off x="457200" y="4114800"/>
            <a:ext cx="8229600" cy="457200"/>
          </a:xfrm>
          <a:prstGeom prst="rect">
            <a:avLst/>
          </a:prstGeom>
          <a:noFill/>
          <a:ln/>
        </p:spPr>
        <p:txBody>
          <a:bodyPr wrap="square" rtlCol="0" anchor="ctr"/>
          <a:lstStyle/>
          <a:p>
            <a:pPr marL="0" indent="0" algn="ctr">
              <a:buNone/>
            </a:pPr>
            <a:r>
              <a:rPr lang="en-US" sz="1400" i="1" dirty="0">
                <a:solidFill>
                  <a:srgbClr val="DBEAFE"/>
                </a:solidFill>
                <a:latin typeface="Calibri" pitchFamily="34" charset="0"/>
                <a:ea typeface="Calibri" pitchFamily="34" charset="-122"/>
                <a:cs typeface="Calibri" pitchFamily="34" charset="-120"/>
              </a:rPr>
              <a:t>Bir dedektif keşfettiklerini dünyaya anlatır!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8FAFC"/>
          </a:solidFill>
          <a:ln/>
        </p:spPr>
        <p:txBody>
          <a:bodyPr/>
          <a:lstStyle/>
          <a:p>
            <a:endParaRPr/>
          </a:p>
        </p:txBody>
      </p:sp>
      <p:sp>
        <p:nvSpPr>
          <p:cNvPr id="3" name="Shape 1"/>
          <p:cNvSpPr/>
          <p:nvPr/>
        </p:nvSpPr>
        <p:spPr>
          <a:xfrm>
            <a:off x="0" y="0"/>
            <a:ext cx="9144000" cy="658368"/>
          </a:xfrm>
          <a:prstGeom prst="rect">
            <a:avLst/>
          </a:prstGeom>
          <a:solidFill>
            <a:srgbClr val="1E293B"/>
          </a:solidFill>
          <a:ln/>
        </p:spPr>
        <p:txBody>
          <a:bodyPr/>
          <a:lstStyle/>
          <a:p>
            <a:endParaRPr/>
          </a:p>
        </p:txBody>
      </p:sp>
      <p:sp>
        <p:nvSpPr>
          <p:cNvPr id="4" name="Text 2"/>
          <p:cNvSpPr/>
          <p:nvPr/>
        </p:nvSpPr>
        <p:spPr>
          <a:xfrm>
            <a:off x="365760" y="0"/>
            <a:ext cx="8412480" cy="658368"/>
          </a:xfrm>
          <a:prstGeom prst="rect">
            <a:avLst/>
          </a:prstGeom>
          <a:noFill/>
          <a:ln/>
        </p:spPr>
        <p:txBody>
          <a:bodyPr wrap="square" lIns="415289" rtlCol="0" anchor="ctr"/>
          <a:lstStyle/>
          <a:p>
            <a:pPr marL="0" indent="0" algn="l">
              <a:buNone/>
            </a:pPr>
            <a:r>
              <a:rPr lang="en-US" sz="1700" b="1" dirty="0">
                <a:solidFill>
                  <a:srgbClr val="FFFFFF"/>
                </a:solidFill>
                <a:latin typeface="Cambria" pitchFamily="34" charset="0"/>
                <a:ea typeface="Cambria" pitchFamily="34" charset="-122"/>
                <a:cs typeface="Cambria" pitchFamily="34" charset="-120"/>
              </a:rPr>
              <a:t>GÖREV RAPORUMUZ</a:t>
            </a:r>
            <a:endParaRPr lang="en-US" sz="1700" dirty="0"/>
          </a:p>
        </p:txBody>
      </p:sp>
      <p:pic>
        <p:nvPicPr>
          <p:cNvPr id="30" name="Picture 29" descr="1f5c2_fe0f.png"/>
          <p:cNvPicPr>
            <a:picLocks noChangeAspect="1"/>
          </p:cNvPicPr>
          <p:nvPr/>
        </p:nvPicPr>
        <p:blipFill>
          <a:blip r:embed="rId3"/>
          <a:stretch>
            <a:fillRect/>
          </a:stretch>
        </p:blipFill>
        <p:spPr>
          <a:xfrm>
            <a:off x="457200" y="205042"/>
            <a:ext cx="248284" cy="248284"/>
          </a:xfrm>
          <a:prstGeom prst="rect">
            <a:avLst/>
          </a:prstGeom>
        </p:spPr>
      </p:pic>
      <p:sp>
        <p:nvSpPr>
          <p:cNvPr id="5" name="TextBox 4"/>
          <p:cNvSpPr txBox="1"/>
          <p:nvPr/>
        </p:nvSpPr>
        <p:spPr>
          <a:xfrm>
            <a:off x="73152" y="731520"/>
            <a:ext cx="9006840" cy="182880"/>
          </a:xfrm>
          <a:prstGeom prst="rect">
            <a:avLst/>
          </a:prstGeom>
          <a:noFill/>
        </p:spPr>
        <p:txBody>
          <a:bodyPr wrap="square" lIns="18288" tIns="45720" rIns="18288" bIns="45720" anchor="ctr"/>
          <a:lstStyle/>
          <a:p>
            <a:pPr algn="r"/>
            <a:r>
              <a:rPr lang="tr-TR" sz="800" b="0" i="0">
                <a:solidFill>
                  <a:srgbClr val="94A3B8"/>
                </a:solidFill>
                <a:latin typeface="Calibri"/>
              </a:rPr>
              <a:t>2026 TTKD Öğretim Programı — 5. Seviye: 3B2;  7. Seviye: 2B2, 2C1, 3A1, 3A2, 3B1, 4Ç1</a:t>
            </a:r>
          </a:p>
        </p:txBody>
      </p:sp>
      <p:sp>
        <p:nvSpPr>
          <p:cNvPr id="6" name="Rounded Rectangle 5"/>
          <p:cNvSpPr/>
          <p:nvPr/>
        </p:nvSpPr>
        <p:spPr>
          <a:xfrm>
            <a:off x="548640" y="987552"/>
            <a:ext cx="8046720" cy="859536"/>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777240" y="1170432"/>
            <a:ext cx="493776" cy="493776"/>
          </a:xfrm>
          <a:prstGeom prst="ellipse">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1f9ed.png"/>
          <p:cNvPicPr>
            <a:picLocks noChangeAspect="1"/>
          </p:cNvPicPr>
          <p:nvPr/>
        </p:nvPicPr>
        <p:blipFill>
          <a:blip r:embed="rId4"/>
          <a:stretch>
            <a:fillRect/>
          </a:stretch>
        </p:blipFill>
        <p:spPr>
          <a:xfrm>
            <a:off x="886968" y="1280160"/>
            <a:ext cx="274320" cy="274320"/>
          </a:xfrm>
          <a:prstGeom prst="rect">
            <a:avLst/>
          </a:prstGeom>
        </p:spPr>
      </p:pic>
      <p:sp>
        <p:nvSpPr>
          <p:cNvPr id="9" name="TextBox 8"/>
          <p:cNvSpPr txBox="1"/>
          <p:nvPr/>
        </p:nvSpPr>
        <p:spPr>
          <a:xfrm>
            <a:off x="1463039" y="987552"/>
            <a:ext cx="6803381" cy="859536"/>
          </a:xfrm>
          <a:prstGeom prst="rect">
            <a:avLst/>
          </a:prstGeom>
          <a:noFill/>
        </p:spPr>
        <p:txBody>
          <a:bodyPr wrap="square" lIns="73152" tIns="45720" rIns="73152" bIns="45720" anchor="ctr"/>
          <a:lstStyle/>
          <a:p>
            <a:pPr algn="l"/>
            <a:r>
              <a:rPr lang="tr-TR" sz="1400" b="1" i="0" dirty="0">
                <a:solidFill>
                  <a:srgbClr val="1E293B"/>
                </a:solidFill>
                <a:latin typeface="Calibri"/>
              </a:rPr>
              <a:t>1. Türkiye’nin dünyadaki konumunu ve kara-deniz-hava bağlantılarını açıklayacağız.</a:t>
            </a:r>
          </a:p>
        </p:txBody>
      </p:sp>
      <p:sp>
        <p:nvSpPr>
          <p:cNvPr id="12" name="Rounded Rectangle 11"/>
          <p:cNvSpPr/>
          <p:nvPr/>
        </p:nvSpPr>
        <p:spPr>
          <a:xfrm>
            <a:off x="548640" y="1975104"/>
            <a:ext cx="8046720" cy="859536"/>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777240" y="2157984"/>
            <a:ext cx="493776" cy="493776"/>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2" name="Picture 31" descr="1f91d.png"/>
          <p:cNvPicPr>
            <a:picLocks noChangeAspect="1"/>
          </p:cNvPicPr>
          <p:nvPr/>
        </p:nvPicPr>
        <p:blipFill>
          <a:blip r:embed="rId5"/>
          <a:stretch>
            <a:fillRect/>
          </a:stretch>
        </p:blipFill>
        <p:spPr>
          <a:xfrm>
            <a:off x="886968" y="2267712"/>
            <a:ext cx="274320" cy="274320"/>
          </a:xfrm>
          <a:prstGeom prst="rect">
            <a:avLst/>
          </a:prstGeom>
        </p:spPr>
      </p:pic>
      <p:sp>
        <p:nvSpPr>
          <p:cNvPr id="15" name="TextBox 14"/>
          <p:cNvSpPr txBox="1"/>
          <p:nvPr/>
        </p:nvSpPr>
        <p:spPr>
          <a:xfrm>
            <a:off x="1463039" y="1975104"/>
            <a:ext cx="7030447" cy="859536"/>
          </a:xfrm>
          <a:prstGeom prst="rect">
            <a:avLst/>
          </a:prstGeom>
          <a:noFill/>
        </p:spPr>
        <p:txBody>
          <a:bodyPr wrap="square" lIns="73152" tIns="45720" rIns="73152" bIns="45720" anchor="ctr"/>
          <a:lstStyle/>
          <a:p>
            <a:pPr algn="l"/>
            <a:r>
              <a:rPr lang="tr-TR" sz="1400" b="1" i="0" dirty="0">
                <a:solidFill>
                  <a:srgbClr val="1E293B"/>
                </a:solidFill>
                <a:latin typeface="Calibri"/>
              </a:rPr>
              <a:t>2. Türk dünyasını ve KKTC’yi ülkeleri, ortak kültürel bağları, mekânları ve yazıtlarıyla tanıyacağız.</a:t>
            </a:r>
          </a:p>
        </p:txBody>
      </p:sp>
      <p:sp>
        <p:nvSpPr>
          <p:cNvPr id="18" name="Rounded Rectangle 17"/>
          <p:cNvSpPr/>
          <p:nvPr/>
        </p:nvSpPr>
        <p:spPr>
          <a:xfrm>
            <a:off x="548640" y="2962656"/>
            <a:ext cx="8046720" cy="859536"/>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777240" y="3145536"/>
            <a:ext cx="493776" cy="493776"/>
          </a:xfrm>
          <a:prstGeom prst="ellips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Picture 32" descr="1f54c.png"/>
          <p:cNvPicPr>
            <a:picLocks noChangeAspect="1"/>
          </p:cNvPicPr>
          <p:nvPr/>
        </p:nvPicPr>
        <p:blipFill>
          <a:blip r:embed="rId6"/>
          <a:stretch>
            <a:fillRect/>
          </a:stretch>
        </p:blipFill>
        <p:spPr>
          <a:xfrm>
            <a:off x="886968" y="3255264"/>
            <a:ext cx="274320" cy="274320"/>
          </a:xfrm>
          <a:prstGeom prst="rect">
            <a:avLst/>
          </a:prstGeom>
        </p:spPr>
      </p:pic>
      <p:sp>
        <p:nvSpPr>
          <p:cNvPr id="21" name="TextBox 20"/>
          <p:cNvSpPr txBox="1"/>
          <p:nvPr/>
        </p:nvSpPr>
        <p:spPr>
          <a:xfrm>
            <a:off x="1463040" y="2962656"/>
            <a:ext cx="6803380" cy="859536"/>
          </a:xfrm>
          <a:prstGeom prst="rect">
            <a:avLst/>
          </a:prstGeom>
          <a:noFill/>
        </p:spPr>
        <p:txBody>
          <a:bodyPr wrap="square" lIns="73152" tIns="45720" rIns="73152" bIns="45720" anchor="ctr"/>
          <a:lstStyle/>
          <a:p>
            <a:pPr algn="l"/>
            <a:r>
              <a:rPr lang="tr-TR" sz="1400" b="1" i="0" dirty="0">
                <a:solidFill>
                  <a:srgbClr val="1E293B"/>
                </a:solidFill>
                <a:latin typeface="Calibri"/>
              </a:rPr>
              <a:t>3. Külliye, dergâh ve tekke gibi tarihî ve kültürel mekânları yorumlayacağız.</a:t>
            </a:r>
          </a:p>
        </p:txBody>
      </p:sp>
      <p:sp>
        <p:nvSpPr>
          <p:cNvPr id="24" name="Rounded Rectangle 23"/>
          <p:cNvSpPr/>
          <p:nvPr/>
        </p:nvSpPr>
        <p:spPr>
          <a:xfrm>
            <a:off x="548640" y="3950208"/>
            <a:ext cx="8046720" cy="859536"/>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24"/>
          <p:cNvSpPr/>
          <p:nvPr/>
        </p:nvSpPr>
        <p:spPr>
          <a:xfrm>
            <a:off x="777240" y="413308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4" name="Picture 33" descr="1f4e3.png"/>
          <p:cNvPicPr>
            <a:picLocks noChangeAspect="1"/>
          </p:cNvPicPr>
          <p:nvPr/>
        </p:nvPicPr>
        <p:blipFill>
          <a:blip r:embed="rId7"/>
          <a:stretch>
            <a:fillRect/>
          </a:stretch>
        </p:blipFill>
        <p:spPr>
          <a:xfrm>
            <a:off x="886968" y="4242816"/>
            <a:ext cx="274320" cy="274320"/>
          </a:xfrm>
          <a:prstGeom prst="rect">
            <a:avLst/>
          </a:prstGeom>
        </p:spPr>
      </p:pic>
      <p:sp>
        <p:nvSpPr>
          <p:cNvPr id="27" name="TextBox 26"/>
          <p:cNvSpPr txBox="1"/>
          <p:nvPr/>
        </p:nvSpPr>
        <p:spPr>
          <a:xfrm>
            <a:off x="1463040" y="3950208"/>
            <a:ext cx="6803380" cy="859536"/>
          </a:xfrm>
          <a:prstGeom prst="rect">
            <a:avLst/>
          </a:prstGeom>
          <a:noFill/>
        </p:spPr>
        <p:txBody>
          <a:bodyPr wrap="square" lIns="73152" tIns="45720" rIns="73152" bIns="45720" anchor="ctr"/>
          <a:lstStyle/>
          <a:p>
            <a:pPr algn="l"/>
            <a:r>
              <a:rPr lang="tr-TR" sz="1400" b="1" i="0" dirty="0">
                <a:solidFill>
                  <a:srgbClr val="1E293B"/>
                </a:solidFill>
                <a:latin typeface="Calibri"/>
              </a:rPr>
              <a:t>4. Mavi yeşil Türkiye’yi turizm türleriyle tanıtan ikna edici bir kampanya hazırlayacağız.</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0"/>
            <a:ext cx="9144000" cy="658368"/>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365760" y="0"/>
            <a:ext cx="6583680" cy="658368"/>
          </a:xfrm>
          <a:prstGeom prst="rect">
            <a:avLst/>
          </a:prstGeom>
          <a:noFill/>
        </p:spPr>
        <p:txBody>
          <a:bodyPr wrap="square" lIns="435102" tIns="45720" rIns="73152" bIns="45720" anchor="ctr"/>
          <a:lstStyle/>
          <a:p>
            <a:pPr algn="l"/>
            <a:r>
              <a:rPr lang="tr-TR" sz="1900" b="1" i="0">
                <a:solidFill>
                  <a:srgbClr val="FBBF24"/>
                </a:solidFill>
                <a:latin typeface="Cambria"/>
              </a:rPr>
              <a:t>DEDEKTİF DOSYASI: YAKINDAN UZAĞA</a:t>
            </a:r>
          </a:p>
        </p:txBody>
      </p:sp>
      <p:pic>
        <p:nvPicPr>
          <p:cNvPr id="27" name="Picture 26" descr="1f575_fe0f.png"/>
          <p:cNvPicPr>
            <a:picLocks noChangeAspect="1"/>
          </p:cNvPicPr>
          <p:nvPr/>
        </p:nvPicPr>
        <p:blipFill>
          <a:blip r:embed="rId3"/>
          <a:stretch>
            <a:fillRect/>
          </a:stretch>
        </p:blipFill>
        <p:spPr>
          <a:xfrm>
            <a:off x="438912" y="190436"/>
            <a:ext cx="277495" cy="277495"/>
          </a:xfrm>
          <a:prstGeom prst="rect">
            <a:avLst/>
          </a:prstGeom>
        </p:spPr>
      </p:pic>
      <p:sp>
        <p:nvSpPr>
          <p:cNvPr id="5" name="TextBox 4"/>
          <p:cNvSpPr txBox="1"/>
          <p:nvPr/>
        </p:nvSpPr>
        <p:spPr>
          <a:xfrm>
            <a:off x="457200" y="868680"/>
            <a:ext cx="4754880" cy="822960"/>
          </a:xfrm>
          <a:prstGeom prst="rect">
            <a:avLst/>
          </a:prstGeom>
          <a:noFill/>
        </p:spPr>
        <p:txBody>
          <a:bodyPr wrap="square" lIns="73152" tIns="45720" rIns="73152" bIns="45720" anchor="t"/>
          <a:lstStyle/>
          <a:p>
            <a:pPr algn="l"/>
            <a:r>
              <a:rPr lang="tr-TR" sz="1600" b="1" i="0">
                <a:solidFill>
                  <a:srgbClr val="1E293B"/>
                </a:solidFill>
                <a:latin typeface="Calibri"/>
              </a:rPr>
              <a:t>Son basamaktayız!</a:t>
            </a:r>
          </a:p>
          <a:p>
            <a:pPr algn="l"/>
            <a:r>
              <a:rPr lang="tr-TR" sz="1600" b="1" i="0">
                <a:solidFill>
                  <a:srgbClr val="F97316"/>
                </a:solidFill>
                <a:latin typeface="Calibri"/>
              </a:rPr>
              <a:t>Ülke → şehir → memleket → dünya</a:t>
            </a:r>
          </a:p>
        </p:txBody>
      </p:sp>
      <p:sp>
        <p:nvSpPr>
          <p:cNvPr id="6" name="Rounded Rectangle 5"/>
          <p:cNvSpPr/>
          <p:nvPr/>
        </p:nvSpPr>
        <p:spPr>
          <a:xfrm>
            <a:off x="411480" y="2971800"/>
            <a:ext cx="1993392" cy="1188720"/>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ounded Rectangle 6"/>
          <p:cNvSpPr/>
          <p:nvPr/>
        </p:nvSpPr>
        <p:spPr>
          <a:xfrm>
            <a:off x="411480" y="2971800"/>
            <a:ext cx="1993392" cy="384048"/>
          </a:xfrm>
          <a:prstGeom prst="roundRect">
            <a:avLst>
              <a:gd name="adj" fmla="val 2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411480" y="2971800"/>
            <a:ext cx="1993392" cy="384048"/>
          </a:xfrm>
          <a:prstGeom prst="rect">
            <a:avLst/>
          </a:prstGeom>
          <a:noFill/>
        </p:spPr>
        <p:txBody>
          <a:bodyPr wrap="square" lIns="73152" tIns="45720" rIns="73152" bIns="45720" anchor="ctr"/>
          <a:lstStyle/>
          <a:p>
            <a:pPr algn="ctr"/>
            <a:r>
              <a:rPr lang="tr-TR" sz="1200" b="1" i="0">
                <a:solidFill>
                  <a:srgbClr val="FFFFFF"/>
                </a:solidFill>
                <a:latin typeface="Calibri"/>
              </a:rPr>
              <a:t>BAŞLANGIÇ</a:t>
            </a:r>
          </a:p>
        </p:txBody>
      </p:sp>
      <p:sp>
        <p:nvSpPr>
          <p:cNvPr id="9" name="TextBox 8"/>
          <p:cNvSpPr txBox="1"/>
          <p:nvPr/>
        </p:nvSpPr>
        <p:spPr>
          <a:xfrm>
            <a:off x="457200" y="3392424"/>
            <a:ext cx="1901952" cy="411480"/>
          </a:xfrm>
          <a:prstGeom prst="rect">
            <a:avLst/>
          </a:prstGeom>
          <a:noFill/>
        </p:spPr>
        <p:txBody>
          <a:bodyPr wrap="square" lIns="73152" tIns="45720" rIns="73152" bIns="45720" anchor="ctr"/>
          <a:lstStyle/>
          <a:p>
            <a:pPr algn="ctr"/>
            <a:r>
              <a:rPr lang="tr-TR" sz="1500" b="1" i="0">
                <a:solidFill>
                  <a:srgbClr val="2563EB"/>
                </a:solidFill>
                <a:latin typeface="Cambria"/>
              </a:rPr>
              <a:t>Ülkem</a:t>
            </a:r>
          </a:p>
        </p:txBody>
      </p:sp>
      <p:sp>
        <p:nvSpPr>
          <p:cNvPr id="10" name="TextBox 9"/>
          <p:cNvSpPr txBox="1"/>
          <p:nvPr/>
        </p:nvSpPr>
        <p:spPr>
          <a:xfrm>
            <a:off x="502920" y="3794760"/>
            <a:ext cx="1810512" cy="1005840"/>
          </a:xfrm>
          <a:prstGeom prst="rect">
            <a:avLst/>
          </a:prstGeom>
          <a:noFill/>
        </p:spPr>
        <p:txBody>
          <a:bodyPr wrap="square" lIns="73152" tIns="45720" rIns="73152" bIns="45720" anchor="t"/>
          <a:lstStyle/>
          <a:p>
            <a:pPr algn="ctr"/>
            <a:r>
              <a:rPr lang="tr-TR" sz="1200" b="0" i="1">
                <a:solidFill>
                  <a:srgbClr val="1E293B"/>
                </a:solidFill>
                <a:latin typeface="Calibri"/>
              </a:rPr>
              <a:t>“Hollanda’da yaşıyorum.”</a:t>
            </a:r>
          </a:p>
        </p:txBody>
      </p:sp>
      <p:sp>
        <p:nvSpPr>
          <p:cNvPr id="11" name="Rounded Rectangle 10"/>
          <p:cNvSpPr/>
          <p:nvPr/>
        </p:nvSpPr>
        <p:spPr>
          <a:xfrm>
            <a:off x="2514600" y="2468880"/>
            <a:ext cx="1993392" cy="1691640"/>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ounded Rectangle 11"/>
          <p:cNvSpPr/>
          <p:nvPr/>
        </p:nvSpPr>
        <p:spPr>
          <a:xfrm>
            <a:off x="2514600" y="2468880"/>
            <a:ext cx="1993392" cy="384048"/>
          </a:xfrm>
          <a:prstGeom prst="roundRect">
            <a:avLst>
              <a:gd name="adj" fmla="val 2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2514600" y="2468880"/>
            <a:ext cx="1993392" cy="384048"/>
          </a:xfrm>
          <a:prstGeom prst="rect">
            <a:avLst/>
          </a:prstGeom>
          <a:noFill/>
        </p:spPr>
        <p:txBody>
          <a:bodyPr wrap="square" lIns="73152" tIns="45720" rIns="73152" bIns="45720" anchor="ctr"/>
          <a:lstStyle/>
          <a:p>
            <a:pPr algn="ctr"/>
            <a:r>
              <a:rPr lang="tr-TR" sz="1200" b="1" i="0">
                <a:solidFill>
                  <a:srgbClr val="FFFFFF"/>
                </a:solidFill>
                <a:latin typeface="Calibri"/>
              </a:rPr>
              <a:t>TEMEL</a:t>
            </a:r>
          </a:p>
        </p:txBody>
      </p:sp>
      <p:sp>
        <p:nvSpPr>
          <p:cNvPr id="14" name="TextBox 13"/>
          <p:cNvSpPr txBox="1"/>
          <p:nvPr/>
        </p:nvSpPr>
        <p:spPr>
          <a:xfrm>
            <a:off x="2560320" y="2889504"/>
            <a:ext cx="1901952" cy="411480"/>
          </a:xfrm>
          <a:prstGeom prst="rect">
            <a:avLst/>
          </a:prstGeom>
          <a:noFill/>
        </p:spPr>
        <p:txBody>
          <a:bodyPr wrap="square" lIns="73152" tIns="45720" rIns="73152" bIns="45720" anchor="ctr"/>
          <a:lstStyle/>
          <a:p>
            <a:pPr algn="ctr"/>
            <a:r>
              <a:rPr lang="tr-TR" sz="1500" b="1" i="0">
                <a:solidFill>
                  <a:srgbClr val="7C3AED"/>
                </a:solidFill>
                <a:latin typeface="Cambria"/>
              </a:rPr>
              <a:t>Bölgem</a:t>
            </a:r>
          </a:p>
        </p:txBody>
      </p:sp>
      <p:sp>
        <p:nvSpPr>
          <p:cNvPr id="15" name="TextBox 14"/>
          <p:cNvSpPr txBox="1"/>
          <p:nvPr/>
        </p:nvSpPr>
        <p:spPr>
          <a:xfrm>
            <a:off x="2606040" y="3291840"/>
            <a:ext cx="1810512" cy="1005840"/>
          </a:xfrm>
          <a:prstGeom prst="rect">
            <a:avLst/>
          </a:prstGeom>
          <a:noFill/>
        </p:spPr>
        <p:txBody>
          <a:bodyPr wrap="square" lIns="73152" tIns="45720" rIns="73152" bIns="45720" anchor="t"/>
          <a:lstStyle/>
          <a:p>
            <a:pPr algn="ctr"/>
            <a:r>
              <a:rPr lang="tr-TR" sz="1200" b="0" i="1">
                <a:solidFill>
                  <a:srgbClr val="1E293B"/>
                </a:solidFill>
                <a:latin typeface="Calibri"/>
              </a:rPr>
              <a:t>“Ailem Karadeniz Bölgesi’nden.”</a:t>
            </a:r>
          </a:p>
        </p:txBody>
      </p:sp>
      <p:sp>
        <p:nvSpPr>
          <p:cNvPr id="16" name="Rounded Rectangle 15"/>
          <p:cNvSpPr/>
          <p:nvPr/>
        </p:nvSpPr>
        <p:spPr>
          <a:xfrm>
            <a:off x="4617720" y="1965960"/>
            <a:ext cx="1993392" cy="2194560"/>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ounded Rectangle 16"/>
          <p:cNvSpPr/>
          <p:nvPr/>
        </p:nvSpPr>
        <p:spPr>
          <a:xfrm>
            <a:off x="4617720" y="1965960"/>
            <a:ext cx="1993392" cy="384048"/>
          </a:xfrm>
          <a:prstGeom prst="roundRect">
            <a:avLst>
              <a:gd name="adj" fmla="val 20000"/>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4617720" y="1965960"/>
            <a:ext cx="1993392" cy="384048"/>
          </a:xfrm>
          <a:prstGeom prst="rect">
            <a:avLst/>
          </a:prstGeom>
          <a:noFill/>
        </p:spPr>
        <p:txBody>
          <a:bodyPr wrap="square" lIns="73152" tIns="45720" rIns="73152" bIns="45720" anchor="ctr"/>
          <a:lstStyle/>
          <a:p>
            <a:pPr algn="ctr"/>
            <a:r>
              <a:rPr lang="tr-TR" sz="1200" b="1" i="0">
                <a:solidFill>
                  <a:srgbClr val="FFFFFF"/>
                </a:solidFill>
                <a:latin typeface="Calibri"/>
              </a:rPr>
              <a:t>ORTA</a:t>
            </a:r>
          </a:p>
        </p:txBody>
      </p:sp>
      <p:sp>
        <p:nvSpPr>
          <p:cNvPr id="19" name="TextBox 18"/>
          <p:cNvSpPr txBox="1"/>
          <p:nvPr/>
        </p:nvSpPr>
        <p:spPr>
          <a:xfrm>
            <a:off x="4663440" y="2386584"/>
            <a:ext cx="1901952" cy="411480"/>
          </a:xfrm>
          <a:prstGeom prst="rect">
            <a:avLst/>
          </a:prstGeom>
          <a:noFill/>
        </p:spPr>
        <p:txBody>
          <a:bodyPr wrap="square" lIns="73152" tIns="45720" rIns="73152" bIns="45720" anchor="ctr"/>
          <a:lstStyle/>
          <a:p>
            <a:pPr algn="ctr"/>
            <a:r>
              <a:rPr lang="tr-TR" sz="1500" b="1" i="0">
                <a:solidFill>
                  <a:srgbClr val="16A34A"/>
                </a:solidFill>
                <a:latin typeface="Cambria"/>
              </a:rPr>
              <a:t>Memleketim</a:t>
            </a:r>
          </a:p>
        </p:txBody>
      </p:sp>
      <p:sp>
        <p:nvSpPr>
          <p:cNvPr id="20" name="TextBox 19"/>
          <p:cNvSpPr txBox="1"/>
          <p:nvPr/>
        </p:nvSpPr>
        <p:spPr>
          <a:xfrm>
            <a:off x="4709160" y="2788920"/>
            <a:ext cx="1810512" cy="1005840"/>
          </a:xfrm>
          <a:prstGeom prst="rect">
            <a:avLst/>
          </a:prstGeom>
          <a:noFill/>
        </p:spPr>
        <p:txBody>
          <a:bodyPr wrap="square" lIns="73152" tIns="45720" rIns="73152" bIns="45720" anchor="t"/>
          <a:lstStyle/>
          <a:p>
            <a:pPr algn="ctr"/>
            <a:r>
              <a:rPr lang="tr-TR" sz="1200" b="0" i="1">
                <a:solidFill>
                  <a:srgbClr val="1E293B"/>
                </a:solidFill>
                <a:latin typeface="Calibri"/>
              </a:rPr>
              <a:t>“Memleketim Trabzon. Uzungöl ile ünlüdür.”</a:t>
            </a:r>
          </a:p>
        </p:txBody>
      </p:sp>
      <p:sp>
        <p:nvSpPr>
          <p:cNvPr id="21" name="Rounded Rectangle 20"/>
          <p:cNvSpPr/>
          <p:nvPr/>
        </p:nvSpPr>
        <p:spPr>
          <a:xfrm>
            <a:off x="6720840" y="1463040"/>
            <a:ext cx="1993392" cy="2697480"/>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ounded Rectangle 21"/>
          <p:cNvSpPr/>
          <p:nvPr/>
        </p:nvSpPr>
        <p:spPr>
          <a:xfrm>
            <a:off x="6720840" y="1463040"/>
            <a:ext cx="1993392" cy="384048"/>
          </a:xfrm>
          <a:prstGeom prst="roundRect">
            <a:avLst>
              <a:gd name="adj" fmla="val 20000"/>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6720840" y="1463040"/>
            <a:ext cx="1993392" cy="384048"/>
          </a:xfrm>
          <a:prstGeom prst="rect">
            <a:avLst/>
          </a:prstGeom>
          <a:noFill/>
        </p:spPr>
        <p:txBody>
          <a:bodyPr wrap="square" lIns="73152" tIns="45720" rIns="73152" bIns="45720" anchor="ctr"/>
          <a:lstStyle/>
          <a:p>
            <a:pPr algn="ctr"/>
            <a:r>
              <a:rPr lang="tr-TR" sz="1200" b="1" i="0">
                <a:solidFill>
                  <a:srgbClr val="FFFFFF"/>
                </a:solidFill>
                <a:latin typeface="Calibri"/>
              </a:rPr>
              <a:t>İLERİ</a:t>
            </a:r>
          </a:p>
        </p:txBody>
      </p:sp>
      <p:sp>
        <p:nvSpPr>
          <p:cNvPr id="24" name="TextBox 23"/>
          <p:cNvSpPr txBox="1"/>
          <p:nvPr/>
        </p:nvSpPr>
        <p:spPr>
          <a:xfrm>
            <a:off x="6766560" y="1883664"/>
            <a:ext cx="1901952" cy="411480"/>
          </a:xfrm>
          <a:prstGeom prst="rect">
            <a:avLst/>
          </a:prstGeom>
          <a:noFill/>
        </p:spPr>
        <p:txBody>
          <a:bodyPr wrap="square" lIns="73152" tIns="45720" rIns="73152" bIns="45720" anchor="ctr"/>
          <a:lstStyle/>
          <a:p>
            <a:pPr algn="ctr"/>
            <a:r>
              <a:rPr lang="tr-TR" sz="1500" b="1" i="0">
                <a:solidFill>
                  <a:srgbClr val="F97316"/>
                </a:solidFill>
                <a:latin typeface="Cambria"/>
              </a:rPr>
              <a:t>Türkiye ve dünya</a:t>
            </a:r>
          </a:p>
        </p:txBody>
      </p:sp>
      <p:sp>
        <p:nvSpPr>
          <p:cNvPr id="25" name="TextBox 24"/>
          <p:cNvSpPr txBox="1"/>
          <p:nvPr/>
        </p:nvSpPr>
        <p:spPr>
          <a:xfrm>
            <a:off x="6812280" y="2286000"/>
            <a:ext cx="1810512" cy="1005840"/>
          </a:xfrm>
          <a:prstGeom prst="rect">
            <a:avLst/>
          </a:prstGeom>
          <a:noFill/>
        </p:spPr>
        <p:txBody>
          <a:bodyPr wrap="square" lIns="73152" tIns="45720" rIns="73152" bIns="45720" anchor="t"/>
          <a:lstStyle/>
          <a:p>
            <a:pPr algn="ctr"/>
            <a:r>
              <a:rPr lang="tr-TR" sz="1200" b="0" i="1">
                <a:solidFill>
                  <a:srgbClr val="1E293B"/>
                </a:solidFill>
                <a:latin typeface="Calibri"/>
              </a:rPr>
              <a:t>“Türkiye, iki kıta arasında bulunduğu için bir köprüdür.”</a:t>
            </a:r>
          </a:p>
        </p:txBody>
      </p:sp>
      <p:sp>
        <p:nvSpPr>
          <p:cNvPr id="26" name="TextBox 25"/>
          <p:cNvSpPr txBox="1"/>
          <p:nvPr/>
        </p:nvSpPr>
        <p:spPr>
          <a:xfrm>
            <a:off x="457200" y="4343400"/>
            <a:ext cx="8229600" cy="457200"/>
          </a:xfrm>
          <a:prstGeom prst="rect">
            <a:avLst/>
          </a:prstGeom>
          <a:noFill/>
        </p:spPr>
        <p:txBody>
          <a:bodyPr wrap="square" lIns="73152" tIns="45720" rIns="73152" bIns="45720" anchor="ctr"/>
          <a:lstStyle/>
          <a:p>
            <a:pPr algn="ctr"/>
            <a:r>
              <a:rPr lang="tr-TR" sz="1800" b="1" i="0">
                <a:solidFill>
                  <a:srgbClr val="F97316"/>
                </a:solidFill>
                <a:latin typeface="Calibri"/>
              </a:rPr>
              <a:t>Bugünkü soru: </a:t>
            </a:r>
            <a:r>
              <a:rPr lang="tr-TR" sz="1800" b="1" i="0">
                <a:solidFill>
                  <a:srgbClr val="1A2E5A"/>
                </a:solidFill>
                <a:latin typeface="Calibri"/>
              </a:rPr>
              <a:t>Türkiye’yi dünyaya nasıl tanıtırız?</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0"/>
            <a:ext cx="9144000" cy="65836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365760" y="0"/>
            <a:ext cx="6583680" cy="658368"/>
          </a:xfrm>
          <a:prstGeom prst="rect">
            <a:avLst/>
          </a:prstGeom>
          <a:noFill/>
        </p:spPr>
        <p:txBody>
          <a:bodyPr wrap="square" lIns="435102" tIns="45720" rIns="73152" bIns="45720" anchor="ctr"/>
          <a:lstStyle/>
          <a:p>
            <a:pPr algn="l"/>
            <a:r>
              <a:rPr lang="tr-TR" sz="1900" b="1" i="0">
                <a:solidFill>
                  <a:srgbClr val="FFFFFF"/>
                </a:solidFill>
                <a:latin typeface="Cambria"/>
              </a:rPr>
              <a:t>TÜRKİYE’NİN DÜNYADAKİ KONUMU</a:t>
            </a:r>
          </a:p>
        </p:txBody>
      </p:sp>
      <p:pic>
        <p:nvPicPr>
          <p:cNvPr id="29" name="Picture 28" descr="1f9ed.png"/>
          <p:cNvPicPr>
            <a:picLocks noChangeAspect="1"/>
          </p:cNvPicPr>
          <p:nvPr/>
        </p:nvPicPr>
        <p:blipFill>
          <a:blip r:embed="rId3"/>
          <a:stretch>
            <a:fillRect/>
          </a:stretch>
        </p:blipFill>
        <p:spPr>
          <a:xfrm>
            <a:off x="438912" y="190436"/>
            <a:ext cx="277495" cy="277495"/>
          </a:xfrm>
          <a:prstGeom prst="rect">
            <a:avLst/>
          </a:prstGeom>
        </p:spPr>
      </p:pic>
      <p:sp>
        <p:nvSpPr>
          <p:cNvPr id="7" name="Rounded Rectangle 6"/>
          <p:cNvSpPr/>
          <p:nvPr/>
        </p:nvSpPr>
        <p:spPr>
          <a:xfrm>
            <a:off x="411480" y="841248"/>
            <a:ext cx="4069080" cy="1280160"/>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ectangle 7"/>
          <p:cNvSpPr/>
          <p:nvPr/>
        </p:nvSpPr>
        <p:spPr>
          <a:xfrm>
            <a:off x="411480" y="841248"/>
            <a:ext cx="82296" cy="128016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0" name="Picture 29" descr="1f30f.png"/>
          <p:cNvPicPr>
            <a:picLocks noChangeAspect="1"/>
          </p:cNvPicPr>
          <p:nvPr/>
        </p:nvPicPr>
        <p:blipFill>
          <a:blip r:embed="rId4"/>
          <a:stretch>
            <a:fillRect/>
          </a:stretch>
        </p:blipFill>
        <p:spPr>
          <a:xfrm>
            <a:off x="662940" y="1019556"/>
            <a:ext cx="365760" cy="365760"/>
          </a:xfrm>
          <a:prstGeom prst="rect">
            <a:avLst/>
          </a:prstGeom>
        </p:spPr>
      </p:pic>
      <p:sp>
        <p:nvSpPr>
          <p:cNvPr id="10" name="TextBox 9"/>
          <p:cNvSpPr txBox="1"/>
          <p:nvPr/>
        </p:nvSpPr>
        <p:spPr>
          <a:xfrm>
            <a:off x="1188720" y="950976"/>
            <a:ext cx="3200400" cy="502920"/>
          </a:xfrm>
          <a:prstGeom prst="rect">
            <a:avLst/>
          </a:prstGeom>
          <a:noFill/>
        </p:spPr>
        <p:txBody>
          <a:bodyPr wrap="square" lIns="73152" tIns="45720" rIns="73152" bIns="45720" anchor="ctr"/>
          <a:lstStyle/>
          <a:p>
            <a:pPr algn="l"/>
            <a:r>
              <a:rPr lang="tr-TR" sz="1700" b="1" i="0">
                <a:solidFill>
                  <a:srgbClr val="2563EB"/>
                </a:solidFill>
                <a:latin typeface="Cambria"/>
              </a:rPr>
              <a:t>İki kıtada</a:t>
            </a:r>
          </a:p>
        </p:txBody>
      </p:sp>
      <p:sp>
        <p:nvSpPr>
          <p:cNvPr id="11" name="TextBox 10"/>
          <p:cNvSpPr txBox="1"/>
          <p:nvPr/>
        </p:nvSpPr>
        <p:spPr>
          <a:xfrm>
            <a:off x="640080" y="1463040"/>
            <a:ext cx="3749040" cy="640080"/>
          </a:xfrm>
          <a:prstGeom prst="rect">
            <a:avLst/>
          </a:prstGeom>
          <a:noFill/>
        </p:spPr>
        <p:txBody>
          <a:bodyPr wrap="square" lIns="73152" tIns="45720" rIns="73152" bIns="45720" anchor="t"/>
          <a:lstStyle/>
          <a:p>
            <a:pPr algn="l"/>
            <a:r>
              <a:rPr lang="tr-TR" sz="1300" b="0" i="0">
                <a:solidFill>
                  <a:srgbClr val="1E293B"/>
                </a:solidFill>
                <a:latin typeface="Calibri"/>
              </a:rPr>
              <a:t>Topraklarının yaklaşık %97’si Asya’da (Anadolu), %3’ü Avrupa’dadır (Trakya).</a:t>
            </a:r>
          </a:p>
        </p:txBody>
      </p:sp>
      <p:sp>
        <p:nvSpPr>
          <p:cNvPr id="12" name="Rounded Rectangle 11"/>
          <p:cNvSpPr/>
          <p:nvPr/>
        </p:nvSpPr>
        <p:spPr>
          <a:xfrm>
            <a:off x="4617720" y="841248"/>
            <a:ext cx="4069080" cy="1280160"/>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4617720" y="841248"/>
            <a:ext cx="82296" cy="128016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1" name="Picture 30" descr="1f30a.png"/>
          <p:cNvPicPr>
            <a:picLocks noChangeAspect="1"/>
          </p:cNvPicPr>
          <p:nvPr/>
        </p:nvPicPr>
        <p:blipFill>
          <a:blip r:embed="rId5"/>
          <a:stretch>
            <a:fillRect/>
          </a:stretch>
        </p:blipFill>
        <p:spPr>
          <a:xfrm>
            <a:off x="4869180" y="1019556"/>
            <a:ext cx="365760" cy="365760"/>
          </a:xfrm>
          <a:prstGeom prst="rect">
            <a:avLst/>
          </a:prstGeom>
        </p:spPr>
      </p:pic>
      <p:sp>
        <p:nvSpPr>
          <p:cNvPr id="15" name="TextBox 14"/>
          <p:cNvSpPr txBox="1"/>
          <p:nvPr/>
        </p:nvSpPr>
        <p:spPr>
          <a:xfrm>
            <a:off x="5394960" y="950976"/>
            <a:ext cx="3200400" cy="502920"/>
          </a:xfrm>
          <a:prstGeom prst="rect">
            <a:avLst/>
          </a:prstGeom>
          <a:noFill/>
        </p:spPr>
        <p:txBody>
          <a:bodyPr wrap="square" lIns="73152" tIns="45720" rIns="73152" bIns="45720" anchor="ctr"/>
          <a:lstStyle/>
          <a:p>
            <a:pPr algn="l"/>
            <a:r>
              <a:rPr lang="tr-TR" sz="1700" b="1" i="0">
                <a:solidFill>
                  <a:srgbClr val="0D9488"/>
                </a:solidFill>
                <a:latin typeface="Cambria"/>
              </a:rPr>
              <a:t>Üç tarafı deniz</a:t>
            </a:r>
          </a:p>
        </p:txBody>
      </p:sp>
      <p:sp>
        <p:nvSpPr>
          <p:cNvPr id="16" name="TextBox 15"/>
          <p:cNvSpPr txBox="1"/>
          <p:nvPr/>
        </p:nvSpPr>
        <p:spPr>
          <a:xfrm>
            <a:off x="4846320" y="1463040"/>
            <a:ext cx="3749040" cy="640080"/>
          </a:xfrm>
          <a:prstGeom prst="rect">
            <a:avLst/>
          </a:prstGeom>
          <a:noFill/>
        </p:spPr>
        <p:txBody>
          <a:bodyPr wrap="square" lIns="73152" tIns="45720" rIns="73152" bIns="45720" anchor="t"/>
          <a:lstStyle/>
          <a:p>
            <a:pPr algn="l"/>
            <a:r>
              <a:rPr lang="tr-TR" sz="1300" b="0" i="0">
                <a:solidFill>
                  <a:srgbClr val="1E293B"/>
                </a:solidFill>
                <a:latin typeface="Calibri"/>
              </a:rPr>
              <a:t>Karadeniz, Ege ve Akdeniz ile çevrilidir. Marmara bir iç denizdir.</a:t>
            </a:r>
          </a:p>
        </p:txBody>
      </p:sp>
      <p:sp>
        <p:nvSpPr>
          <p:cNvPr id="17" name="Rounded Rectangle 16"/>
          <p:cNvSpPr/>
          <p:nvPr/>
        </p:nvSpPr>
        <p:spPr>
          <a:xfrm>
            <a:off x="411480" y="2258568"/>
            <a:ext cx="4069080" cy="1280160"/>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411480" y="2258568"/>
            <a:ext cx="82296"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2" name="Picture 31" descr="2693.png"/>
          <p:cNvPicPr>
            <a:picLocks noChangeAspect="1"/>
          </p:cNvPicPr>
          <p:nvPr/>
        </p:nvPicPr>
        <p:blipFill>
          <a:blip r:embed="rId6"/>
          <a:stretch>
            <a:fillRect/>
          </a:stretch>
        </p:blipFill>
        <p:spPr>
          <a:xfrm>
            <a:off x="662940" y="2436876"/>
            <a:ext cx="365760" cy="365760"/>
          </a:xfrm>
          <a:prstGeom prst="rect">
            <a:avLst/>
          </a:prstGeom>
        </p:spPr>
      </p:pic>
      <p:sp>
        <p:nvSpPr>
          <p:cNvPr id="20" name="TextBox 19"/>
          <p:cNvSpPr txBox="1"/>
          <p:nvPr/>
        </p:nvSpPr>
        <p:spPr>
          <a:xfrm>
            <a:off x="1188720" y="2368296"/>
            <a:ext cx="3200400" cy="502920"/>
          </a:xfrm>
          <a:prstGeom prst="rect">
            <a:avLst/>
          </a:prstGeom>
          <a:noFill/>
        </p:spPr>
        <p:txBody>
          <a:bodyPr wrap="square" lIns="73152" tIns="45720" rIns="73152" bIns="45720" anchor="ctr"/>
          <a:lstStyle/>
          <a:p>
            <a:pPr algn="l"/>
            <a:r>
              <a:rPr lang="tr-TR" sz="1700" b="1" i="0">
                <a:solidFill>
                  <a:srgbClr val="7C3AED"/>
                </a:solidFill>
                <a:latin typeface="Cambria"/>
              </a:rPr>
              <a:t>İki boğaz</a:t>
            </a:r>
          </a:p>
        </p:txBody>
      </p:sp>
      <p:sp>
        <p:nvSpPr>
          <p:cNvPr id="21" name="TextBox 20"/>
          <p:cNvSpPr txBox="1"/>
          <p:nvPr/>
        </p:nvSpPr>
        <p:spPr>
          <a:xfrm>
            <a:off x="640080" y="2880360"/>
            <a:ext cx="3749040" cy="640080"/>
          </a:xfrm>
          <a:prstGeom prst="rect">
            <a:avLst/>
          </a:prstGeom>
          <a:noFill/>
        </p:spPr>
        <p:txBody>
          <a:bodyPr wrap="square" lIns="73152" tIns="45720" rIns="73152" bIns="45720" anchor="t"/>
          <a:lstStyle/>
          <a:p>
            <a:pPr algn="l"/>
            <a:r>
              <a:rPr lang="tr-TR" sz="1300" b="0" i="0">
                <a:solidFill>
                  <a:srgbClr val="1E293B"/>
                </a:solidFill>
                <a:latin typeface="Calibri"/>
              </a:rPr>
              <a:t>İstanbul ve Çanakkale Boğazları Karadeniz’i Akdeniz’e bağlar.</a:t>
            </a:r>
          </a:p>
        </p:txBody>
      </p:sp>
      <p:sp>
        <p:nvSpPr>
          <p:cNvPr id="22" name="Rounded Rectangle 21"/>
          <p:cNvSpPr/>
          <p:nvPr/>
        </p:nvSpPr>
        <p:spPr>
          <a:xfrm>
            <a:off x="4617720" y="2258568"/>
            <a:ext cx="4069080" cy="1280160"/>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4617720" y="2258568"/>
            <a:ext cx="82296" cy="128016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3" name="Picture 32" descr="1f30d.png"/>
          <p:cNvPicPr>
            <a:picLocks noChangeAspect="1"/>
          </p:cNvPicPr>
          <p:nvPr/>
        </p:nvPicPr>
        <p:blipFill>
          <a:blip r:embed="rId7"/>
          <a:stretch>
            <a:fillRect/>
          </a:stretch>
        </p:blipFill>
        <p:spPr>
          <a:xfrm>
            <a:off x="4869180" y="2436876"/>
            <a:ext cx="365760" cy="365760"/>
          </a:xfrm>
          <a:prstGeom prst="rect">
            <a:avLst/>
          </a:prstGeom>
        </p:spPr>
      </p:pic>
      <p:sp>
        <p:nvSpPr>
          <p:cNvPr id="25" name="TextBox 24"/>
          <p:cNvSpPr txBox="1"/>
          <p:nvPr/>
        </p:nvSpPr>
        <p:spPr>
          <a:xfrm>
            <a:off x="5394960" y="2368296"/>
            <a:ext cx="3200400" cy="502920"/>
          </a:xfrm>
          <a:prstGeom prst="rect">
            <a:avLst/>
          </a:prstGeom>
          <a:noFill/>
        </p:spPr>
        <p:txBody>
          <a:bodyPr wrap="square" lIns="73152" tIns="45720" rIns="73152" bIns="45720" anchor="ctr"/>
          <a:lstStyle/>
          <a:p>
            <a:pPr algn="l"/>
            <a:r>
              <a:rPr lang="tr-TR" sz="1700" b="1" i="0">
                <a:solidFill>
                  <a:srgbClr val="F97316"/>
                </a:solidFill>
                <a:latin typeface="Cambria"/>
              </a:rPr>
              <a:t>Üç kıtaya yakın</a:t>
            </a:r>
          </a:p>
        </p:txBody>
      </p:sp>
      <p:sp>
        <p:nvSpPr>
          <p:cNvPr id="26" name="TextBox 25"/>
          <p:cNvSpPr txBox="1"/>
          <p:nvPr/>
        </p:nvSpPr>
        <p:spPr>
          <a:xfrm>
            <a:off x="4846320" y="2880360"/>
            <a:ext cx="3749040" cy="640080"/>
          </a:xfrm>
          <a:prstGeom prst="rect">
            <a:avLst/>
          </a:prstGeom>
          <a:noFill/>
        </p:spPr>
        <p:txBody>
          <a:bodyPr wrap="square" lIns="73152" tIns="45720" rIns="73152" bIns="45720" anchor="t"/>
          <a:lstStyle/>
          <a:p>
            <a:pPr algn="l"/>
            <a:r>
              <a:rPr lang="tr-TR" sz="1300" b="0" i="0">
                <a:solidFill>
                  <a:srgbClr val="1E293B"/>
                </a:solidFill>
                <a:latin typeface="Calibri"/>
              </a:rPr>
              <a:t>Asya, Avrupa ve Afrika arasında bir kavşaktadır.</a:t>
            </a:r>
          </a:p>
        </p:txBody>
      </p:sp>
      <p:sp>
        <p:nvSpPr>
          <p:cNvPr id="27" name="Rounded Rectangle 26"/>
          <p:cNvSpPr/>
          <p:nvPr/>
        </p:nvSpPr>
        <p:spPr>
          <a:xfrm>
            <a:off x="411480" y="3794760"/>
            <a:ext cx="8321040" cy="1024128"/>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594360" y="3794760"/>
            <a:ext cx="7955280" cy="1024128"/>
          </a:xfrm>
          <a:prstGeom prst="rect">
            <a:avLst/>
          </a:prstGeom>
          <a:noFill/>
        </p:spPr>
        <p:txBody>
          <a:bodyPr wrap="square" lIns="73152" tIns="45720" rIns="73152" bIns="45720" anchor="ctr"/>
          <a:lstStyle/>
          <a:p>
            <a:pPr algn="ctr">
              <a:lnSpc>
                <a:spcPct val="120000"/>
              </a:lnSpc>
            </a:pPr>
            <a:r>
              <a:rPr lang="tr-TR" sz="1500" b="1" i="0">
                <a:solidFill>
                  <a:srgbClr val="1E293B"/>
                </a:solidFill>
                <a:latin typeface="Calibri"/>
              </a:rPr>
              <a:t>Türkiye, </a:t>
            </a:r>
            <a:r>
              <a:rPr lang="tr-TR" sz="1500" b="1" i="0">
                <a:solidFill>
                  <a:srgbClr val="2563EB"/>
                </a:solidFill>
                <a:latin typeface="Calibri"/>
              </a:rPr>
              <a:t>iki kıta arasında bulunduğu için</a:t>
            </a:r>
            <a:r>
              <a:rPr lang="tr-TR" sz="1500" b="1" i="0">
                <a:solidFill>
                  <a:srgbClr val="1E293B"/>
                </a:solidFill>
                <a:latin typeface="Calibri"/>
              </a:rPr>
              <a:t> doğu ile batı arasında bir köprüdür.</a:t>
            </a:r>
          </a:p>
          <a:p>
            <a:pPr algn="ctr">
              <a:lnSpc>
                <a:spcPct val="120000"/>
              </a:lnSpc>
            </a:pPr>
            <a:r>
              <a:rPr lang="tr-TR" sz="1500" b="1" i="0">
                <a:solidFill>
                  <a:srgbClr val="F97316"/>
                </a:solidFill>
                <a:latin typeface="Calibri"/>
              </a:rPr>
              <a:t>Bu nedenle</a:t>
            </a:r>
            <a:r>
              <a:rPr lang="tr-TR" sz="1500" b="1" i="0">
                <a:solidFill>
                  <a:srgbClr val="1E293B"/>
                </a:solidFill>
                <a:latin typeface="Calibri"/>
              </a:rPr>
              <a:t> tarih boyunca birçok kültürün buluşma noktası olmuştur.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0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0"/>
            <a:ext cx="9144000" cy="658368"/>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365760" y="0"/>
            <a:ext cx="6583680" cy="658368"/>
          </a:xfrm>
          <a:prstGeom prst="rect">
            <a:avLst/>
          </a:prstGeom>
          <a:noFill/>
        </p:spPr>
        <p:txBody>
          <a:bodyPr wrap="square" lIns="435102" tIns="45720" rIns="73152" bIns="45720" anchor="ctr"/>
          <a:lstStyle/>
          <a:p>
            <a:pPr algn="l"/>
            <a:r>
              <a:rPr lang="tr-TR" sz="1900" b="1" i="0">
                <a:solidFill>
                  <a:srgbClr val="FFFFFF"/>
                </a:solidFill>
                <a:latin typeface="Cambria"/>
              </a:rPr>
              <a:t>KÖPRÜLER, TÜNELLER VE MAVİ VATAN</a:t>
            </a:r>
          </a:p>
        </p:txBody>
      </p:sp>
      <p:pic>
        <p:nvPicPr>
          <p:cNvPr id="30" name="Picture 29" descr="1f309.png"/>
          <p:cNvPicPr>
            <a:picLocks noChangeAspect="1"/>
          </p:cNvPicPr>
          <p:nvPr/>
        </p:nvPicPr>
        <p:blipFill>
          <a:blip r:embed="rId3"/>
          <a:stretch>
            <a:fillRect/>
          </a:stretch>
        </p:blipFill>
        <p:spPr>
          <a:xfrm>
            <a:off x="438912" y="190436"/>
            <a:ext cx="277495" cy="277495"/>
          </a:xfrm>
          <a:prstGeom prst="rect">
            <a:avLst/>
          </a:prstGeom>
        </p:spPr>
      </p:pic>
      <p:sp>
        <p:nvSpPr>
          <p:cNvPr id="7" name="Rounded Rectangle 6"/>
          <p:cNvSpPr/>
          <p:nvPr/>
        </p:nvSpPr>
        <p:spPr>
          <a:xfrm>
            <a:off x="411480" y="841248"/>
            <a:ext cx="1993392" cy="2377440"/>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ounded Rectangle 7"/>
          <p:cNvSpPr/>
          <p:nvPr/>
        </p:nvSpPr>
        <p:spPr>
          <a:xfrm>
            <a:off x="411480" y="841248"/>
            <a:ext cx="1993392" cy="420624"/>
          </a:xfrm>
          <a:prstGeom prst="roundRect">
            <a:avLst>
              <a:gd name="adj" fmla="val 20000"/>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411480" y="841248"/>
            <a:ext cx="1993392" cy="420624"/>
          </a:xfrm>
          <a:prstGeom prst="rect">
            <a:avLst/>
          </a:prstGeom>
          <a:noFill/>
        </p:spPr>
        <p:txBody>
          <a:bodyPr wrap="square" lIns="0" tIns="45720" rIns="0" bIns="45720" anchor="ctr"/>
          <a:lstStyle/>
          <a:p>
            <a:pPr algn="ctr"/>
            <a:r>
              <a:rPr lang="tr-TR" sz="1400" b="1" i="0">
                <a:solidFill>
                  <a:srgbClr val="FFFFFF"/>
                </a:solidFill>
                <a:latin typeface="Calibri"/>
              </a:rPr>
              <a:t>Kara yolu</a:t>
            </a:r>
          </a:p>
        </p:txBody>
      </p:sp>
      <p:pic>
        <p:nvPicPr>
          <p:cNvPr id="31" name="Picture 30" descr="1f6e3_fe0f.png"/>
          <p:cNvPicPr>
            <a:picLocks noChangeAspect="1"/>
          </p:cNvPicPr>
          <p:nvPr/>
        </p:nvPicPr>
        <p:blipFill>
          <a:blip r:embed="rId4"/>
          <a:stretch>
            <a:fillRect/>
          </a:stretch>
        </p:blipFill>
        <p:spPr>
          <a:xfrm>
            <a:off x="1194816" y="1386840"/>
            <a:ext cx="426720" cy="426720"/>
          </a:xfrm>
          <a:prstGeom prst="rect">
            <a:avLst/>
          </a:prstGeom>
        </p:spPr>
      </p:pic>
      <p:sp>
        <p:nvSpPr>
          <p:cNvPr id="11" name="TextBox 10"/>
          <p:cNvSpPr txBox="1"/>
          <p:nvPr/>
        </p:nvSpPr>
        <p:spPr>
          <a:xfrm>
            <a:off x="502920" y="1920240"/>
            <a:ext cx="1810512" cy="1234440"/>
          </a:xfrm>
          <a:prstGeom prst="rect">
            <a:avLst/>
          </a:prstGeom>
          <a:noFill/>
        </p:spPr>
        <p:txBody>
          <a:bodyPr wrap="square" lIns="73152" tIns="45720" rIns="73152" bIns="45720" anchor="t"/>
          <a:lstStyle/>
          <a:p>
            <a:pPr algn="ctr"/>
            <a:r>
              <a:rPr lang="tr-TR" sz="1250" b="0" i="0">
                <a:solidFill>
                  <a:srgbClr val="1E293B"/>
                </a:solidFill>
                <a:latin typeface="Calibri"/>
              </a:rPr>
              <a:t>1915 Çanakkale Köprüsü ve İstanbul Boğazı’ndaki üç köprü Asya ile Avrupa’yı bağlar.</a:t>
            </a:r>
          </a:p>
        </p:txBody>
      </p:sp>
      <p:sp>
        <p:nvSpPr>
          <p:cNvPr id="12" name="Rounded Rectangle 11"/>
          <p:cNvSpPr/>
          <p:nvPr/>
        </p:nvSpPr>
        <p:spPr>
          <a:xfrm>
            <a:off x="2514600" y="841248"/>
            <a:ext cx="1993392" cy="2377440"/>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ounded Rectangle 12"/>
          <p:cNvSpPr/>
          <p:nvPr/>
        </p:nvSpPr>
        <p:spPr>
          <a:xfrm>
            <a:off x="2514600" y="841248"/>
            <a:ext cx="1993392" cy="420624"/>
          </a:xfrm>
          <a:prstGeom prst="roundRect">
            <a:avLst>
              <a:gd name="adj" fmla="val 20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2514600" y="841248"/>
            <a:ext cx="1993392" cy="420624"/>
          </a:xfrm>
          <a:prstGeom prst="rect">
            <a:avLst/>
          </a:prstGeom>
          <a:noFill/>
        </p:spPr>
        <p:txBody>
          <a:bodyPr wrap="square" lIns="0" tIns="45720" rIns="0" bIns="45720" anchor="ctr"/>
          <a:lstStyle/>
          <a:p>
            <a:pPr algn="ctr"/>
            <a:r>
              <a:rPr lang="tr-TR" sz="1400" b="1" i="0">
                <a:solidFill>
                  <a:srgbClr val="FFFFFF"/>
                </a:solidFill>
                <a:latin typeface="Calibri"/>
              </a:rPr>
              <a:t>Demir yolu</a:t>
            </a:r>
          </a:p>
        </p:txBody>
      </p:sp>
      <p:pic>
        <p:nvPicPr>
          <p:cNvPr id="32" name="Picture 31" descr="1f686.png"/>
          <p:cNvPicPr>
            <a:picLocks noChangeAspect="1"/>
          </p:cNvPicPr>
          <p:nvPr/>
        </p:nvPicPr>
        <p:blipFill>
          <a:blip r:embed="rId5"/>
          <a:stretch>
            <a:fillRect/>
          </a:stretch>
        </p:blipFill>
        <p:spPr>
          <a:xfrm>
            <a:off x="3297936" y="1386840"/>
            <a:ext cx="426720" cy="426720"/>
          </a:xfrm>
          <a:prstGeom prst="rect">
            <a:avLst/>
          </a:prstGeom>
        </p:spPr>
      </p:pic>
      <p:sp>
        <p:nvSpPr>
          <p:cNvPr id="16" name="TextBox 15"/>
          <p:cNvSpPr txBox="1"/>
          <p:nvPr/>
        </p:nvSpPr>
        <p:spPr>
          <a:xfrm>
            <a:off x="2606040" y="1920240"/>
            <a:ext cx="1810512" cy="1234440"/>
          </a:xfrm>
          <a:prstGeom prst="rect">
            <a:avLst/>
          </a:prstGeom>
          <a:noFill/>
        </p:spPr>
        <p:txBody>
          <a:bodyPr wrap="square" lIns="73152" tIns="45720" rIns="73152" bIns="45720" anchor="t"/>
          <a:lstStyle/>
          <a:p>
            <a:pPr algn="ctr"/>
            <a:r>
              <a:rPr lang="tr-TR" sz="1250" b="0" i="0">
                <a:solidFill>
                  <a:srgbClr val="1E293B"/>
                </a:solidFill>
                <a:latin typeface="Calibri"/>
              </a:rPr>
              <a:t>Marmaray, İstanbul Boğazı’nın altından geçen demir yolu tünelidir.</a:t>
            </a:r>
          </a:p>
        </p:txBody>
      </p:sp>
      <p:sp>
        <p:nvSpPr>
          <p:cNvPr id="17" name="Rounded Rectangle 16"/>
          <p:cNvSpPr/>
          <p:nvPr/>
        </p:nvSpPr>
        <p:spPr>
          <a:xfrm>
            <a:off x="4617720" y="841248"/>
            <a:ext cx="1993392" cy="2377440"/>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ounded Rectangle 17"/>
          <p:cNvSpPr/>
          <p:nvPr/>
        </p:nvSpPr>
        <p:spPr>
          <a:xfrm>
            <a:off x="4617720" y="841248"/>
            <a:ext cx="1993392" cy="420624"/>
          </a:xfrm>
          <a:prstGeom prst="roundRect">
            <a:avLst>
              <a:gd name="adj" fmla="val 2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4617720" y="841248"/>
            <a:ext cx="1993392" cy="420624"/>
          </a:xfrm>
          <a:prstGeom prst="rect">
            <a:avLst/>
          </a:prstGeom>
          <a:noFill/>
        </p:spPr>
        <p:txBody>
          <a:bodyPr wrap="square" lIns="0" tIns="45720" rIns="0" bIns="45720" anchor="ctr"/>
          <a:lstStyle/>
          <a:p>
            <a:pPr algn="ctr"/>
            <a:r>
              <a:rPr lang="tr-TR" sz="1400" b="1" i="0">
                <a:solidFill>
                  <a:srgbClr val="FFFFFF"/>
                </a:solidFill>
                <a:latin typeface="Calibri"/>
              </a:rPr>
              <a:t>Deniz yolu</a:t>
            </a:r>
          </a:p>
        </p:txBody>
      </p:sp>
      <p:pic>
        <p:nvPicPr>
          <p:cNvPr id="33" name="Picture 32" descr="1f6a2.png"/>
          <p:cNvPicPr>
            <a:picLocks noChangeAspect="1"/>
          </p:cNvPicPr>
          <p:nvPr/>
        </p:nvPicPr>
        <p:blipFill>
          <a:blip r:embed="rId6"/>
          <a:stretch>
            <a:fillRect/>
          </a:stretch>
        </p:blipFill>
        <p:spPr>
          <a:xfrm>
            <a:off x="5401056" y="1386840"/>
            <a:ext cx="426720" cy="426720"/>
          </a:xfrm>
          <a:prstGeom prst="rect">
            <a:avLst/>
          </a:prstGeom>
        </p:spPr>
      </p:pic>
      <p:sp>
        <p:nvSpPr>
          <p:cNvPr id="21" name="TextBox 20"/>
          <p:cNvSpPr txBox="1"/>
          <p:nvPr/>
        </p:nvSpPr>
        <p:spPr>
          <a:xfrm>
            <a:off x="4709160" y="1920240"/>
            <a:ext cx="1810512" cy="1234440"/>
          </a:xfrm>
          <a:prstGeom prst="rect">
            <a:avLst/>
          </a:prstGeom>
          <a:noFill/>
        </p:spPr>
        <p:txBody>
          <a:bodyPr wrap="square" lIns="73152" tIns="45720" rIns="73152" bIns="45720" anchor="t"/>
          <a:lstStyle/>
          <a:p>
            <a:pPr algn="ctr"/>
            <a:r>
              <a:rPr lang="tr-TR" sz="1250" b="0" i="0">
                <a:solidFill>
                  <a:srgbClr val="1E293B"/>
                </a:solidFill>
                <a:latin typeface="Calibri"/>
              </a:rPr>
              <a:t>Boğazlar, Karadeniz’den Akdeniz’e giden gemilerin yoludur.</a:t>
            </a:r>
          </a:p>
        </p:txBody>
      </p:sp>
      <p:sp>
        <p:nvSpPr>
          <p:cNvPr id="22" name="Rounded Rectangle 21"/>
          <p:cNvSpPr/>
          <p:nvPr/>
        </p:nvSpPr>
        <p:spPr>
          <a:xfrm>
            <a:off x="6720840" y="841248"/>
            <a:ext cx="1993392" cy="2377440"/>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ounded Rectangle 22"/>
          <p:cNvSpPr/>
          <p:nvPr/>
        </p:nvSpPr>
        <p:spPr>
          <a:xfrm>
            <a:off x="6720840" y="841248"/>
            <a:ext cx="1993392" cy="420624"/>
          </a:xfrm>
          <a:prstGeom prst="roundRect">
            <a:avLst>
              <a:gd name="adj" fmla="val 2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720840" y="841248"/>
            <a:ext cx="1993392" cy="420624"/>
          </a:xfrm>
          <a:prstGeom prst="rect">
            <a:avLst/>
          </a:prstGeom>
          <a:noFill/>
        </p:spPr>
        <p:txBody>
          <a:bodyPr wrap="square" lIns="0" tIns="45720" rIns="0" bIns="45720" anchor="ctr"/>
          <a:lstStyle/>
          <a:p>
            <a:pPr algn="ctr"/>
            <a:r>
              <a:rPr lang="tr-TR" sz="1400" b="1" i="0">
                <a:solidFill>
                  <a:srgbClr val="FFFFFF"/>
                </a:solidFill>
                <a:latin typeface="Calibri"/>
              </a:rPr>
              <a:t>Hava yolu</a:t>
            </a:r>
          </a:p>
        </p:txBody>
      </p:sp>
      <p:pic>
        <p:nvPicPr>
          <p:cNvPr id="34" name="Picture 33" descr="2708_fe0f.png"/>
          <p:cNvPicPr>
            <a:picLocks noChangeAspect="1"/>
          </p:cNvPicPr>
          <p:nvPr/>
        </p:nvPicPr>
        <p:blipFill>
          <a:blip r:embed="rId7"/>
          <a:stretch>
            <a:fillRect/>
          </a:stretch>
        </p:blipFill>
        <p:spPr>
          <a:xfrm>
            <a:off x="7504176" y="1386840"/>
            <a:ext cx="426720" cy="426720"/>
          </a:xfrm>
          <a:prstGeom prst="rect">
            <a:avLst/>
          </a:prstGeom>
        </p:spPr>
      </p:pic>
      <p:sp>
        <p:nvSpPr>
          <p:cNvPr id="26" name="TextBox 25"/>
          <p:cNvSpPr txBox="1"/>
          <p:nvPr/>
        </p:nvSpPr>
        <p:spPr>
          <a:xfrm>
            <a:off x="6812280" y="1920240"/>
            <a:ext cx="1810512" cy="1234440"/>
          </a:xfrm>
          <a:prstGeom prst="rect">
            <a:avLst/>
          </a:prstGeom>
          <a:noFill/>
        </p:spPr>
        <p:txBody>
          <a:bodyPr wrap="square" lIns="73152" tIns="45720" rIns="73152" bIns="45720" anchor="t"/>
          <a:lstStyle/>
          <a:p>
            <a:pPr algn="ctr"/>
            <a:r>
              <a:rPr lang="tr-TR" sz="1250" b="0" i="0">
                <a:solidFill>
                  <a:srgbClr val="1E293B"/>
                </a:solidFill>
                <a:latin typeface="Calibri"/>
              </a:rPr>
              <a:t>İstanbul, Avrupa, Asya ve Afrika arasında önemli bir uçuş merkezidir.</a:t>
            </a:r>
          </a:p>
        </p:txBody>
      </p:sp>
      <p:sp>
        <p:nvSpPr>
          <p:cNvPr id="27" name="Rounded Rectangle 26"/>
          <p:cNvSpPr/>
          <p:nvPr/>
        </p:nvSpPr>
        <p:spPr>
          <a:xfrm>
            <a:off x="411480" y="3364992"/>
            <a:ext cx="8321040" cy="1463040"/>
          </a:xfrm>
          <a:prstGeom prst="roundRect">
            <a:avLst>
              <a:gd name="adj" fmla="val 12000"/>
            </a:avLst>
          </a:prstGeom>
          <a:solidFill>
            <a:srgbClr val="DBEAFE"/>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594360" y="3401568"/>
            <a:ext cx="7955280" cy="411480"/>
          </a:xfrm>
          <a:prstGeom prst="rect">
            <a:avLst/>
          </a:prstGeom>
          <a:noFill/>
        </p:spPr>
        <p:txBody>
          <a:bodyPr wrap="square" lIns="397001" tIns="45720" rIns="73152" bIns="45720" anchor="ctr"/>
          <a:lstStyle/>
          <a:p>
            <a:pPr algn="l"/>
            <a:r>
              <a:rPr lang="tr-TR" sz="1700" b="1" i="0">
                <a:solidFill>
                  <a:srgbClr val="2563EB"/>
                </a:solidFill>
                <a:latin typeface="Cambria"/>
              </a:rPr>
              <a:t>Mavi Vatan</a:t>
            </a:r>
          </a:p>
        </p:txBody>
      </p:sp>
      <p:pic>
        <p:nvPicPr>
          <p:cNvPr id="35" name="Picture 34" descr="1f30a.png"/>
          <p:cNvPicPr>
            <a:picLocks noChangeAspect="1"/>
          </p:cNvPicPr>
          <p:nvPr/>
        </p:nvPicPr>
        <p:blipFill>
          <a:blip r:embed="rId8"/>
          <a:stretch>
            <a:fillRect/>
          </a:stretch>
        </p:blipFill>
        <p:spPr>
          <a:xfrm>
            <a:off x="667512" y="3483166"/>
            <a:ext cx="248284" cy="248284"/>
          </a:xfrm>
          <a:prstGeom prst="rect">
            <a:avLst/>
          </a:prstGeom>
        </p:spPr>
      </p:pic>
      <p:sp>
        <p:nvSpPr>
          <p:cNvPr id="29" name="TextBox 28"/>
          <p:cNvSpPr txBox="1"/>
          <p:nvPr/>
        </p:nvSpPr>
        <p:spPr>
          <a:xfrm>
            <a:off x="594360" y="3794760"/>
            <a:ext cx="7955280" cy="987552"/>
          </a:xfrm>
          <a:prstGeom prst="rect">
            <a:avLst/>
          </a:prstGeom>
          <a:noFill/>
        </p:spPr>
        <p:txBody>
          <a:bodyPr wrap="square" lIns="73152" tIns="45720" rIns="73152" bIns="45720" anchor="ctr"/>
          <a:lstStyle/>
          <a:p>
            <a:pPr algn="l">
              <a:lnSpc>
                <a:spcPct val="120000"/>
              </a:lnSpc>
            </a:pPr>
            <a:r>
              <a:rPr lang="tr-TR" sz="1400" b="1" i="0">
                <a:solidFill>
                  <a:srgbClr val="1E293B"/>
                </a:solidFill>
                <a:latin typeface="Calibri"/>
              </a:rPr>
              <a:t>Türkiye’nin Karadeniz, Ege ve Akdeniz’deki </a:t>
            </a:r>
            <a:r>
              <a:rPr lang="tr-TR" sz="1400" b="1" i="0">
                <a:solidFill>
                  <a:srgbClr val="2563EB"/>
                </a:solidFill>
                <a:latin typeface="Calibri"/>
              </a:rPr>
              <a:t>deniz yetki alanlarının</a:t>
            </a:r>
            <a:r>
              <a:rPr lang="tr-TR" sz="1400" b="1" i="0">
                <a:solidFill>
                  <a:srgbClr val="1E293B"/>
                </a:solidFill>
                <a:latin typeface="Calibri"/>
              </a:rPr>
              <a:t> tümüne “Mavi Vatan” denir.</a:t>
            </a:r>
          </a:p>
          <a:p>
            <a:pPr algn="l">
              <a:lnSpc>
                <a:spcPct val="120000"/>
              </a:lnSpc>
            </a:pPr>
            <a:r>
              <a:rPr lang="tr-TR" sz="1400" b="1" i="0">
                <a:solidFill>
                  <a:srgbClr val="1E293B"/>
                </a:solidFill>
                <a:latin typeface="Calibri"/>
              </a:rPr>
              <a:t>Denizler </a:t>
            </a:r>
            <a:r>
              <a:rPr lang="tr-TR" sz="1400" b="1" i="0">
                <a:solidFill>
                  <a:srgbClr val="F97316"/>
                </a:solidFill>
                <a:latin typeface="Calibri"/>
              </a:rPr>
              <a:t>sayesinde</a:t>
            </a:r>
            <a:r>
              <a:rPr lang="tr-TR" sz="1400" b="1" i="0">
                <a:solidFill>
                  <a:srgbClr val="1E293B"/>
                </a:solidFill>
                <a:latin typeface="Calibri"/>
              </a:rPr>
              <a:t> Türkiye hem ticaretin hem de turizmin önemli bir merkezidir.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24548"/>
            <a:ext cx="9144000" cy="6583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365760" y="0"/>
            <a:ext cx="6583680" cy="658368"/>
          </a:xfrm>
          <a:prstGeom prst="rect">
            <a:avLst/>
          </a:prstGeom>
          <a:noFill/>
        </p:spPr>
        <p:txBody>
          <a:bodyPr wrap="square" lIns="435102" tIns="45720" rIns="73152" bIns="45720" anchor="ctr"/>
          <a:lstStyle/>
          <a:p>
            <a:pPr algn="l"/>
            <a:r>
              <a:rPr lang="tr-TR" sz="1900" b="1" i="0">
                <a:solidFill>
                  <a:srgbClr val="FFFFFF"/>
                </a:solidFill>
                <a:latin typeface="Cambria"/>
              </a:rPr>
              <a:t>TÜRK DÜNYASI: ÜLKE – MİLLET – DİL</a:t>
            </a:r>
          </a:p>
        </p:txBody>
      </p:sp>
      <p:pic>
        <p:nvPicPr>
          <p:cNvPr id="51" name="Picture 50" descr="1f91d.png"/>
          <p:cNvPicPr>
            <a:picLocks noChangeAspect="1"/>
          </p:cNvPicPr>
          <p:nvPr/>
        </p:nvPicPr>
        <p:blipFill>
          <a:blip r:embed="rId3"/>
          <a:stretch>
            <a:fillRect/>
          </a:stretch>
        </p:blipFill>
        <p:spPr>
          <a:xfrm>
            <a:off x="438912" y="190436"/>
            <a:ext cx="277495" cy="277495"/>
          </a:xfrm>
          <a:prstGeom prst="rect">
            <a:avLst/>
          </a:prstGeom>
        </p:spPr>
      </p:pic>
      <p:sp>
        <p:nvSpPr>
          <p:cNvPr id="7" name="Rounded Rectangle 6"/>
          <p:cNvSpPr/>
          <p:nvPr/>
        </p:nvSpPr>
        <p:spPr>
          <a:xfrm>
            <a:off x="411480" y="804672"/>
            <a:ext cx="8321040" cy="438912"/>
          </a:xfrm>
          <a:prstGeom prst="roundRect">
            <a:avLst>
              <a:gd name="adj" fmla="val 15000"/>
            </a:avLst>
          </a:prstGeom>
          <a:solidFill>
            <a:srgbClr val="1A2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411480" y="804672"/>
            <a:ext cx="1600200" cy="438912"/>
          </a:xfrm>
          <a:prstGeom prst="rect">
            <a:avLst/>
          </a:prstGeom>
          <a:noFill/>
        </p:spPr>
        <p:txBody>
          <a:bodyPr wrap="square" lIns="73152" tIns="45720" rIns="73152" bIns="45720" anchor="ctr"/>
          <a:lstStyle/>
          <a:p>
            <a:pPr algn="ctr"/>
            <a:r>
              <a:rPr lang="tr-TR" sz="1400" b="1" i="0">
                <a:solidFill>
                  <a:srgbClr val="FBBF24"/>
                </a:solidFill>
                <a:latin typeface="Calibri"/>
              </a:rPr>
              <a:t>Ülke</a:t>
            </a:r>
          </a:p>
        </p:txBody>
      </p:sp>
      <p:sp>
        <p:nvSpPr>
          <p:cNvPr id="9" name="TextBox 8"/>
          <p:cNvSpPr txBox="1"/>
          <p:nvPr/>
        </p:nvSpPr>
        <p:spPr>
          <a:xfrm>
            <a:off x="2011680" y="804672"/>
            <a:ext cx="1508760" cy="438912"/>
          </a:xfrm>
          <a:prstGeom prst="rect">
            <a:avLst/>
          </a:prstGeom>
          <a:noFill/>
        </p:spPr>
        <p:txBody>
          <a:bodyPr wrap="square" lIns="73152" tIns="45720" rIns="73152" bIns="45720" anchor="ctr"/>
          <a:lstStyle/>
          <a:p>
            <a:pPr algn="ctr"/>
            <a:r>
              <a:rPr lang="tr-TR" sz="1400" b="1" i="0">
                <a:solidFill>
                  <a:srgbClr val="FBBF24"/>
                </a:solidFill>
                <a:latin typeface="Calibri"/>
              </a:rPr>
              <a:t>Millet</a:t>
            </a:r>
          </a:p>
        </p:txBody>
      </p:sp>
      <p:sp>
        <p:nvSpPr>
          <p:cNvPr id="10" name="TextBox 9"/>
          <p:cNvSpPr txBox="1"/>
          <p:nvPr/>
        </p:nvSpPr>
        <p:spPr>
          <a:xfrm>
            <a:off x="3520440" y="804672"/>
            <a:ext cx="2240280" cy="438912"/>
          </a:xfrm>
          <a:prstGeom prst="rect">
            <a:avLst/>
          </a:prstGeom>
          <a:noFill/>
        </p:spPr>
        <p:txBody>
          <a:bodyPr wrap="square" lIns="73152" tIns="45720" rIns="73152" bIns="45720" anchor="ctr"/>
          <a:lstStyle/>
          <a:p>
            <a:pPr algn="ctr"/>
            <a:r>
              <a:rPr lang="tr-TR" sz="1400" b="1" i="0">
                <a:solidFill>
                  <a:srgbClr val="FBBF24"/>
                </a:solidFill>
                <a:latin typeface="Calibri"/>
              </a:rPr>
              <a:t>Dil</a:t>
            </a:r>
          </a:p>
        </p:txBody>
      </p:sp>
      <p:sp>
        <p:nvSpPr>
          <p:cNvPr id="11" name="TextBox 10"/>
          <p:cNvSpPr txBox="1"/>
          <p:nvPr/>
        </p:nvSpPr>
        <p:spPr>
          <a:xfrm>
            <a:off x="5760720" y="804672"/>
            <a:ext cx="1508760" cy="438912"/>
          </a:xfrm>
          <a:prstGeom prst="rect">
            <a:avLst/>
          </a:prstGeom>
          <a:noFill/>
        </p:spPr>
        <p:txBody>
          <a:bodyPr wrap="square" lIns="73152" tIns="45720" rIns="73152" bIns="45720" anchor="ctr"/>
          <a:lstStyle/>
          <a:p>
            <a:pPr algn="ctr"/>
            <a:r>
              <a:rPr lang="tr-TR" sz="1400" b="1" i="0">
                <a:solidFill>
                  <a:srgbClr val="FBBF24"/>
                </a:solidFill>
                <a:latin typeface="Calibri"/>
              </a:rPr>
              <a:t>Başkent</a:t>
            </a:r>
          </a:p>
        </p:txBody>
      </p:sp>
      <p:sp>
        <p:nvSpPr>
          <p:cNvPr id="12" name="TextBox 11"/>
          <p:cNvSpPr txBox="1"/>
          <p:nvPr/>
        </p:nvSpPr>
        <p:spPr>
          <a:xfrm>
            <a:off x="7269480" y="804672"/>
            <a:ext cx="1463040" cy="438912"/>
          </a:xfrm>
          <a:prstGeom prst="rect">
            <a:avLst/>
          </a:prstGeom>
          <a:noFill/>
        </p:spPr>
        <p:txBody>
          <a:bodyPr wrap="square" lIns="73152" tIns="45720" rIns="73152" bIns="45720" anchor="ctr"/>
          <a:lstStyle/>
          <a:p>
            <a:pPr algn="ctr"/>
            <a:r>
              <a:rPr lang="tr-TR" sz="1400" b="1" i="0">
                <a:solidFill>
                  <a:srgbClr val="FBBF24"/>
                </a:solidFill>
                <a:latin typeface="Calibri"/>
              </a:rPr>
              <a:t>Selam</a:t>
            </a:r>
          </a:p>
        </p:txBody>
      </p:sp>
      <p:sp>
        <p:nvSpPr>
          <p:cNvPr id="13" name="Rounded Rectangle 12"/>
          <p:cNvSpPr/>
          <p:nvPr/>
        </p:nvSpPr>
        <p:spPr>
          <a:xfrm>
            <a:off x="411480" y="1307592"/>
            <a:ext cx="8321040" cy="402336"/>
          </a:xfrm>
          <a:prstGeom prst="roundRect">
            <a:avLst>
              <a:gd name="adj" fmla="val 15000"/>
            </a:avLst>
          </a:prstGeom>
          <a:solidFill>
            <a:srgbClr val="FDE6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411480" y="1307592"/>
            <a:ext cx="1600200" cy="402336"/>
          </a:xfrm>
          <a:prstGeom prst="rect">
            <a:avLst/>
          </a:prstGeom>
          <a:noFill/>
        </p:spPr>
        <p:txBody>
          <a:bodyPr wrap="square" lIns="18288" tIns="45720" rIns="18288" bIns="45720" anchor="ctr"/>
          <a:lstStyle/>
          <a:p>
            <a:pPr algn="ctr"/>
            <a:r>
              <a:rPr lang="tr-TR" sz="1350" b="1" i="0">
                <a:solidFill>
                  <a:srgbClr val="1A2E5A"/>
                </a:solidFill>
                <a:latin typeface="Calibri"/>
              </a:rPr>
              <a:t>Türkiye</a:t>
            </a:r>
          </a:p>
        </p:txBody>
      </p:sp>
      <p:sp>
        <p:nvSpPr>
          <p:cNvPr id="15" name="TextBox 14"/>
          <p:cNvSpPr txBox="1"/>
          <p:nvPr/>
        </p:nvSpPr>
        <p:spPr>
          <a:xfrm>
            <a:off x="2011680" y="1307592"/>
            <a:ext cx="1508760" cy="402336"/>
          </a:xfrm>
          <a:prstGeom prst="rect">
            <a:avLst/>
          </a:prstGeom>
          <a:noFill/>
        </p:spPr>
        <p:txBody>
          <a:bodyPr wrap="square" lIns="18288" tIns="45720" rIns="18288" bIns="45720" anchor="ctr"/>
          <a:lstStyle/>
          <a:p>
            <a:pPr algn="ctr"/>
            <a:r>
              <a:rPr lang="tr-TR" sz="1350" b="1" i="0">
                <a:solidFill>
                  <a:srgbClr val="7C3AED"/>
                </a:solidFill>
                <a:latin typeface="Calibri"/>
              </a:rPr>
              <a:t>Türk</a:t>
            </a:r>
          </a:p>
        </p:txBody>
      </p:sp>
      <p:sp>
        <p:nvSpPr>
          <p:cNvPr id="16" name="TextBox 15"/>
          <p:cNvSpPr txBox="1"/>
          <p:nvPr/>
        </p:nvSpPr>
        <p:spPr>
          <a:xfrm>
            <a:off x="3520440" y="1307592"/>
            <a:ext cx="2240280" cy="402336"/>
          </a:xfrm>
          <a:prstGeom prst="rect">
            <a:avLst/>
          </a:prstGeom>
          <a:noFill/>
        </p:spPr>
        <p:txBody>
          <a:bodyPr wrap="square" lIns="18288" tIns="45720" rIns="18288" bIns="45720" anchor="ctr"/>
          <a:lstStyle/>
          <a:p>
            <a:pPr algn="ctr"/>
            <a:r>
              <a:rPr lang="tr-TR" sz="1350" b="1" i="0">
                <a:solidFill>
                  <a:srgbClr val="16A34A"/>
                </a:solidFill>
                <a:latin typeface="Calibri"/>
              </a:rPr>
              <a:t>Türkçe</a:t>
            </a:r>
          </a:p>
        </p:txBody>
      </p:sp>
      <p:sp>
        <p:nvSpPr>
          <p:cNvPr id="17" name="TextBox 16"/>
          <p:cNvSpPr txBox="1"/>
          <p:nvPr/>
        </p:nvSpPr>
        <p:spPr>
          <a:xfrm>
            <a:off x="5760720" y="1307592"/>
            <a:ext cx="1508760" cy="402336"/>
          </a:xfrm>
          <a:prstGeom prst="rect">
            <a:avLst/>
          </a:prstGeom>
          <a:noFill/>
        </p:spPr>
        <p:txBody>
          <a:bodyPr wrap="square" lIns="18288" tIns="45720" rIns="18288" bIns="45720" anchor="ctr"/>
          <a:lstStyle/>
          <a:p>
            <a:pPr algn="ctr"/>
            <a:r>
              <a:rPr lang="tr-TR" sz="1350" b="0" i="0">
                <a:solidFill>
                  <a:srgbClr val="1E293B"/>
                </a:solidFill>
                <a:latin typeface="Calibri"/>
              </a:rPr>
              <a:t>Ankara</a:t>
            </a:r>
          </a:p>
        </p:txBody>
      </p:sp>
      <p:sp>
        <p:nvSpPr>
          <p:cNvPr id="18" name="TextBox 17"/>
          <p:cNvSpPr txBox="1"/>
          <p:nvPr/>
        </p:nvSpPr>
        <p:spPr>
          <a:xfrm>
            <a:off x="7269480" y="1307592"/>
            <a:ext cx="1463040" cy="402336"/>
          </a:xfrm>
          <a:prstGeom prst="rect">
            <a:avLst/>
          </a:prstGeom>
          <a:noFill/>
        </p:spPr>
        <p:txBody>
          <a:bodyPr wrap="square" lIns="18288" tIns="45720" rIns="18288" bIns="45720" anchor="ctr"/>
          <a:lstStyle/>
          <a:p>
            <a:pPr algn="ctr"/>
            <a:r>
              <a:rPr lang="tr-TR" sz="1350" b="1" i="0">
                <a:solidFill>
                  <a:srgbClr val="F97316"/>
                </a:solidFill>
                <a:latin typeface="Calibri"/>
              </a:rPr>
              <a:t>Merhaba!</a:t>
            </a:r>
          </a:p>
        </p:txBody>
      </p:sp>
      <p:sp>
        <p:nvSpPr>
          <p:cNvPr id="19" name="Rounded Rectangle 18"/>
          <p:cNvSpPr/>
          <p:nvPr/>
        </p:nvSpPr>
        <p:spPr>
          <a:xfrm>
            <a:off x="411480" y="1764792"/>
            <a:ext cx="8321040" cy="402336"/>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411480" y="1764792"/>
            <a:ext cx="1600200" cy="402336"/>
          </a:xfrm>
          <a:prstGeom prst="rect">
            <a:avLst/>
          </a:prstGeom>
          <a:noFill/>
        </p:spPr>
        <p:txBody>
          <a:bodyPr wrap="square" lIns="18288" tIns="45720" rIns="18288" bIns="45720" anchor="ctr"/>
          <a:lstStyle/>
          <a:p>
            <a:pPr algn="ctr"/>
            <a:r>
              <a:rPr lang="tr-TR" sz="1350" b="1" i="0">
                <a:solidFill>
                  <a:srgbClr val="1A2E5A"/>
                </a:solidFill>
                <a:latin typeface="Calibri"/>
              </a:rPr>
              <a:t>Azerbaycan</a:t>
            </a:r>
          </a:p>
        </p:txBody>
      </p:sp>
      <p:sp>
        <p:nvSpPr>
          <p:cNvPr id="21" name="TextBox 20"/>
          <p:cNvSpPr txBox="1"/>
          <p:nvPr/>
        </p:nvSpPr>
        <p:spPr>
          <a:xfrm>
            <a:off x="2011680" y="1764792"/>
            <a:ext cx="1508760" cy="402336"/>
          </a:xfrm>
          <a:prstGeom prst="rect">
            <a:avLst/>
          </a:prstGeom>
          <a:noFill/>
        </p:spPr>
        <p:txBody>
          <a:bodyPr wrap="square" lIns="18288" tIns="45720" rIns="18288" bIns="45720" anchor="ctr"/>
          <a:lstStyle/>
          <a:p>
            <a:pPr algn="ctr"/>
            <a:r>
              <a:rPr lang="tr-TR" sz="1350" b="1" i="0">
                <a:solidFill>
                  <a:srgbClr val="7C3AED"/>
                </a:solidFill>
                <a:latin typeface="Calibri"/>
              </a:rPr>
              <a:t>Azerbaycanlı</a:t>
            </a:r>
          </a:p>
        </p:txBody>
      </p:sp>
      <p:sp>
        <p:nvSpPr>
          <p:cNvPr id="22" name="TextBox 21"/>
          <p:cNvSpPr txBox="1"/>
          <p:nvPr/>
        </p:nvSpPr>
        <p:spPr>
          <a:xfrm>
            <a:off x="3520440" y="1764792"/>
            <a:ext cx="2240280" cy="402336"/>
          </a:xfrm>
          <a:prstGeom prst="rect">
            <a:avLst/>
          </a:prstGeom>
          <a:noFill/>
        </p:spPr>
        <p:txBody>
          <a:bodyPr wrap="square" lIns="18288" tIns="45720" rIns="18288" bIns="45720" anchor="ctr"/>
          <a:lstStyle/>
          <a:p>
            <a:pPr algn="ctr"/>
            <a:r>
              <a:rPr lang="tr-TR" sz="1350" b="1" i="0">
                <a:solidFill>
                  <a:srgbClr val="16A34A"/>
                </a:solidFill>
                <a:latin typeface="Calibri"/>
              </a:rPr>
              <a:t>Azerbaycan Türkçesi</a:t>
            </a:r>
          </a:p>
        </p:txBody>
      </p:sp>
      <p:sp>
        <p:nvSpPr>
          <p:cNvPr id="23" name="TextBox 22"/>
          <p:cNvSpPr txBox="1"/>
          <p:nvPr/>
        </p:nvSpPr>
        <p:spPr>
          <a:xfrm>
            <a:off x="5760720" y="1764792"/>
            <a:ext cx="1508760" cy="402336"/>
          </a:xfrm>
          <a:prstGeom prst="rect">
            <a:avLst/>
          </a:prstGeom>
          <a:noFill/>
        </p:spPr>
        <p:txBody>
          <a:bodyPr wrap="square" lIns="18288" tIns="45720" rIns="18288" bIns="45720" anchor="ctr"/>
          <a:lstStyle/>
          <a:p>
            <a:pPr algn="ctr"/>
            <a:r>
              <a:rPr lang="tr-TR" sz="1350" b="0" i="0">
                <a:solidFill>
                  <a:srgbClr val="1E293B"/>
                </a:solidFill>
                <a:latin typeface="Calibri"/>
              </a:rPr>
              <a:t>Bakü</a:t>
            </a:r>
          </a:p>
        </p:txBody>
      </p:sp>
      <p:sp>
        <p:nvSpPr>
          <p:cNvPr id="24" name="TextBox 23"/>
          <p:cNvSpPr txBox="1"/>
          <p:nvPr/>
        </p:nvSpPr>
        <p:spPr>
          <a:xfrm>
            <a:off x="7269480" y="1764792"/>
            <a:ext cx="1463040" cy="402336"/>
          </a:xfrm>
          <a:prstGeom prst="rect">
            <a:avLst/>
          </a:prstGeom>
          <a:noFill/>
        </p:spPr>
        <p:txBody>
          <a:bodyPr wrap="square" lIns="18288" tIns="45720" rIns="18288" bIns="45720" anchor="ctr"/>
          <a:lstStyle/>
          <a:p>
            <a:pPr algn="ctr"/>
            <a:r>
              <a:rPr lang="tr-TR" sz="1350" b="1" i="0">
                <a:solidFill>
                  <a:srgbClr val="F97316"/>
                </a:solidFill>
                <a:latin typeface="Calibri"/>
              </a:rPr>
              <a:t>Salam!</a:t>
            </a:r>
          </a:p>
        </p:txBody>
      </p:sp>
      <p:sp>
        <p:nvSpPr>
          <p:cNvPr id="25" name="Rounded Rectangle 24"/>
          <p:cNvSpPr/>
          <p:nvPr/>
        </p:nvSpPr>
        <p:spPr>
          <a:xfrm>
            <a:off x="411480" y="2221992"/>
            <a:ext cx="8321040" cy="402336"/>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411480" y="2221992"/>
            <a:ext cx="1600200" cy="402336"/>
          </a:xfrm>
          <a:prstGeom prst="rect">
            <a:avLst/>
          </a:prstGeom>
          <a:noFill/>
        </p:spPr>
        <p:txBody>
          <a:bodyPr wrap="square" lIns="18288" tIns="45720" rIns="18288" bIns="45720" anchor="ctr"/>
          <a:lstStyle/>
          <a:p>
            <a:pPr algn="ctr"/>
            <a:r>
              <a:rPr lang="tr-TR" sz="1350" b="1" i="0">
                <a:solidFill>
                  <a:srgbClr val="1A2E5A"/>
                </a:solidFill>
                <a:latin typeface="Calibri"/>
              </a:rPr>
              <a:t>Kazakistan</a:t>
            </a:r>
          </a:p>
        </p:txBody>
      </p:sp>
      <p:sp>
        <p:nvSpPr>
          <p:cNvPr id="27" name="TextBox 26"/>
          <p:cNvSpPr txBox="1"/>
          <p:nvPr/>
        </p:nvSpPr>
        <p:spPr>
          <a:xfrm>
            <a:off x="2011680" y="2221992"/>
            <a:ext cx="1508760" cy="402336"/>
          </a:xfrm>
          <a:prstGeom prst="rect">
            <a:avLst/>
          </a:prstGeom>
          <a:noFill/>
        </p:spPr>
        <p:txBody>
          <a:bodyPr wrap="square" lIns="18288" tIns="45720" rIns="18288" bIns="45720" anchor="ctr"/>
          <a:lstStyle/>
          <a:p>
            <a:pPr algn="ctr"/>
            <a:r>
              <a:rPr lang="tr-TR" sz="1350" b="1" i="0">
                <a:solidFill>
                  <a:srgbClr val="7C3AED"/>
                </a:solidFill>
                <a:latin typeface="Calibri"/>
              </a:rPr>
              <a:t>Kazak</a:t>
            </a:r>
          </a:p>
        </p:txBody>
      </p:sp>
      <p:sp>
        <p:nvSpPr>
          <p:cNvPr id="28" name="TextBox 27"/>
          <p:cNvSpPr txBox="1"/>
          <p:nvPr/>
        </p:nvSpPr>
        <p:spPr>
          <a:xfrm>
            <a:off x="3520440" y="2221992"/>
            <a:ext cx="2240280" cy="402336"/>
          </a:xfrm>
          <a:prstGeom prst="rect">
            <a:avLst/>
          </a:prstGeom>
          <a:noFill/>
        </p:spPr>
        <p:txBody>
          <a:bodyPr wrap="square" lIns="18288" tIns="45720" rIns="18288" bIns="45720" anchor="ctr"/>
          <a:lstStyle/>
          <a:p>
            <a:pPr algn="ctr"/>
            <a:r>
              <a:rPr lang="tr-TR" sz="1350" b="1" i="0">
                <a:solidFill>
                  <a:srgbClr val="16A34A"/>
                </a:solidFill>
                <a:latin typeface="Calibri"/>
              </a:rPr>
              <a:t>Kazakça</a:t>
            </a:r>
          </a:p>
        </p:txBody>
      </p:sp>
      <p:sp>
        <p:nvSpPr>
          <p:cNvPr id="29" name="TextBox 28"/>
          <p:cNvSpPr txBox="1"/>
          <p:nvPr/>
        </p:nvSpPr>
        <p:spPr>
          <a:xfrm>
            <a:off x="5760720" y="2221992"/>
            <a:ext cx="1508760" cy="402336"/>
          </a:xfrm>
          <a:prstGeom prst="rect">
            <a:avLst/>
          </a:prstGeom>
          <a:noFill/>
        </p:spPr>
        <p:txBody>
          <a:bodyPr wrap="square" lIns="18288" tIns="45720" rIns="18288" bIns="45720" anchor="ctr"/>
          <a:lstStyle/>
          <a:p>
            <a:pPr algn="ctr"/>
            <a:r>
              <a:rPr lang="tr-TR" sz="1350" b="0" i="0">
                <a:solidFill>
                  <a:srgbClr val="1E293B"/>
                </a:solidFill>
                <a:latin typeface="Calibri"/>
              </a:rPr>
              <a:t>Astana</a:t>
            </a:r>
          </a:p>
        </p:txBody>
      </p:sp>
      <p:sp>
        <p:nvSpPr>
          <p:cNvPr id="30" name="TextBox 29"/>
          <p:cNvSpPr txBox="1"/>
          <p:nvPr/>
        </p:nvSpPr>
        <p:spPr>
          <a:xfrm>
            <a:off x="7269480" y="2221992"/>
            <a:ext cx="1463040" cy="402336"/>
          </a:xfrm>
          <a:prstGeom prst="rect">
            <a:avLst/>
          </a:prstGeom>
          <a:noFill/>
        </p:spPr>
        <p:txBody>
          <a:bodyPr wrap="square" lIns="18288" tIns="45720" rIns="18288" bIns="45720" anchor="ctr"/>
          <a:lstStyle/>
          <a:p>
            <a:pPr algn="ctr"/>
            <a:r>
              <a:rPr lang="tr-TR" sz="1350" b="1" i="0">
                <a:solidFill>
                  <a:srgbClr val="F97316"/>
                </a:solidFill>
                <a:latin typeface="Calibri"/>
              </a:rPr>
              <a:t>Sälem!</a:t>
            </a:r>
          </a:p>
        </p:txBody>
      </p:sp>
      <p:sp>
        <p:nvSpPr>
          <p:cNvPr id="31" name="Rounded Rectangle 30"/>
          <p:cNvSpPr/>
          <p:nvPr/>
        </p:nvSpPr>
        <p:spPr>
          <a:xfrm>
            <a:off x="411480" y="2679192"/>
            <a:ext cx="8321040" cy="402336"/>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411480" y="2679192"/>
            <a:ext cx="1600200" cy="402336"/>
          </a:xfrm>
          <a:prstGeom prst="rect">
            <a:avLst/>
          </a:prstGeom>
          <a:noFill/>
        </p:spPr>
        <p:txBody>
          <a:bodyPr wrap="square" lIns="18288" tIns="45720" rIns="18288" bIns="45720" anchor="ctr"/>
          <a:lstStyle/>
          <a:p>
            <a:pPr algn="ctr"/>
            <a:r>
              <a:rPr lang="tr-TR" sz="1350" b="1" i="0">
                <a:solidFill>
                  <a:srgbClr val="1A2E5A"/>
                </a:solidFill>
                <a:latin typeface="Calibri"/>
              </a:rPr>
              <a:t>Kırgızistan</a:t>
            </a:r>
          </a:p>
        </p:txBody>
      </p:sp>
      <p:sp>
        <p:nvSpPr>
          <p:cNvPr id="33" name="TextBox 32"/>
          <p:cNvSpPr txBox="1"/>
          <p:nvPr/>
        </p:nvSpPr>
        <p:spPr>
          <a:xfrm>
            <a:off x="2011680" y="2679192"/>
            <a:ext cx="1508760" cy="402336"/>
          </a:xfrm>
          <a:prstGeom prst="rect">
            <a:avLst/>
          </a:prstGeom>
          <a:noFill/>
        </p:spPr>
        <p:txBody>
          <a:bodyPr wrap="square" lIns="18288" tIns="45720" rIns="18288" bIns="45720" anchor="ctr"/>
          <a:lstStyle/>
          <a:p>
            <a:pPr algn="ctr"/>
            <a:r>
              <a:rPr lang="tr-TR" sz="1350" b="1" i="0">
                <a:solidFill>
                  <a:srgbClr val="7C3AED"/>
                </a:solidFill>
                <a:latin typeface="Calibri"/>
              </a:rPr>
              <a:t>Kırgız</a:t>
            </a:r>
          </a:p>
        </p:txBody>
      </p:sp>
      <p:sp>
        <p:nvSpPr>
          <p:cNvPr id="34" name="TextBox 33"/>
          <p:cNvSpPr txBox="1"/>
          <p:nvPr/>
        </p:nvSpPr>
        <p:spPr>
          <a:xfrm>
            <a:off x="3520440" y="2679192"/>
            <a:ext cx="2240280" cy="402336"/>
          </a:xfrm>
          <a:prstGeom prst="rect">
            <a:avLst/>
          </a:prstGeom>
          <a:noFill/>
        </p:spPr>
        <p:txBody>
          <a:bodyPr wrap="square" lIns="18288" tIns="45720" rIns="18288" bIns="45720" anchor="ctr"/>
          <a:lstStyle/>
          <a:p>
            <a:pPr algn="ctr"/>
            <a:r>
              <a:rPr lang="tr-TR" sz="1350" b="1" i="0">
                <a:solidFill>
                  <a:srgbClr val="16A34A"/>
                </a:solidFill>
                <a:latin typeface="Calibri"/>
              </a:rPr>
              <a:t>Kırgızca</a:t>
            </a:r>
          </a:p>
        </p:txBody>
      </p:sp>
      <p:sp>
        <p:nvSpPr>
          <p:cNvPr id="35" name="TextBox 34"/>
          <p:cNvSpPr txBox="1"/>
          <p:nvPr/>
        </p:nvSpPr>
        <p:spPr>
          <a:xfrm>
            <a:off x="5760720" y="2679192"/>
            <a:ext cx="1508760" cy="402336"/>
          </a:xfrm>
          <a:prstGeom prst="rect">
            <a:avLst/>
          </a:prstGeom>
          <a:noFill/>
        </p:spPr>
        <p:txBody>
          <a:bodyPr wrap="square" lIns="18288" tIns="45720" rIns="18288" bIns="45720" anchor="ctr"/>
          <a:lstStyle/>
          <a:p>
            <a:pPr algn="ctr"/>
            <a:r>
              <a:rPr lang="tr-TR" sz="1350" b="0" i="0">
                <a:solidFill>
                  <a:srgbClr val="1E293B"/>
                </a:solidFill>
                <a:latin typeface="Calibri"/>
              </a:rPr>
              <a:t>Bişkek</a:t>
            </a:r>
          </a:p>
        </p:txBody>
      </p:sp>
      <p:sp>
        <p:nvSpPr>
          <p:cNvPr id="36" name="TextBox 35"/>
          <p:cNvSpPr txBox="1"/>
          <p:nvPr/>
        </p:nvSpPr>
        <p:spPr>
          <a:xfrm>
            <a:off x="7269480" y="2679192"/>
            <a:ext cx="1463040" cy="402336"/>
          </a:xfrm>
          <a:prstGeom prst="rect">
            <a:avLst/>
          </a:prstGeom>
          <a:noFill/>
        </p:spPr>
        <p:txBody>
          <a:bodyPr wrap="square" lIns="18288" tIns="45720" rIns="18288" bIns="45720" anchor="ctr"/>
          <a:lstStyle/>
          <a:p>
            <a:pPr algn="ctr"/>
            <a:r>
              <a:rPr lang="tr-TR" sz="1350" b="1" i="0">
                <a:solidFill>
                  <a:srgbClr val="F97316"/>
                </a:solidFill>
                <a:latin typeface="Calibri"/>
              </a:rPr>
              <a:t>Salam!</a:t>
            </a:r>
          </a:p>
        </p:txBody>
      </p:sp>
      <p:sp>
        <p:nvSpPr>
          <p:cNvPr id="37" name="Rounded Rectangle 36"/>
          <p:cNvSpPr/>
          <p:nvPr/>
        </p:nvSpPr>
        <p:spPr>
          <a:xfrm>
            <a:off x="411480" y="3136392"/>
            <a:ext cx="8321040" cy="402336"/>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411480" y="3136392"/>
            <a:ext cx="1600200" cy="402336"/>
          </a:xfrm>
          <a:prstGeom prst="rect">
            <a:avLst/>
          </a:prstGeom>
          <a:noFill/>
        </p:spPr>
        <p:txBody>
          <a:bodyPr wrap="square" lIns="18288" tIns="45720" rIns="18288" bIns="45720" anchor="ctr"/>
          <a:lstStyle/>
          <a:p>
            <a:pPr algn="ctr"/>
            <a:r>
              <a:rPr lang="tr-TR" sz="1350" b="1" i="0">
                <a:solidFill>
                  <a:srgbClr val="1A2E5A"/>
                </a:solidFill>
                <a:latin typeface="Calibri"/>
              </a:rPr>
              <a:t>Özbekistan</a:t>
            </a:r>
          </a:p>
        </p:txBody>
      </p:sp>
      <p:sp>
        <p:nvSpPr>
          <p:cNvPr id="39" name="TextBox 38"/>
          <p:cNvSpPr txBox="1"/>
          <p:nvPr/>
        </p:nvSpPr>
        <p:spPr>
          <a:xfrm>
            <a:off x="2011680" y="3136392"/>
            <a:ext cx="1508760" cy="402336"/>
          </a:xfrm>
          <a:prstGeom prst="rect">
            <a:avLst/>
          </a:prstGeom>
          <a:noFill/>
        </p:spPr>
        <p:txBody>
          <a:bodyPr wrap="square" lIns="18288" tIns="45720" rIns="18288" bIns="45720" anchor="ctr"/>
          <a:lstStyle/>
          <a:p>
            <a:pPr algn="ctr"/>
            <a:r>
              <a:rPr lang="tr-TR" sz="1350" b="1" i="0">
                <a:solidFill>
                  <a:srgbClr val="7C3AED"/>
                </a:solidFill>
                <a:latin typeface="Calibri"/>
              </a:rPr>
              <a:t>Özbek</a:t>
            </a:r>
          </a:p>
        </p:txBody>
      </p:sp>
      <p:sp>
        <p:nvSpPr>
          <p:cNvPr id="40" name="TextBox 39"/>
          <p:cNvSpPr txBox="1"/>
          <p:nvPr/>
        </p:nvSpPr>
        <p:spPr>
          <a:xfrm>
            <a:off x="3520440" y="3136392"/>
            <a:ext cx="2240280" cy="402336"/>
          </a:xfrm>
          <a:prstGeom prst="rect">
            <a:avLst/>
          </a:prstGeom>
          <a:noFill/>
        </p:spPr>
        <p:txBody>
          <a:bodyPr wrap="square" lIns="18288" tIns="45720" rIns="18288" bIns="45720" anchor="ctr"/>
          <a:lstStyle/>
          <a:p>
            <a:pPr algn="ctr"/>
            <a:r>
              <a:rPr lang="tr-TR" sz="1350" b="1" i="0">
                <a:solidFill>
                  <a:srgbClr val="16A34A"/>
                </a:solidFill>
                <a:latin typeface="Calibri"/>
              </a:rPr>
              <a:t>Özbekçe</a:t>
            </a:r>
          </a:p>
        </p:txBody>
      </p:sp>
      <p:sp>
        <p:nvSpPr>
          <p:cNvPr id="41" name="TextBox 40"/>
          <p:cNvSpPr txBox="1"/>
          <p:nvPr/>
        </p:nvSpPr>
        <p:spPr>
          <a:xfrm>
            <a:off x="5760720" y="3136392"/>
            <a:ext cx="1508760" cy="402336"/>
          </a:xfrm>
          <a:prstGeom prst="rect">
            <a:avLst/>
          </a:prstGeom>
          <a:noFill/>
        </p:spPr>
        <p:txBody>
          <a:bodyPr wrap="square" lIns="18288" tIns="45720" rIns="18288" bIns="45720" anchor="ctr"/>
          <a:lstStyle/>
          <a:p>
            <a:pPr algn="ctr"/>
            <a:r>
              <a:rPr lang="tr-TR" sz="1350" b="0" i="0">
                <a:solidFill>
                  <a:srgbClr val="1E293B"/>
                </a:solidFill>
                <a:latin typeface="Calibri"/>
              </a:rPr>
              <a:t>Taşkent</a:t>
            </a:r>
          </a:p>
        </p:txBody>
      </p:sp>
      <p:sp>
        <p:nvSpPr>
          <p:cNvPr id="42" name="TextBox 41"/>
          <p:cNvSpPr txBox="1"/>
          <p:nvPr/>
        </p:nvSpPr>
        <p:spPr>
          <a:xfrm>
            <a:off x="7269480" y="3136392"/>
            <a:ext cx="1463040" cy="402336"/>
          </a:xfrm>
          <a:prstGeom prst="rect">
            <a:avLst/>
          </a:prstGeom>
          <a:noFill/>
        </p:spPr>
        <p:txBody>
          <a:bodyPr wrap="square" lIns="18288" tIns="45720" rIns="18288" bIns="45720" anchor="ctr"/>
          <a:lstStyle/>
          <a:p>
            <a:pPr algn="ctr"/>
            <a:r>
              <a:rPr lang="tr-TR" sz="1350" b="1" i="0">
                <a:solidFill>
                  <a:srgbClr val="F97316"/>
                </a:solidFill>
                <a:latin typeface="Calibri"/>
              </a:rPr>
              <a:t>Salom!</a:t>
            </a:r>
          </a:p>
        </p:txBody>
      </p:sp>
      <p:sp>
        <p:nvSpPr>
          <p:cNvPr id="43" name="Rounded Rectangle 42"/>
          <p:cNvSpPr/>
          <p:nvPr/>
        </p:nvSpPr>
        <p:spPr>
          <a:xfrm>
            <a:off x="411480" y="3593592"/>
            <a:ext cx="8321040" cy="402336"/>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411480" y="3593592"/>
            <a:ext cx="1600200" cy="402336"/>
          </a:xfrm>
          <a:prstGeom prst="rect">
            <a:avLst/>
          </a:prstGeom>
          <a:noFill/>
        </p:spPr>
        <p:txBody>
          <a:bodyPr wrap="square" lIns="18288" tIns="45720" rIns="18288" bIns="45720" anchor="ctr"/>
          <a:lstStyle/>
          <a:p>
            <a:pPr algn="ctr"/>
            <a:r>
              <a:rPr lang="tr-TR" sz="1350" b="1" i="0">
                <a:solidFill>
                  <a:srgbClr val="1A2E5A"/>
                </a:solidFill>
                <a:latin typeface="Calibri"/>
              </a:rPr>
              <a:t>Türkmenistan</a:t>
            </a:r>
          </a:p>
        </p:txBody>
      </p:sp>
      <p:sp>
        <p:nvSpPr>
          <p:cNvPr id="45" name="TextBox 44"/>
          <p:cNvSpPr txBox="1"/>
          <p:nvPr/>
        </p:nvSpPr>
        <p:spPr>
          <a:xfrm>
            <a:off x="2011680" y="3593592"/>
            <a:ext cx="1508760" cy="402336"/>
          </a:xfrm>
          <a:prstGeom prst="rect">
            <a:avLst/>
          </a:prstGeom>
          <a:noFill/>
        </p:spPr>
        <p:txBody>
          <a:bodyPr wrap="square" lIns="18288" tIns="45720" rIns="18288" bIns="45720" anchor="ctr"/>
          <a:lstStyle/>
          <a:p>
            <a:pPr algn="ctr"/>
            <a:r>
              <a:rPr lang="tr-TR" sz="1350" b="1" i="0">
                <a:solidFill>
                  <a:srgbClr val="7C3AED"/>
                </a:solidFill>
                <a:latin typeface="Calibri"/>
              </a:rPr>
              <a:t>Türkmen</a:t>
            </a:r>
          </a:p>
        </p:txBody>
      </p:sp>
      <p:sp>
        <p:nvSpPr>
          <p:cNvPr id="46" name="TextBox 45"/>
          <p:cNvSpPr txBox="1"/>
          <p:nvPr/>
        </p:nvSpPr>
        <p:spPr>
          <a:xfrm>
            <a:off x="3520440" y="3593592"/>
            <a:ext cx="2240280" cy="402336"/>
          </a:xfrm>
          <a:prstGeom prst="rect">
            <a:avLst/>
          </a:prstGeom>
          <a:noFill/>
        </p:spPr>
        <p:txBody>
          <a:bodyPr wrap="square" lIns="18288" tIns="45720" rIns="18288" bIns="45720" anchor="ctr"/>
          <a:lstStyle/>
          <a:p>
            <a:pPr algn="ctr"/>
            <a:r>
              <a:rPr lang="tr-TR" sz="1350" b="1" i="0">
                <a:solidFill>
                  <a:srgbClr val="16A34A"/>
                </a:solidFill>
                <a:latin typeface="Calibri"/>
              </a:rPr>
              <a:t>Türkmence</a:t>
            </a:r>
          </a:p>
        </p:txBody>
      </p:sp>
      <p:sp>
        <p:nvSpPr>
          <p:cNvPr id="47" name="TextBox 46"/>
          <p:cNvSpPr txBox="1"/>
          <p:nvPr/>
        </p:nvSpPr>
        <p:spPr>
          <a:xfrm>
            <a:off x="5760720" y="3593592"/>
            <a:ext cx="1508760" cy="402336"/>
          </a:xfrm>
          <a:prstGeom prst="rect">
            <a:avLst/>
          </a:prstGeom>
          <a:noFill/>
        </p:spPr>
        <p:txBody>
          <a:bodyPr wrap="square" lIns="18288" tIns="45720" rIns="18288" bIns="45720" anchor="ctr"/>
          <a:lstStyle/>
          <a:p>
            <a:pPr algn="ctr"/>
            <a:r>
              <a:rPr lang="tr-TR" sz="1350" b="0" i="0">
                <a:solidFill>
                  <a:srgbClr val="1E293B"/>
                </a:solidFill>
                <a:latin typeface="Calibri"/>
              </a:rPr>
              <a:t>Aşkabat</a:t>
            </a:r>
          </a:p>
        </p:txBody>
      </p:sp>
      <p:sp>
        <p:nvSpPr>
          <p:cNvPr id="48" name="TextBox 47"/>
          <p:cNvSpPr txBox="1"/>
          <p:nvPr/>
        </p:nvSpPr>
        <p:spPr>
          <a:xfrm>
            <a:off x="7269480" y="3593592"/>
            <a:ext cx="1463040" cy="402336"/>
          </a:xfrm>
          <a:prstGeom prst="rect">
            <a:avLst/>
          </a:prstGeom>
          <a:noFill/>
        </p:spPr>
        <p:txBody>
          <a:bodyPr wrap="square" lIns="18288" tIns="45720" rIns="18288" bIns="45720" anchor="ctr"/>
          <a:lstStyle/>
          <a:p>
            <a:pPr algn="ctr"/>
            <a:r>
              <a:rPr lang="tr-TR" sz="1350" b="1" i="0">
                <a:solidFill>
                  <a:srgbClr val="F97316"/>
                </a:solidFill>
                <a:latin typeface="Calibri"/>
              </a:rPr>
              <a:t>Salam!</a:t>
            </a:r>
          </a:p>
        </p:txBody>
      </p:sp>
      <p:sp>
        <p:nvSpPr>
          <p:cNvPr id="49" name="Rounded Rectangle 48"/>
          <p:cNvSpPr/>
          <p:nvPr/>
        </p:nvSpPr>
        <p:spPr>
          <a:xfrm>
            <a:off x="411480" y="4114800"/>
            <a:ext cx="8321040" cy="713232"/>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TextBox 49"/>
          <p:cNvSpPr txBox="1"/>
          <p:nvPr/>
        </p:nvSpPr>
        <p:spPr>
          <a:xfrm>
            <a:off x="548640" y="4114800"/>
            <a:ext cx="8046720" cy="713232"/>
          </a:xfrm>
          <a:prstGeom prst="rect">
            <a:avLst/>
          </a:prstGeom>
          <a:noFill/>
        </p:spPr>
        <p:txBody>
          <a:bodyPr wrap="square" lIns="73152" tIns="45720" rIns="73152" bIns="45720" anchor="ctr"/>
          <a:lstStyle/>
          <a:p>
            <a:pPr algn="ctr"/>
            <a:r>
              <a:rPr lang="tr-TR" sz="1400" b="1" i="0">
                <a:solidFill>
                  <a:srgbClr val="7C3AED"/>
                </a:solidFill>
                <a:latin typeface="Calibri"/>
              </a:rPr>
              <a:t>Temel’deki şifre burada da çalışıyor! </a:t>
            </a:r>
            <a:r>
              <a:rPr lang="tr-TR" sz="1400" b="1" i="0">
                <a:solidFill>
                  <a:srgbClr val="1E293B"/>
                </a:solidFill>
                <a:latin typeface="Calibri"/>
              </a:rPr>
              <a:t>Bu diller Türkçenin kardeşleridir: hepsi Türk dil ailesindendir.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FF7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0"/>
            <a:ext cx="9144000" cy="65836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365760" y="0"/>
            <a:ext cx="6583680" cy="658368"/>
          </a:xfrm>
          <a:prstGeom prst="rect">
            <a:avLst/>
          </a:prstGeom>
          <a:noFill/>
        </p:spPr>
        <p:txBody>
          <a:bodyPr wrap="square" lIns="435102" tIns="45720" rIns="73152" bIns="45720" anchor="ctr"/>
          <a:lstStyle/>
          <a:p>
            <a:pPr algn="l"/>
            <a:r>
              <a:rPr lang="tr-TR" sz="1900" b="1" i="0">
                <a:solidFill>
                  <a:srgbClr val="FFFFFF"/>
                </a:solidFill>
                <a:latin typeface="Cambria"/>
              </a:rPr>
              <a:t>ORTAK BAĞLAR: YAZITLAR, DESTANLAR, MEKÂNLAR</a:t>
            </a:r>
          </a:p>
        </p:txBody>
      </p:sp>
      <p:pic>
        <p:nvPicPr>
          <p:cNvPr id="34" name="Picture 33" descr="1f4dc.png"/>
          <p:cNvPicPr>
            <a:picLocks noChangeAspect="1"/>
          </p:cNvPicPr>
          <p:nvPr/>
        </p:nvPicPr>
        <p:blipFill>
          <a:blip r:embed="rId3"/>
          <a:stretch>
            <a:fillRect/>
          </a:stretch>
        </p:blipFill>
        <p:spPr>
          <a:xfrm>
            <a:off x="438912" y="190436"/>
            <a:ext cx="277495" cy="277495"/>
          </a:xfrm>
          <a:prstGeom prst="rect">
            <a:avLst/>
          </a:prstGeom>
        </p:spPr>
      </p:pic>
      <p:sp>
        <p:nvSpPr>
          <p:cNvPr id="7" name="Rounded Rectangle 6"/>
          <p:cNvSpPr/>
          <p:nvPr/>
        </p:nvSpPr>
        <p:spPr>
          <a:xfrm>
            <a:off x="365760" y="841248"/>
            <a:ext cx="1591056" cy="2606040"/>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ectangle 7"/>
          <p:cNvSpPr/>
          <p:nvPr/>
        </p:nvSpPr>
        <p:spPr>
          <a:xfrm>
            <a:off x="365760" y="841248"/>
            <a:ext cx="1591056"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5" name="Picture 34" descr="1f4dc.png"/>
          <p:cNvPicPr>
            <a:picLocks noChangeAspect="1"/>
          </p:cNvPicPr>
          <p:nvPr/>
        </p:nvPicPr>
        <p:blipFill>
          <a:blip r:embed="rId3"/>
          <a:stretch>
            <a:fillRect/>
          </a:stretch>
        </p:blipFill>
        <p:spPr>
          <a:xfrm>
            <a:off x="963168" y="1063752"/>
            <a:ext cx="396240" cy="396240"/>
          </a:xfrm>
          <a:prstGeom prst="rect">
            <a:avLst/>
          </a:prstGeom>
        </p:spPr>
      </p:pic>
      <p:sp>
        <p:nvSpPr>
          <p:cNvPr id="10" name="TextBox 9"/>
          <p:cNvSpPr txBox="1"/>
          <p:nvPr/>
        </p:nvSpPr>
        <p:spPr>
          <a:xfrm>
            <a:off x="411480" y="1554480"/>
            <a:ext cx="1499616" cy="548640"/>
          </a:xfrm>
          <a:prstGeom prst="rect">
            <a:avLst/>
          </a:prstGeom>
          <a:noFill/>
        </p:spPr>
        <p:txBody>
          <a:bodyPr wrap="square" lIns="73152" tIns="45720" rIns="73152" bIns="45720" anchor="ctr"/>
          <a:lstStyle/>
          <a:p>
            <a:pPr algn="ctr"/>
            <a:r>
              <a:rPr lang="tr-TR" sz="1350" b="1" i="0">
                <a:solidFill>
                  <a:srgbClr val="7C3AED"/>
                </a:solidFill>
                <a:latin typeface="Calibri"/>
              </a:rPr>
              <a:t>Orhun Yazıtları</a:t>
            </a:r>
          </a:p>
        </p:txBody>
      </p:sp>
      <p:sp>
        <p:nvSpPr>
          <p:cNvPr id="11" name="TextBox 10"/>
          <p:cNvSpPr txBox="1"/>
          <p:nvPr/>
        </p:nvSpPr>
        <p:spPr>
          <a:xfrm>
            <a:off x="438912" y="2103120"/>
            <a:ext cx="1444752" cy="1298448"/>
          </a:xfrm>
          <a:prstGeom prst="rect">
            <a:avLst/>
          </a:prstGeom>
          <a:noFill/>
        </p:spPr>
        <p:txBody>
          <a:bodyPr wrap="square" lIns="73152" tIns="45720" rIns="73152" bIns="45720" anchor="t"/>
          <a:lstStyle/>
          <a:p>
            <a:pPr algn="ctr"/>
            <a:r>
              <a:rPr lang="tr-TR" sz="1150" b="0" i="0">
                <a:solidFill>
                  <a:srgbClr val="1E293B"/>
                </a:solidFill>
                <a:latin typeface="Calibri"/>
              </a:rPr>
              <a:t>Moğolistan’da, 8. yüzyılda dikildi. Türk adının geçtiği ilk Türkçe metinlerdir.</a:t>
            </a:r>
          </a:p>
        </p:txBody>
      </p:sp>
      <p:sp>
        <p:nvSpPr>
          <p:cNvPr id="12" name="Rounded Rectangle 11"/>
          <p:cNvSpPr/>
          <p:nvPr/>
        </p:nvSpPr>
        <p:spPr>
          <a:xfrm>
            <a:off x="2066544" y="841248"/>
            <a:ext cx="1591056" cy="2606040"/>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2066544" y="841248"/>
            <a:ext cx="1591056" cy="82296"/>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6" name="Picture 35" descr="1f338.png"/>
          <p:cNvPicPr>
            <a:picLocks noChangeAspect="1"/>
          </p:cNvPicPr>
          <p:nvPr/>
        </p:nvPicPr>
        <p:blipFill>
          <a:blip r:embed="rId4"/>
          <a:stretch>
            <a:fillRect/>
          </a:stretch>
        </p:blipFill>
        <p:spPr>
          <a:xfrm>
            <a:off x="2663952" y="1063752"/>
            <a:ext cx="396240" cy="396240"/>
          </a:xfrm>
          <a:prstGeom prst="rect">
            <a:avLst/>
          </a:prstGeom>
        </p:spPr>
      </p:pic>
      <p:sp>
        <p:nvSpPr>
          <p:cNvPr id="15" name="TextBox 14"/>
          <p:cNvSpPr txBox="1"/>
          <p:nvPr/>
        </p:nvSpPr>
        <p:spPr>
          <a:xfrm>
            <a:off x="2112264" y="1554480"/>
            <a:ext cx="1499616" cy="548640"/>
          </a:xfrm>
          <a:prstGeom prst="rect">
            <a:avLst/>
          </a:prstGeom>
          <a:noFill/>
        </p:spPr>
        <p:txBody>
          <a:bodyPr wrap="square" lIns="73152" tIns="45720" rIns="73152" bIns="45720" anchor="ctr"/>
          <a:lstStyle/>
          <a:p>
            <a:pPr algn="ctr"/>
            <a:r>
              <a:rPr lang="tr-TR" sz="1350" b="1" i="0">
                <a:solidFill>
                  <a:srgbClr val="16A34A"/>
                </a:solidFill>
                <a:latin typeface="Calibri"/>
              </a:rPr>
              <a:t>Nevruz</a:t>
            </a:r>
          </a:p>
        </p:txBody>
      </p:sp>
      <p:sp>
        <p:nvSpPr>
          <p:cNvPr id="16" name="TextBox 15"/>
          <p:cNvSpPr txBox="1"/>
          <p:nvPr/>
        </p:nvSpPr>
        <p:spPr>
          <a:xfrm>
            <a:off x="2139696" y="2103120"/>
            <a:ext cx="1444752" cy="1298448"/>
          </a:xfrm>
          <a:prstGeom prst="rect">
            <a:avLst/>
          </a:prstGeom>
          <a:noFill/>
        </p:spPr>
        <p:txBody>
          <a:bodyPr wrap="square" lIns="73152" tIns="45720" rIns="73152" bIns="45720" anchor="t"/>
          <a:lstStyle/>
          <a:p>
            <a:pPr algn="ctr"/>
            <a:r>
              <a:rPr lang="tr-TR" sz="1150" b="0" i="0">
                <a:solidFill>
                  <a:srgbClr val="1E293B"/>
                </a:solidFill>
                <a:latin typeface="Calibri"/>
              </a:rPr>
              <a:t>Türk dünyasının ortak bahar bayramıdır. Ateş üzerinden atlanır, yumurta boyanır.</a:t>
            </a:r>
          </a:p>
        </p:txBody>
      </p:sp>
      <p:sp>
        <p:nvSpPr>
          <p:cNvPr id="17" name="Rounded Rectangle 16"/>
          <p:cNvSpPr/>
          <p:nvPr/>
        </p:nvSpPr>
        <p:spPr>
          <a:xfrm>
            <a:off x="3767328" y="841248"/>
            <a:ext cx="1591056" cy="2606040"/>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ectangle 17"/>
          <p:cNvSpPr/>
          <p:nvPr/>
        </p:nvSpPr>
        <p:spPr>
          <a:xfrm>
            <a:off x="3767328" y="841248"/>
            <a:ext cx="1591056" cy="8229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7" name="Picture 36" descr="1f4d6.png"/>
          <p:cNvPicPr>
            <a:picLocks noChangeAspect="1"/>
          </p:cNvPicPr>
          <p:nvPr/>
        </p:nvPicPr>
        <p:blipFill>
          <a:blip r:embed="rId5"/>
          <a:stretch>
            <a:fillRect/>
          </a:stretch>
        </p:blipFill>
        <p:spPr>
          <a:xfrm>
            <a:off x="4364736" y="1063752"/>
            <a:ext cx="396240" cy="396240"/>
          </a:xfrm>
          <a:prstGeom prst="rect">
            <a:avLst/>
          </a:prstGeom>
        </p:spPr>
      </p:pic>
      <p:sp>
        <p:nvSpPr>
          <p:cNvPr id="20" name="TextBox 19"/>
          <p:cNvSpPr txBox="1"/>
          <p:nvPr/>
        </p:nvSpPr>
        <p:spPr>
          <a:xfrm>
            <a:off x="3813048" y="1554480"/>
            <a:ext cx="1499616" cy="548640"/>
          </a:xfrm>
          <a:prstGeom prst="rect">
            <a:avLst/>
          </a:prstGeom>
          <a:noFill/>
        </p:spPr>
        <p:txBody>
          <a:bodyPr wrap="square" lIns="73152" tIns="45720" rIns="73152" bIns="45720" anchor="ctr"/>
          <a:lstStyle/>
          <a:p>
            <a:pPr algn="ctr"/>
            <a:r>
              <a:rPr lang="tr-TR" sz="1350" b="1" i="0">
                <a:solidFill>
                  <a:srgbClr val="2563EB"/>
                </a:solidFill>
                <a:latin typeface="Calibri"/>
              </a:rPr>
              <a:t>Dede Korkut</a:t>
            </a:r>
          </a:p>
        </p:txBody>
      </p:sp>
      <p:sp>
        <p:nvSpPr>
          <p:cNvPr id="21" name="TextBox 20"/>
          <p:cNvSpPr txBox="1"/>
          <p:nvPr/>
        </p:nvSpPr>
        <p:spPr>
          <a:xfrm>
            <a:off x="3840480" y="2103120"/>
            <a:ext cx="1444752" cy="1298448"/>
          </a:xfrm>
          <a:prstGeom prst="rect">
            <a:avLst/>
          </a:prstGeom>
          <a:noFill/>
        </p:spPr>
        <p:txBody>
          <a:bodyPr wrap="square" lIns="73152" tIns="45720" rIns="73152" bIns="45720" anchor="t"/>
          <a:lstStyle/>
          <a:p>
            <a:pPr algn="ctr"/>
            <a:r>
              <a:rPr lang="tr-TR" sz="1150" b="0" i="0">
                <a:solidFill>
                  <a:srgbClr val="1E293B"/>
                </a:solidFill>
                <a:latin typeface="Calibri"/>
              </a:rPr>
              <a:t>Türk dünyasının ortak destanıdır. UNESCO listesindedir (2018).</a:t>
            </a:r>
          </a:p>
        </p:txBody>
      </p:sp>
      <p:sp>
        <p:nvSpPr>
          <p:cNvPr id="22" name="Rounded Rectangle 21"/>
          <p:cNvSpPr/>
          <p:nvPr/>
        </p:nvSpPr>
        <p:spPr>
          <a:xfrm>
            <a:off x="5468112" y="841248"/>
            <a:ext cx="1591056" cy="2606040"/>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5468112" y="841248"/>
            <a:ext cx="1591056" cy="82296"/>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8" name="Picture 37" descr="1f54c.png"/>
          <p:cNvPicPr>
            <a:picLocks noChangeAspect="1"/>
          </p:cNvPicPr>
          <p:nvPr/>
        </p:nvPicPr>
        <p:blipFill>
          <a:blip r:embed="rId6"/>
          <a:stretch>
            <a:fillRect/>
          </a:stretch>
        </p:blipFill>
        <p:spPr>
          <a:xfrm>
            <a:off x="6065520" y="1063752"/>
            <a:ext cx="396240" cy="396240"/>
          </a:xfrm>
          <a:prstGeom prst="rect">
            <a:avLst/>
          </a:prstGeom>
        </p:spPr>
      </p:pic>
      <p:sp>
        <p:nvSpPr>
          <p:cNvPr id="25" name="TextBox 24"/>
          <p:cNvSpPr txBox="1"/>
          <p:nvPr/>
        </p:nvSpPr>
        <p:spPr>
          <a:xfrm>
            <a:off x="5513832" y="1554480"/>
            <a:ext cx="1499616" cy="548640"/>
          </a:xfrm>
          <a:prstGeom prst="rect">
            <a:avLst/>
          </a:prstGeom>
          <a:noFill/>
        </p:spPr>
        <p:txBody>
          <a:bodyPr wrap="square" lIns="73152" tIns="45720" rIns="73152" bIns="45720" anchor="ctr"/>
          <a:lstStyle/>
          <a:p>
            <a:pPr algn="ctr"/>
            <a:r>
              <a:rPr lang="tr-TR" sz="1350" b="1" i="0">
                <a:solidFill>
                  <a:srgbClr val="0D9488"/>
                </a:solidFill>
                <a:latin typeface="Calibri"/>
              </a:rPr>
              <a:t>Ahmed Yesevi Türbesi</a:t>
            </a:r>
          </a:p>
        </p:txBody>
      </p:sp>
      <p:sp>
        <p:nvSpPr>
          <p:cNvPr id="26" name="TextBox 25"/>
          <p:cNvSpPr txBox="1"/>
          <p:nvPr/>
        </p:nvSpPr>
        <p:spPr>
          <a:xfrm>
            <a:off x="5541264" y="2103120"/>
            <a:ext cx="1444752" cy="1298448"/>
          </a:xfrm>
          <a:prstGeom prst="rect">
            <a:avLst/>
          </a:prstGeom>
          <a:noFill/>
        </p:spPr>
        <p:txBody>
          <a:bodyPr wrap="square" lIns="73152" tIns="45720" rIns="73152" bIns="45720" anchor="t"/>
          <a:lstStyle/>
          <a:p>
            <a:pPr algn="ctr"/>
            <a:r>
              <a:rPr lang="tr-TR" sz="1150" b="0" i="0">
                <a:solidFill>
                  <a:srgbClr val="1E293B"/>
                </a:solidFill>
                <a:latin typeface="Calibri"/>
              </a:rPr>
              <a:t>Kazakistan’ın Türkistan şehrinde bulunur.</a:t>
            </a:r>
          </a:p>
        </p:txBody>
      </p:sp>
      <p:sp>
        <p:nvSpPr>
          <p:cNvPr id="27" name="Rounded Rectangle 26"/>
          <p:cNvSpPr/>
          <p:nvPr/>
        </p:nvSpPr>
        <p:spPr>
          <a:xfrm>
            <a:off x="7168896" y="841248"/>
            <a:ext cx="1591056" cy="2606040"/>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ectangle 27"/>
          <p:cNvSpPr/>
          <p:nvPr/>
        </p:nvSpPr>
        <p:spPr>
          <a:xfrm>
            <a:off x="7168896" y="841248"/>
            <a:ext cx="1591056" cy="82296"/>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9" name="Picture 38" descr="1f3db_fe0f.png"/>
          <p:cNvPicPr>
            <a:picLocks noChangeAspect="1"/>
          </p:cNvPicPr>
          <p:nvPr/>
        </p:nvPicPr>
        <p:blipFill>
          <a:blip r:embed="rId7"/>
          <a:stretch>
            <a:fillRect/>
          </a:stretch>
        </p:blipFill>
        <p:spPr>
          <a:xfrm>
            <a:off x="7766304" y="1063752"/>
            <a:ext cx="396240" cy="396240"/>
          </a:xfrm>
          <a:prstGeom prst="rect">
            <a:avLst/>
          </a:prstGeom>
        </p:spPr>
      </p:pic>
      <p:sp>
        <p:nvSpPr>
          <p:cNvPr id="30" name="TextBox 29"/>
          <p:cNvSpPr txBox="1"/>
          <p:nvPr/>
        </p:nvSpPr>
        <p:spPr>
          <a:xfrm>
            <a:off x="7214616" y="1554480"/>
            <a:ext cx="1499616" cy="548640"/>
          </a:xfrm>
          <a:prstGeom prst="rect">
            <a:avLst/>
          </a:prstGeom>
          <a:noFill/>
        </p:spPr>
        <p:txBody>
          <a:bodyPr wrap="square" lIns="73152" tIns="45720" rIns="73152" bIns="45720" anchor="ctr"/>
          <a:lstStyle/>
          <a:p>
            <a:pPr algn="ctr"/>
            <a:r>
              <a:rPr lang="tr-TR" sz="1350" b="1" i="0">
                <a:solidFill>
                  <a:srgbClr val="F97316"/>
                </a:solidFill>
                <a:latin typeface="Calibri"/>
              </a:rPr>
              <a:t>Registan Meydanı</a:t>
            </a:r>
          </a:p>
        </p:txBody>
      </p:sp>
      <p:sp>
        <p:nvSpPr>
          <p:cNvPr id="31" name="TextBox 30"/>
          <p:cNvSpPr txBox="1"/>
          <p:nvPr/>
        </p:nvSpPr>
        <p:spPr>
          <a:xfrm>
            <a:off x="7242048" y="2103120"/>
            <a:ext cx="1444752" cy="1298448"/>
          </a:xfrm>
          <a:prstGeom prst="rect">
            <a:avLst/>
          </a:prstGeom>
          <a:noFill/>
        </p:spPr>
        <p:txBody>
          <a:bodyPr wrap="square" lIns="73152" tIns="45720" rIns="73152" bIns="45720" anchor="t"/>
          <a:lstStyle/>
          <a:p>
            <a:pPr algn="ctr"/>
            <a:r>
              <a:rPr lang="tr-TR" sz="1150" b="0" i="0">
                <a:solidFill>
                  <a:srgbClr val="1E293B"/>
                </a:solidFill>
                <a:latin typeface="Calibri"/>
              </a:rPr>
              <a:t>Özbekistan’ın Semerkant şehrindeki medreselerle çevrili meydandır.</a:t>
            </a:r>
          </a:p>
        </p:txBody>
      </p:sp>
      <p:sp>
        <p:nvSpPr>
          <p:cNvPr id="32" name="Rounded Rectangle 31"/>
          <p:cNvSpPr/>
          <p:nvPr/>
        </p:nvSpPr>
        <p:spPr>
          <a:xfrm>
            <a:off x="411480" y="3611880"/>
            <a:ext cx="8321040" cy="1216152"/>
          </a:xfrm>
          <a:prstGeom prst="roundRect">
            <a:avLst>
              <a:gd name="adj" fmla="val 12000"/>
            </a:avLst>
          </a:prstGeom>
          <a:solidFill>
            <a:srgbClr val="1A2E5A"/>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594360" y="3611880"/>
            <a:ext cx="7955280" cy="1216152"/>
          </a:xfrm>
          <a:prstGeom prst="rect">
            <a:avLst/>
          </a:prstGeom>
          <a:noFill/>
        </p:spPr>
        <p:txBody>
          <a:bodyPr wrap="square" lIns="73152" tIns="45720" rIns="73152" bIns="45720" anchor="ctr"/>
          <a:lstStyle/>
          <a:p>
            <a:pPr algn="ctr">
              <a:lnSpc>
                <a:spcPct val="120000"/>
              </a:lnSpc>
            </a:pPr>
            <a:r>
              <a:rPr lang="tr-TR" sz="1500" b="1" i="1">
                <a:solidFill>
                  <a:srgbClr val="FFFFFF"/>
                </a:solidFill>
                <a:latin typeface="Calibri"/>
              </a:rPr>
              <a:t>“Üstte gök çökmedikçe, altta yer delinmedikçe, senin ilini ve töreni kim bozabilir?”</a:t>
            </a:r>
          </a:p>
          <a:p>
            <a:pPr algn="ctr">
              <a:lnSpc>
                <a:spcPct val="120000"/>
              </a:lnSpc>
            </a:pPr>
            <a:r>
              <a:rPr lang="tr-TR" sz="1500" b="1" i="0">
                <a:solidFill>
                  <a:srgbClr val="FBBF24"/>
                </a:solidFill>
                <a:latin typeface="Calibri"/>
              </a:rPr>
              <a:t>— Bilge Kağan, Orhun Yazıtları</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0"/>
            <a:ext cx="9144000" cy="65836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365760" y="0"/>
            <a:ext cx="6583680" cy="658368"/>
          </a:xfrm>
          <a:prstGeom prst="rect">
            <a:avLst/>
          </a:prstGeom>
          <a:noFill/>
        </p:spPr>
        <p:txBody>
          <a:bodyPr wrap="square" lIns="435102" tIns="45720" rIns="73152" bIns="45720" anchor="ctr"/>
          <a:lstStyle/>
          <a:p>
            <a:pPr algn="l"/>
            <a:r>
              <a:rPr lang="tr-TR" sz="1900" b="1" i="0">
                <a:solidFill>
                  <a:srgbClr val="FFFFFF"/>
                </a:solidFill>
                <a:latin typeface="Cambria"/>
              </a:rPr>
              <a:t>KUZEY KIBRIS TÜRK CUMHURİYETİ</a:t>
            </a:r>
          </a:p>
        </p:txBody>
      </p:sp>
      <p:pic>
        <p:nvPicPr>
          <p:cNvPr id="32" name="Picture 31" descr="1f3dd_fe0f.png"/>
          <p:cNvPicPr>
            <a:picLocks noChangeAspect="1"/>
          </p:cNvPicPr>
          <p:nvPr/>
        </p:nvPicPr>
        <p:blipFill>
          <a:blip r:embed="rId3"/>
          <a:stretch>
            <a:fillRect/>
          </a:stretch>
        </p:blipFill>
        <p:spPr>
          <a:xfrm>
            <a:off x="438912" y="190436"/>
            <a:ext cx="277495" cy="277495"/>
          </a:xfrm>
          <a:prstGeom prst="rect">
            <a:avLst/>
          </a:prstGeom>
        </p:spPr>
      </p:pic>
      <p:sp>
        <p:nvSpPr>
          <p:cNvPr id="7" name="Rounded Rectangle 6"/>
          <p:cNvSpPr/>
          <p:nvPr/>
        </p:nvSpPr>
        <p:spPr>
          <a:xfrm>
            <a:off x="411480" y="841248"/>
            <a:ext cx="2743200" cy="3977640"/>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411480" y="960120"/>
            <a:ext cx="2743200" cy="548640"/>
          </a:xfrm>
          <a:prstGeom prst="rect">
            <a:avLst/>
          </a:prstGeom>
          <a:noFill/>
        </p:spPr>
        <p:txBody>
          <a:bodyPr wrap="square" lIns="73152" tIns="45720" rIns="73152" bIns="45720" anchor="ctr"/>
          <a:lstStyle/>
          <a:p>
            <a:pPr algn="ctr"/>
            <a:r>
              <a:rPr lang="tr-TR" sz="3000" b="1" i="0">
                <a:solidFill>
                  <a:srgbClr val="DC2626"/>
                </a:solidFill>
                <a:latin typeface="Cambria"/>
              </a:rPr>
              <a:t>KKTC</a:t>
            </a:r>
          </a:p>
        </p:txBody>
      </p:sp>
      <p:sp>
        <p:nvSpPr>
          <p:cNvPr id="9" name="TextBox 8"/>
          <p:cNvSpPr txBox="1"/>
          <p:nvPr/>
        </p:nvSpPr>
        <p:spPr>
          <a:xfrm>
            <a:off x="502920" y="1508760"/>
            <a:ext cx="2560320" cy="365760"/>
          </a:xfrm>
          <a:prstGeom prst="rect">
            <a:avLst/>
          </a:prstGeom>
          <a:noFill/>
        </p:spPr>
        <p:txBody>
          <a:bodyPr wrap="square" lIns="73152" tIns="45720" rIns="73152" bIns="45720" anchor="ctr"/>
          <a:lstStyle/>
          <a:p>
            <a:pPr algn="ctr"/>
            <a:r>
              <a:rPr lang="tr-TR" sz="1400" b="1" i="0">
                <a:solidFill>
                  <a:srgbClr val="64748B"/>
                </a:solidFill>
                <a:latin typeface="Calibri"/>
              </a:rPr>
              <a:t>Kuruluş: 1983</a:t>
            </a:r>
          </a:p>
        </p:txBody>
      </p:sp>
      <p:pic>
        <p:nvPicPr>
          <p:cNvPr id="33" name="Picture 32" descr="1f3dd_fe0f.png"/>
          <p:cNvPicPr>
            <a:picLocks noChangeAspect="1"/>
          </p:cNvPicPr>
          <p:nvPr/>
        </p:nvPicPr>
        <p:blipFill>
          <a:blip r:embed="rId3"/>
          <a:stretch>
            <a:fillRect/>
          </a:stretch>
        </p:blipFill>
        <p:spPr>
          <a:xfrm>
            <a:off x="1371600" y="2011680"/>
            <a:ext cx="822960" cy="822960"/>
          </a:xfrm>
          <a:prstGeom prst="rect">
            <a:avLst/>
          </a:prstGeom>
        </p:spPr>
      </p:pic>
      <p:sp>
        <p:nvSpPr>
          <p:cNvPr id="11" name="TextBox 10"/>
          <p:cNvSpPr txBox="1"/>
          <p:nvPr/>
        </p:nvSpPr>
        <p:spPr>
          <a:xfrm>
            <a:off x="548640" y="3017520"/>
            <a:ext cx="2468880" cy="1691640"/>
          </a:xfrm>
          <a:prstGeom prst="rect">
            <a:avLst/>
          </a:prstGeom>
          <a:noFill/>
        </p:spPr>
        <p:txBody>
          <a:bodyPr wrap="square" lIns="73152" tIns="45720" rIns="73152" bIns="45720" anchor="ctr"/>
          <a:lstStyle/>
          <a:p>
            <a:pPr algn="ctr"/>
            <a:r>
              <a:rPr lang="tr-TR" sz="1300" b="1" i="1">
                <a:solidFill>
                  <a:srgbClr val="7C3AED"/>
                </a:solidFill>
                <a:latin typeface="Calibri"/>
              </a:rPr>
              <a:t>“Türkçe Türkiye’de, Kıbrıs’ta… ve senin evinde!”</a:t>
            </a:r>
          </a:p>
          <a:p>
            <a:pPr algn="ctr"/>
            <a:r>
              <a:rPr lang="tr-TR" sz="1100" b="0" i="1">
                <a:solidFill>
                  <a:srgbClr val="64748B"/>
                </a:solidFill>
                <a:latin typeface="Calibri"/>
              </a:rPr>
              <a:t>(Temel seviyesinden)</a:t>
            </a:r>
          </a:p>
        </p:txBody>
      </p:sp>
      <p:sp>
        <p:nvSpPr>
          <p:cNvPr id="12" name="Rounded Rectangle 11"/>
          <p:cNvSpPr/>
          <p:nvPr/>
        </p:nvSpPr>
        <p:spPr>
          <a:xfrm>
            <a:off x="3337560" y="841248"/>
            <a:ext cx="5394960" cy="704088"/>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4" name="Picture 33" descr="1f4cd.png"/>
          <p:cNvPicPr>
            <a:picLocks noChangeAspect="1"/>
          </p:cNvPicPr>
          <p:nvPr/>
        </p:nvPicPr>
        <p:blipFill>
          <a:blip r:embed="rId4"/>
          <a:stretch>
            <a:fillRect/>
          </a:stretch>
        </p:blipFill>
        <p:spPr>
          <a:xfrm>
            <a:off x="3532632" y="1040892"/>
            <a:ext cx="304800" cy="304800"/>
          </a:xfrm>
          <a:prstGeom prst="rect">
            <a:avLst/>
          </a:prstGeom>
        </p:spPr>
      </p:pic>
      <p:sp>
        <p:nvSpPr>
          <p:cNvPr id="14" name="TextBox 13"/>
          <p:cNvSpPr txBox="1"/>
          <p:nvPr/>
        </p:nvSpPr>
        <p:spPr>
          <a:xfrm>
            <a:off x="3977640" y="841248"/>
            <a:ext cx="1645920" cy="704088"/>
          </a:xfrm>
          <a:prstGeom prst="rect">
            <a:avLst/>
          </a:prstGeom>
          <a:noFill/>
        </p:spPr>
        <p:txBody>
          <a:bodyPr wrap="square" lIns="73152" tIns="45720" rIns="73152" bIns="45720" anchor="ctr"/>
          <a:lstStyle/>
          <a:p>
            <a:pPr algn="l"/>
            <a:r>
              <a:rPr lang="tr-TR" sz="1350" b="1" i="0">
                <a:solidFill>
                  <a:srgbClr val="2563EB"/>
                </a:solidFill>
                <a:latin typeface="Calibri"/>
              </a:rPr>
              <a:t>Konum</a:t>
            </a:r>
          </a:p>
        </p:txBody>
      </p:sp>
      <p:sp>
        <p:nvSpPr>
          <p:cNvPr id="15" name="TextBox 14"/>
          <p:cNvSpPr txBox="1"/>
          <p:nvPr/>
        </p:nvSpPr>
        <p:spPr>
          <a:xfrm>
            <a:off x="5623560" y="841248"/>
            <a:ext cx="3063240" cy="704088"/>
          </a:xfrm>
          <a:prstGeom prst="rect">
            <a:avLst/>
          </a:prstGeom>
          <a:noFill/>
        </p:spPr>
        <p:txBody>
          <a:bodyPr wrap="square" lIns="73152" tIns="45720" rIns="73152" bIns="45720" anchor="ctr"/>
          <a:lstStyle/>
          <a:p>
            <a:pPr algn="l"/>
            <a:r>
              <a:rPr lang="tr-TR" sz="1250" b="0" i="0">
                <a:solidFill>
                  <a:srgbClr val="1E293B"/>
                </a:solidFill>
                <a:latin typeface="Calibri"/>
              </a:rPr>
              <a:t>Doğu Akdeniz’de, Kıbrıs Adası’nın kuzeyindedir. Başkenti Lefkoşa’dır.</a:t>
            </a:r>
          </a:p>
        </p:txBody>
      </p:sp>
      <p:sp>
        <p:nvSpPr>
          <p:cNvPr id="16" name="Rounded Rectangle 15"/>
          <p:cNvSpPr/>
          <p:nvPr/>
        </p:nvSpPr>
        <p:spPr>
          <a:xfrm>
            <a:off x="3337560" y="1650492"/>
            <a:ext cx="5394960" cy="704088"/>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5" name="Picture 34" descr="1f3f0.png"/>
          <p:cNvPicPr>
            <a:picLocks noChangeAspect="1"/>
          </p:cNvPicPr>
          <p:nvPr/>
        </p:nvPicPr>
        <p:blipFill>
          <a:blip r:embed="rId5"/>
          <a:stretch>
            <a:fillRect/>
          </a:stretch>
        </p:blipFill>
        <p:spPr>
          <a:xfrm>
            <a:off x="3532632" y="1850136"/>
            <a:ext cx="304800" cy="304800"/>
          </a:xfrm>
          <a:prstGeom prst="rect">
            <a:avLst/>
          </a:prstGeom>
        </p:spPr>
      </p:pic>
      <p:sp>
        <p:nvSpPr>
          <p:cNvPr id="18" name="TextBox 17"/>
          <p:cNvSpPr txBox="1"/>
          <p:nvPr/>
        </p:nvSpPr>
        <p:spPr>
          <a:xfrm>
            <a:off x="3977640" y="1650492"/>
            <a:ext cx="1645920" cy="704088"/>
          </a:xfrm>
          <a:prstGeom prst="rect">
            <a:avLst/>
          </a:prstGeom>
          <a:noFill/>
        </p:spPr>
        <p:txBody>
          <a:bodyPr wrap="square" lIns="73152" tIns="45720" rIns="73152" bIns="45720" anchor="ctr"/>
          <a:lstStyle/>
          <a:p>
            <a:pPr algn="l"/>
            <a:r>
              <a:rPr lang="tr-TR" sz="1350" b="1" i="0">
                <a:solidFill>
                  <a:srgbClr val="0D9488"/>
                </a:solidFill>
                <a:latin typeface="Calibri"/>
              </a:rPr>
              <a:t>Mekânlar</a:t>
            </a:r>
          </a:p>
        </p:txBody>
      </p:sp>
      <p:sp>
        <p:nvSpPr>
          <p:cNvPr id="19" name="TextBox 18"/>
          <p:cNvSpPr txBox="1"/>
          <p:nvPr/>
        </p:nvSpPr>
        <p:spPr>
          <a:xfrm>
            <a:off x="5623560" y="1650492"/>
            <a:ext cx="3063240" cy="704088"/>
          </a:xfrm>
          <a:prstGeom prst="rect">
            <a:avLst/>
          </a:prstGeom>
          <a:noFill/>
        </p:spPr>
        <p:txBody>
          <a:bodyPr wrap="square" lIns="73152" tIns="45720" rIns="73152" bIns="45720" anchor="ctr"/>
          <a:lstStyle/>
          <a:p>
            <a:pPr algn="l"/>
            <a:r>
              <a:rPr lang="tr-TR" sz="1250" b="0" i="0">
                <a:solidFill>
                  <a:srgbClr val="1E293B"/>
                </a:solidFill>
                <a:latin typeface="Calibri"/>
              </a:rPr>
              <a:t>Girne Kalesi, Lefkoşa’daki Selimiye Camii ve Büyük Han</a:t>
            </a:r>
          </a:p>
        </p:txBody>
      </p:sp>
      <p:sp>
        <p:nvSpPr>
          <p:cNvPr id="20" name="Rounded Rectangle 19"/>
          <p:cNvSpPr/>
          <p:nvPr/>
        </p:nvSpPr>
        <p:spPr>
          <a:xfrm>
            <a:off x="3337560" y="2459736"/>
            <a:ext cx="5394960" cy="704088"/>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6" name="Picture 35" descr="1f42b.png"/>
          <p:cNvPicPr>
            <a:picLocks noChangeAspect="1"/>
          </p:cNvPicPr>
          <p:nvPr/>
        </p:nvPicPr>
        <p:blipFill>
          <a:blip r:embed="rId6"/>
          <a:stretch>
            <a:fillRect/>
          </a:stretch>
        </p:blipFill>
        <p:spPr>
          <a:xfrm>
            <a:off x="3532632" y="2659380"/>
            <a:ext cx="304800" cy="304800"/>
          </a:xfrm>
          <a:prstGeom prst="rect">
            <a:avLst/>
          </a:prstGeom>
        </p:spPr>
      </p:pic>
      <p:sp>
        <p:nvSpPr>
          <p:cNvPr id="22" name="TextBox 21"/>
          <p:cNvSpPr txBox="1"/>
          <p:nvPr/>
        </p:nvSpPr>
        <p:spPr>
          <a:xfrm>
            <a:off x="3977640" y="2459736"/>
            <a:ext cx="1645920" cy="704088"/>
          </a:xfrm>
          <a:prstGeom prst="rect">
            <a:avLst/>
          </a:prstGeom>
          <a:noFill/>
        </p:spPr>
        <p:txBody>
          <a:bodyPr wrap="square" lIns="73152" tIns="45720" rIns="73152" bIns="45720" anchor="ctr"/>
          <a:lstStyle/>
          <a:p>
            <a:pPr algn="l"/>
            <a:r>
              <a:rPr lang="tr-TR" sz="1350" b="1" i="0" dirty="0" smtClean="0">
                <a:solidFill>
                  <a:srgbClr val="F97316"/>
                </a:solidFill>
                <a:latin typeface="Calibri"/>
              </a:rPr>
              <a:t>Hatırla</a:t>
            </a:r>
            <a:endParaRPr lang="tr-TR" sz="1350" b="1" i="0" dirty="0">
              <a:solidFill>
                <a:srgbClr val="F97316"/>
              </a:solidFill>
              <a:latin typeface="Calibri"/>
            </a:endParaRPr>
          </a:p>
        </p:txBody>
      </p:sp>
      <p:sp>
        <p:nvSpPr>
          <p:cNvPr id="23" name="TextBox 22"/>
          <p:cNvSpPr txBox="1"/>
          <p:nvPr/>
        </p:nvSpPr>
        <p:spPr>
          <a:xfrm>
            <a:off x="5623560" y="2459736"/>
            <a:ext cx="3063240" cy="704088"/>
          </a:xfrm>
          <a:prstGeom prst="rect">
            <a:avLst/>
          </a:prstGeom>
          <a:noFill/>
        </p:spPr>
        <p:txBody>
          <a:bodyPr wrap="square" lIns="73152" tIns="45720" rIns="73152" bIns="45720" anchor="ctr"/>
          <a:lstStyle/>
          <a:p>
            <a:pPr algn="l"/>
            <a:r>
              <a:rPr lang="tr-TR" sz="1250" b="0" i="0">
                <a:solidFill>
                  <a:srgbClr val="1E293B"/>
                </a:solidFill>
                <a:latin typeface="Calibri"/>
              </a:rPr>
              <a:t>Büyük Han, Osmanlılar tarafından 1572’de yapılmış bir handır.</a:t>
            </a:r>
          </a:p>
        </p:txBody>
      </p:sp>
      <p:sp>
        <p:nvSpPr>
          <p:cNvPr id="24" name="Rounded Rectangle 23"/>
          <p:cNvSpPr/>
          <p:nvPr/>
        </p:nvSpPr>
        <p:spPr>
          <a:xfrm>
            <a:off x="3337560" y="3268980"/>
            <a:ext cx="5394960" cy="704088"/>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7" name="Picture 36" descr="1f464.png"/>
          <p:cNvPicPr>
            <a:picLocks noChangeAspect="1"/>
          </p:cNvPicPr>
          <p:nvPr/>
        </p:nvPicPr>
        <p:blipFill>
          <a:blip r:embed="rId7"/>
          <a:stretch>
            <a:fillRect/>
          </a:stretch>
        </p:blipFill>
        <p:spPr>
          <a:xfrm>
            <a:off x="3532632" y="3468624"/>
            <a:ext cx="304800" cy="304800"/>
          </a:xfrm>
          <a:prstGeom prst="rect">
            <a:avLst/>
          </a:prstGeom>
        </p:spPr>
      </p:pic>
      <p:sp>
        <p:nvSpPr>
          <p:cNvPr id="26" name="TextBox 25"/>
          <p:cNvSpPr txBox="1"/>
          <p:nvPr/>
        </p:nvSpPr>
        <p:spPr>
          <a:xfrm>
            <a:off x="3977640" y="3268980"/>
            <a:ext cx="1645920" cy="704088"/>
          </a:xfrm>
          <a:prstGeom prst="rect">
            <a:avLst/>
          </a:prstGeom>
          <a:noFill/>
        </p:spPr>
        <p:txBody>
          <a:bodyPr wrap="square" lIns="73152" tIns="45720" rIns="73152" bIns="45720" anchor="ctr"/>
          <a:lstStyle/>
          <a:p>
            <a:pPr algn="l"/>
            <a:r>
              <a:rPr lang="tr-TR" sz="1350" b="1" i="0">
                <a:solidFill>
                  <a:srgbClr val="7C3AED"/>
                </a:solidFill>
                <a:latin typeface="Calibri"/>
              </a:rPr>
              <a:t>Tarihî şahsiyetler</a:t>
            </a:r>
          </a:p>
        </p:txBody>
      </p:sp>
      <p:sp>
        <p:nvSpPr>
          <p:cNvPr id="27" name="TextBox 26"/>
          <p:cNvSpPr txBox="1"/>
          <p:nvPr/>
        </p:nvSpPr>
        <p:spPr>
          <a:xfrm>
            <a:off x="5623560" y="3268980"/>
            <a:ext cx="3063240" cy="704088"/>
          </a:xfrm>
          <a:prstGeom prst="rect">
            <a:avLst/>
          </a:prstGeom>
          <a:noFill/>
        </p:spPr>
        <p:txBody>
          <a:bodyPr wrap="square" lIns="73152" tIns="45720" rIns="73152" bIns="45720" anchor="ctr"/>
          <a:lstStyle/>
          <a:p>
            <a:pPr algn="l"/>
            <a:r>
              <a:rPr lang="tr-TR" sz="1250" b="0" i="0">
                <a:solidFill>
                  <a:srgbClr val="1E293B"/>
                </a:solidFill>
                <a:latin typeface="Calibri"/>
              </a:rPr>
              <a:t>Dr. Fazıl Küçük ve Rauf Raif Denktaş</a:t>
            </a:r>
          </a:p>
        </p:txBody>
      </p:sp>
      <p:sp>
        <p:nvSpPr>
          <p:cNvPr id="28" name="Rounded Rectangle 27"/>
          <p:cNvSpPr/>
          <p:nvPr/>
        </p:nvSpPr>
        <p:spPr>
          <a:xfrm>
            <a:off x="3337560" y="4078224"/>
            <a:ext cx="5394960" cy="704088"/>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8" name="Picture 37" descr="1f9c0.png"/>
          <p:cNvPicPr>
            <a:picLocks noChangeAspect="1"/>
          </p:cNvPicPr>
          <p:nvPr/>
        </p:nvPicPr>
        <p:blipFill>
          <a:blip r:embed="rId8"/>
          <a:stretch>
            <a:fillRect/>
          </a:stretch>
        </p:blipFill>
        <p:spPr>
          <a:xfrm>
            <a:off x="3532632" y="4277868"/>
            <a:ext cx="304800" cy="304800"/>
          </a:xfrm>
          <a:prstGeom prst="rect">
            <a:avLst/>
          </a:prstGeom>
        </p:spPr>
      </p:pic>
      <p:sp>
        <p:nvSpPr>
          <p:cNvPr id="30" name="TextBox 29"/>
          <p:cNvSpPr txBox="1"/>
          <p:nvPr/>
        </p:nvSpPr>
        <p:spPr>
          <a:xfrm>
            <a:off x="3977640" y="4078224"/>
            <a:ext cx="1645920" cy="704088"/>
          </a:xfrm>
          <a:prstGeom prst="rect">
            <a:avLst/>
          </a:prstGeom>
          <a:noFill/>
        </p:spPr>
        <p:txBody>
          <a:bodyPr wrap="square" lIns="73152" tIns="45720" rIns="73152" bIns="45720" anchor="ctr"/>
          <a:lstStyle/>
          <a:p>
            <a:pPr algn="l"/>
            <a:r>
              <a:rPr lang="tr-TR" sz="1350" b="1" i="0">
                <a:solidFill>
                  <a:srgbClr val="16A34A"/>
                </a:solidFill>
                <a:latin typeface="Calibri"/>
              </a:rPr>
              <a:t>Kültür ve lezzet</a:t>
            </a:r>
          </a:p>
        </p:txBody>
      </p:sp>
      <p:sp>
        <p:nvSpPr>
          <p:cNvPr id="31" name="TextBox 30"/>
          <p:cNvSpPr txBox="1"/>
          <p:nvPr/>
        </p:nvSpPr>
        <p:spPr>
          <a:xfrm>
            <a:off x="5623560" y="4078224"/>
            <a:ext cx="3063240" cy="704088"/>
          </a:xfrm>
          <a:prstGeom prst="rect">
            <a:avLst/>
          </a:prstGeom>
          <a:noFill/>
        </p:spPr>
        <p:txBody>
          <a:bodyPr wrap="square" lIns="73152" tIns="45720" rIns="73152" bIns="45720" anchor="ctr"/>
          <a:lstStyle/>
          <a:p>
            <a:pPr algn="l"/>
            <a:r>
              <a:rPr lang="tr-TR" sz="1250" b="0" i="0">
                <a:solidFill>
                  <a:srgbClr val="1E293B"/>
                </a:solidFill>
                <a:latin typeface="Calibri"/>
              </a:rPr>
              <a:t>Hellim peyniri ve molehiya meşhurdur.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0F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0"/>
            <a:ext cx="9144000" cy="658368"/>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365760" y="0"/>
            <a:ext cx="6583680" cy="658368"/>
          </a:xfrm>
          <a:prstGeom prst="rect">
            <a:avLst/>
          </a:prstGeom>
          <a:noFill/>
        </p:spPr>
        <p:txBody>
          <a:bodyPr wrap="square" lIns="435102" tIns="45720" rIns="73152" bIns="45720" anchor="ctr"/>
          <a:lstStyle/>
          <a:p>
            <a:pPr algn="l"/>
            <a:r>
              <a:rPr lang="tr-TR" sz="1900" b="1" i="0">
                <a:solidFill>
                  <a:srgbClr val="FFFFFF"/>
                </a:solidFill>
                <a:latin typeface="Cambria"/>
              </a:rPr>
              <a:t>MEKÂNLARIN DİLİ: KÜLLİYE, DERGÂH, TEKKE</a:t>
            </a:r>
          </a:p>
        </p:txBody>
      </p:sp>
      <p:pic>
        <p:nvPicPr>
          <p:cNvPr id="41" name="Picture 40" descr="1f54c.png"/>
          <p:cNvPicPr>
            <a:picLocks noChangeAspect="1"/>
          </p:cNvPicPr>
          <p:nvPr/>
        </p:nvPicPr>
        <p:blipFill>
          <a:blip r:embed="rId3"/>
          <a:stretch>
            <a:fillRect/>
          </a:stretch>
        </p:blipFill>
        <p:spPr>
          <a:xfrm>
            <a:off x="438912" y="190436"/>
            <a:ext cx="277495" cy="277495"/>
          </a:xfrm>
          <a:prstGeom prst="rect">
            <a:avLst/>
          </a:prstGeom>
        </p:spPr>
      </p:pic>
      <p:sp>
        <p:nvSpPr>
          <p:cNvPr id="7" name="TextBox 6"/>
          <p:cNvSpPr txBox="1"/>
          <p:nvPr/>
        </p:nvSpPr>
        <p:spPr>
          <a:xfrm>
            <a:off x="411480" y="731520"/>
            <a:ext cx="1737360" cy="384048"/>
          </a:xfrm>
          <a:prstGeom prst="rect">
            <a:avLst/>
          </a:prstGeom>
          <a:noFill/>
        </p:spPr>
        <p:txBody>
          <a:bodyPr wrap="square" lIns="73152" tIns="45720" rIns="73152" bIns="45720" anchor="ctr"/>
          <a:lstStyle/>
          <a:p>
            <a:pPr algn="l"/>
            <a:r>
              <a:rPr lang="tr-TR" sz="1250" b="1" i="0">
                <a:solidFill>
                  <a:srgbClr val="64748B"/>
                </a:solidFill>
                <a:latin typeface="Calibri"/>
              </a:rPr>
              <a:t>Orta’da öğrendik:</a:t>
            </a:r>
          </a:p>
        </p:txBody>
      </p:sp>
      <p:sp>
        <p:nvSpPr>
          <p:cNvPr id="8" name="Rounded Rectangle 7"/>
          <p:cNvSpPr/>
          <p:nvPr/>
        </p:nvSpPr>
        <p:spPr>
          <a:xfrm>
            <a:off x="2103120" y="768096"/>
            <a:ext cx="1234440" cy="310896"/>
          </a:xfrm>
          <a:prstGeom prst="roundRect">
            <a:avLst>
              <a:gd name="adj" fmla="val 50000"/>
            </a:avLst>
          </a:prstGeom>
          <a:solidFill>
            <a:srgbClr val="DCFCE7"/>
          </a:solidFill>
          <a:ln w="15875">
            <a:solidFill>
              <a:srgbClr val="86EFA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2103120" y="768096"/>
            <a:ext cx="1234440" cy="310896"/>
          </a:xfrm>
          <a:prstGeom prst="rect">
            <a:avLst/>
          </a:prstGeom>
          <a:noFill/>
        </p:spPr>
        <p:txBody>
          <a:bodyPr wrap="square" lIns="0" tIns="45720" rIns="0" bIns="45720" anchor="ctr"/>
          <a:lstStyle/>
          <a:p>
            <a:pPr algn="ctr"/>
            <a:r>
              <a:rPr lang="tr-TR" sz="1150" b="1" i="0">
                <a:solidFill>
                  <a:srgbClr val="16A34A"/>
                </a:solidFill>
                <a:latin typeface="Calibri"/>
              </a:rPr>
              <a:t>Cami</a:t>
            </a:r>
          </a:p>
        </p:txBody>
      </p:sp>
      <p:sp>
        <p:nvSpPr>
          <p:cNvPr id="10" name="Rounded Rectangle 9"/>
          <p:cNvSpPr/>
          <p:nvPr/>
        </p:nvSpPr>
        <p:spPr>
          <a:xfrm>
            <a:off x="3429000" y="768096"/>
            <a:ext cx="1234440" cy="310896"/>
          </a:xfrm>
          <a:prstGeom prst="roundRect">
            <a:avLst>
              <a:gd name="adj" fmla="val 50000"/>
            </a:avLst>
          </a:prstGeom>
          <a:solidFill>
            <a:srgbClr val="DCFCE7"/>
          </a:solidFill>
          <a:ln w="15875">
            <a:solidFill>
              <a:srgbClr val="86EFA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3429000" y="768096"/>
            <a:ext cx="1234440" cy="310896"/>
          </a:xfrm>
          <a:prstGeom prst="rect">
            <a:avLst/>
          </a:prstGeom>
          <a:noFill/>
        </p:spPr>
        <p:txBody>
          <a:bodyPr wrap="square" lIns="0" tIns="45720" rIns="0" bIns="45720" anchor="ctr"/>
          <a:lstStyle/>
          <a:p>
            <a:pPr algn="ctr"/>
            <a:r>
              <a:rPr lang="tr-TR" sz="1150" b="1" i="0">
                <a:solidFill>
                  <a:srgbClr val="16A34A"/>
                </a:solidFill>
                <a:latin typeface="Calibri"/>
              </a:rPr>
              <a:t>Çeşme</a:t>
            </a:r>
          </a:p>
        </p:txBody>
      </p:sp>
      <p:sp>
        <p:nvSpPr>
          <p:cNvPr id="12" name="Rounded Rectangle 11"/>
          <p:cNvSpPr/>
          <p:nvPr/>
        </p:nvSpPr>
        <p:spPr>
          <a:xfrm>
            <a:off x="4754880" y="768096"/>
            <a:ext cx="1234440" cy="310896"/>
          </a:xfrm>
          <a:prstGeom prst="roundRect">
            <a:avLst>
              <a:gd name="adj" fmla="val 50000"/>
            </a:avLst>
          </a:prstGeom>
          <a:solidFill>
            <a:srgbClr val="DCFCE7"/>
          </a:solidFill>
          <a:ln w="15875">
            <a:solidFill>
              <a:srgbClr val="86EFA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4754880" y="768096"/>
            <a:ext cx="1234440" cy="310896"/>
          </a:xfrm>
          <a:prstGeom prst="rect">
            <a:avLst/>
          </a:prstGeom>
          <a:noFill/>
        </p:spPr>
        <p:txBody>
          <a:bodyPr wrap="square" lIns="0" tIns="45720" rIns="0" bIns="45720" anchor="ctr"/>
          <a:lstStyle/>
          <a:p>
            <a:pPr algn="ctr"/>
            <a:r>
              <a:rPr lang="tr-TR" sz="1150" b="1" i="0">
                <a:solidFill>
                  <a:srgbClr val="16A34A"/>
                </a:solidFill>
                <a:latin typeface="Calibri"/>
              </a:rPr>
              <a:t>Köprü</a:t>
            </a:r>
          </a:p>
        </p:txBody>
      </p:sp>
      <p:sp>
        <p:nvSpPr>
          <p:cNvPr id="14" name="Rounded Rectangle 13"/>
          <p:cNvSpPr/>
          <p:nvPr/>
        </p:nvSpPr>
        <p:spPr>
          <a:xfrm>
            <a:off x="6080760" y="768096"/>
            <a:ext cx="1234440" cy="310896"/>
          </a:xfrm>
          <a:prstGeom prst="roundRect">
            <a:avLst>
              <a:gd name="adj" fmla="val 50000"/>
            </a:avLst>
          </a:prstGeom>
          <a:solidFill>
            <a:srgbClr val="DCFCE7"/>
          </a:solidFill>
          <a:ln w="15875">
            <a:solidFill>
              <a:srgbClr val="86EFA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080760" y="768096"/>
            <a:ext cx="1234440" cy="310896"/>
          </a:xfrm>
          <a:prstGeom prst="rect">
            <a:avLst/>
          </a:prstGeom>
          <a:noFill/>
        </p:spPr>
        <p:txBody>
          <a:bodyPr wrap="square" lIns="0" tIns="45720" rIns="0" bIns="45720" anchor="ctr"/>
          <a:lstStyle/>
          <a:p>
            <a:pPr algn="ctr"/>
            <a:r>
              <a:rPr lang="tr-TR" sz="1150" b="1" i="0">
                <a:solidFill>
                  <a:srgbClr val="16A34A"/>
                </a:solidFill>
                <a:latin typeface="Calibri"/>
              </a:rPr>
              <a:t>Kervansaray</a:t>
            </a:r>
          </a:p>
        </p:txBody>
      </p:sp>
      <p:sp>
        <p:nvSpPr>
          <p:cNvPr id="16" name="Rounded Rectangle 15"/>
          <p:cNvSpPr/>
          <p:nvPr/>
        </p:nvSpPr>
        <p:spPr>
          <a:xfrm>
            <a:off x="7406640" y="768096"/>
            <a:ext cx="1234440" cy="310896"/>
          </a:xfrm>
          <a:prstGeom prst="roundRect">
            <a:avLst>
              <a:gd name="adj" fmla="val 50000"/>
            </a:avLst>
          </a:prstGeom>
          <a:solidFill>
            <a:srgbClr val="DCFCE7"/>
          </a:solidFill>
          <a:ln w="15875">
            <a:solidFill>
              <a:srgbClr val="86EFA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406640" y="768096"/>
            <a:ext cx="1234440" cy="310896"/>
          </a:xfrm>
          <a:prstGeom prst="rect">
            <a:avLst/>
          </a:prstGeom>
          <a:noFill/>
        </p:spPr>
        <p:txBody>
          <a:bodyPr wrap="square" lIns="0" tIns="45720" rIns="0" bIns="45720" anchor="ctr"/>
          <a:lstStyle/>
          <a:p>
            <a:pPr algn="ctr"/>
            <a:r>
              <a:rPr lang="tr-TR" sz="1150" b="1" i="0">
                <a:solidFill>
                  <a:srgbClr val="16A34A"/>
                </a:solidFill>
                <a:latin typeface="Calibri"/>
              </a:rPr>
              <a:t>Medrese</a:t>
            </a:r>
          </a:p>
        </p:txBody>
      </p:sp>
      <p:sp>
        <p:nvSpPr>
          <p:cNvPr id="18" name="Rounded Rectangle 17"/>
          <p:cNvSpPr/>
          <p:nvPr/>
        </p:nvSpPr>
        <p:spPr>
          <a:xfrm>
            <a:off x="411480" y="1261872"/>
            <a:ext cx="2706624" cy="2286000"/>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ounded Rectangle 18"/>
          <p:cNvSpPr/>
          <p:nvPr/>
        </p:nvSpPr>
        <p:spPr>
          <a:xfrm>
            <a:off x="411480" y="1261872"/>
            <a:ext cx="2706624" cy="438912"/>
          </a:xfrm>
          <a:prstGeom prst="roundRect">
            <a:avLst>
              <a:gd name="adj" fmla="val 20000"/>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411480" y="1261872"/>
            <a:ext cx="2706624" cy="438912"/>
          </a:xfrm>
          <a:prstGeom prst="rect">
            <a:avLst/>
          </a:prstGeom>
          <a:noFill/>
        </p:spPr>
        <p:txBody>
          <a:bodyPr wrap="square" lIns="0" tIns="45720" rIns="0" bIns="45720" anchor="ctr"/>
          <a:lstStyle/>
          <a:p>
            <a:pPr algn="ctr"/>
            <a:r>
              <a:rPr lang="tr-TR" sz="1600" b="1" i="0">
                <a:solidFill>
                  <a:srgbClr val="FFFFFF"/>
                </a:solidFill>
                <a:latin typeface="Calibri"/>
              </a:rPr>
              <a:t>Külliye</a:t>
            </a:r>
          </a:p>
        </p:txBody>
      </p:sp>
      <p:pic>
        <p:nvPicPr>
          <p:cNvPr id="42" name="Picture 41" descr="1f54c.png"/>
          <p:cNvPicPr>
            <a:picLocks noChangeAspect="1"/>
          </p:cNvPicPr>
          <p:nvPr/>
        </p:nvPicPr>
        <p:blipFill>
          <a:blip r:embed="rId3"/>
          <a:stretch>
            <a:fillRect/>
          </a:stretch>
        </p:blipFill>
        <p:spPr>
          <a:xfrm>
            <a:off x="612648" y="1874520"/>
            <a:ext cx="365760" cy="365760"/>
          </a:xfrm>
          <a:prstGeom prst="rect">
            <a:avLst/>
          </a:prstGeom>
        </p:spPr>
      </p:pic>
      <p:sp>
        <p:nvSpPr>
          <p:cNvPr id="22" name="TextBox 21"/>
          <p:cNvSpPr txBox="1"/>
          <p:nvPr/>
        </p:nvSpPr>
        <p:spPr>
          <a:xfrm>
            <a:off x="1097280" y="1755648"/>
            <a:ext cx="1965960" cy="1051560"/>
          </a:xfrm>
          <a:prstGeom prst="rect">
            <a:avLst/>
          </a:prstGeom>
          <a:noFill/>
        </p:spPr>
        <p:txBody>
          <a:bodyPr wrap="square" lIns="73152" tIns="45720" rIns="73152" bIns="45720" anchor="t"/>
          <a:lstStyle/>
          <a:p>
            <a:pPr algn="l"/>
            <a:r>
              <a:rPr lang="tr-TR" sz="1250" b="0" i="0">
                <a:solidFill>
                  <a:srgbClr val="1E293B"/>
                </a:solidFill>
                <a:latin typeface="Calibri"/>
              </a:rPr>
              <a:t>Cami çevresinde medrese, aşevi, hamam ve şifahaneden oluşan yapı topluluğu.</a:t>
            </a:r>
          </a:p>
        </p:txBody>
      </p:sp>
      <p:sp>
        <p:nvSpPr>
          <p:cNvPr id="23" name="Rounded Rectangle 22"/>
          <p:cNvSpPr/>
          <p:nvPr/>
        </p:nvSpPr>
        <p:spPr>
          <a:xfrm>
            <a:off x="521208" y="2834640"/>
            <a:ext cx="2487168" cy="603504"/>
          </a:xfrm>
          <a:prstGeom prst="roundRect">
            <a:avLst>
              <a:gd name="adj" fmla="val 2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521208" y="2834640"/>
            <a:ext cx="2487168" cy="603504"/>
          </a:xfrm>
          <a:prstGeom prst="rect">
            <a:avLst/>
          </a:prstGeom>
          <a:noFill/>
        </p:spPr>
        <p:txBody>
          <a:bodyPr wrap="square" lIns="73152" tIns="45720" rIns="73152" bIns="45720" anchor="ctr"/>
          <a:lstStyle/>
          <a:p>
            <a:pPr algn="ctr"/>
            <a:r>
              <a:rPr lang="tr-TR" sz="1200" b="1" i="0">
                <a:solidFill>
                  <a:srgbClr val="16A34A"/>
                </a:solidFill>
                <a:latin typeface="Calibri"/>
              </a:rPr>
              <a:t>Örnek: </a:t>
            </a:r>
            <a:r>
              <a:rPr lang="tr-TR" sz="1200" b="0" i="0">
                <a:solidFill>
                  <a:srgbClr val="1E293B"/>
                </a:solidFill>
                <a:latin typeface="Calibri"/>
              </a:rPr>
              <a:t>Süleymaniye Külliyesi (İstanbul)</a:t>
            </a:r>
          </a:p>
        </p:txBody>
      </p:sp>
      <p:sp>
        <p:nvSpPr>
          <p:cNvPr id="25" name="Rounded Rectangle 24"/>
          <p:cNvSpPr/>
          <p:nvPr/>
        </p:nvSpPr>
        <p:spPr>
          <a:xfrm>
            <a:off x="3218688" y="1261872"/>
            <a:ext cx="2706624" cy="2286000"/>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Rounded Rectangle 25"/>
          <p:cNvSpPr/>
          <p:nvPr/>
        </p:nvSpPr>
        <p:spPr>
          <a:xfrm>
            <a:off x="3218688" y="1261872"/>
            <a:ext cx="2706624" cy="438912"/>
          </a:xfrm>
          <a:prstGeom prst="roundRect">
            <a:avLst>
              <a:gd name="adj" fmla="val 2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3218688" y="1261872"/>
            <a:ext cx="2706624" cy="438912"/>
          </a:xfrm>
          <a:prstGeom prst="rect">
            <a:avLst/>
          </a:prstGeom>
          <a:noFill/>
        </p:spPr>
        <p:txBody>
          <a:bodyPr wrap="square" lIns="0" tIns="45720" rIns="0" bIns="45720" anchor="ctr"/>
          <a:lstStyle/>
          <a:p>
            <a:pPr algn="ctr"/>
            <a:r>
              <a:rPr lang="tr-TR" sz="1600" b="1" i="0">
                <a:solidFill>
                  <a:srgbClr val="FFFFFF"/>
                </a:solidFill>
                <a:latin typeface="Calibri"/>
              </a:rPr>
              <a:t>Dergâh</a:t>
            </a:r>
          </a:p>
        </p:txBody>
      </p:sp>
      <p:pic>
        <p:nvPicPr>
          <p:cNvPr id="43" name="Picture 42" descr="1f56f_fe0f.png"/>
          <p:cNvPicPr>
            <a:picLocks noChangeAspect="1"/>
          </p:cNvPicPr>
          <p:nvPr/>
        </p:nvPicPr>
        <p:blipFill>
          <a:blip r:embed="rId4"/>
          <a:stretch>
            <a:fillRect/>
          </a:stretch>
        </p:blipFill>
        <p:spPr>
          <a:xfrm>
            <a:off x="3419856" y="1874520"/>
            <a:ext cx="365760" cy="365760"/>
          </a:xfrm>
          <a:prstGeom prst="rect">
            <a:avLst/>
          </a:prstGeom>
        </p:spPr>
      </p:pic>
      <p:sp>
        <p:nvSpPr>
          <p:cNvPr id="29" name="TextBox 28"/>
          <p:cNvSpPr txBox="1"/>
          <p:nvPr/>
        </p:nvSpPr>
        <p:spPr>
          <a:xfrm>
            <a:off x="3904488" y="1755648"/>
            <a:ext cx="1965960" cy="1051560"/>
          </a:xfrm>
          <a:prstGeom prst="rect">
            <a:avLst/>
          </a:prstGeom>
          <a:noFill/>
        </p:spPr>
        <p:txBody>
          <a:bodyPr wrap="square" lIns="73152" tIns="45720" rIns="73152" bIns="45720" anchor="t"/>
          <a:lstStyle/>
          <a:p>
            <a:pPr algn="l"/>
            <a:r>
              <a:rPr lang="tr-TR" sz="1250" b="0" i="0">
                <a:solidFill>
                  <a:srgbClr val="1E293B"/>
                </a:solidFill>
                <a:latin typeface="Calibri"/>
              </a:rPr>
              <a:t>Tasavvuf büyüklerinin sohbet ve eğitim yaptığı yer.</a:t>
            </a:r>
          </a:p>
        </p:txBody>
      </p:sp>
      <p:sp>
        <p:nvSpPr>
          <p:cNvPr id="30" name="Rounded Rectangle 29"/>
          <p:cNvSpPr/>
          <p:nvPr/>
        </p:nvSpPr>
        <p:spPr>
          <a:xfrm>
            <a:off x="3328416" y="2834640"/>
            <a:ext cx="2487168" cy="603504"/>
          </a:xfrm>
          <a:prstGeom prst="roundRect">
            <a:avLst>
              <a:gd name="adj" fmla="val 2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3328416" y="2834640"/>
            <a:ext cx="2487168" cy="603504"/>
          </a:xfrm>
          <a:prstGeom prst="rect">
            <a:avLst/>
          </a:prstGeom>
          <a:noFill/>
        </p:spPr>
        <p:txBody>
          <a:bodyPr wrap="square" lIns="73152" tIns="45720" rIns="73152" bIns="45720" anchor="ctr"/>
          <a:lstStyle/>
          <a:p>
            <a:pPr algn="ctr"/>
            <a:r>
              <a:rPr lang="tr-TR" sz="1200" b="1" i="0">
                <a:solidFill>
                  <a:srgbClr val="7C3AED"/>
                </a:solidFill>
                <a:latin typeface="Calibri"/>
              </a:rPr>
              <a:t>Örnek: </a:t>
            </a:r>
            <a:r>
              <a:rPr lang="tr-TR" sz="1200" b="0" i="0">
                <a:solidFill>
                  <a:srgbClr val="1E293B"/>
                </a:solidFill>
                <a:latin typeface="Calibri"/>
              </a:rPr>
              <a:t>Mevlana Dergâhı (Konya)</a:t>
            </a:r>
          </a:p>
        </p:txBody>
      </p:sp>
      <p:sp>
        <p:nvSpPr>
          <p:cNvPr id="32" name="Rounded Rectangle 31"/>
          <p:cNvSpPr/>
          <p:nvPr/>
        </p:nvSpPr>
        <p:spPr>
          <a:xfrm>
            <a:off x="6025896" y="1261872"/>
            <a:ext cx="2706624" cy="2286000"/>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Rounded Rectangle 32"/>
          <p:cNvSpPr/>
          <p:nvPr/>
        </p:nvSpPr>
        <p:spPr>
          <a:xfrm>
            <a:off x="6025896" y="1261872"/>
            <a:ext cx="2706624" cy="438912"/>
          </a:xfrm>
          <a:prstGeom prst="roundRect">
            <a:avLst>
              <a:gd name="adj" fmla="val 20000"/>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6025896" y="1261872"/>
            <a:ext cx="2706624" cy="438912"/>
          </a:xfrm>
          <a:prstGeom prst="rect">
            <a:avLst/>
          </a:prstGeom>
          <a:noFill/>
        </p:spPr>
        <p:txBody>
          <a:bodyPr wrap="square" lIns="0" tIns="45720" rIns="0" bIns="45720" anchor="ctr"/>
          <a:lstStyle/>
          <a:p>
            <a:pPr algn="ctr"/>
            <a:r>
              <a:rPr lang="tr-TR" sz="1600" b="1" i="0">
                <a:solidFill>
                  <a:srgbClr val="FFFFFF"/>
                </a:solidFill>
                <a:latin typeface="Calibri"/>
              </a:rPr>
              <a:t>Tekke</a:t>
            </a:r>
          </a:p>
        </p:txBody>
      </p:sp>
      <p:pic>
        <p:nvPicPr>
          <p:cNvPr id="44" name="Picture 43" descr="1f3e0.png"/>
          <p:cNvPicPr>
            <a:picLocks noChangeAspect="1"/>
          </p:cNvPicPr>
          <p:nvPr/>
        </p:nvPicPr>
        <p:blipFill>
          <a:blip r:embed="rId5"/>
          <a:stretch>
            <a:fillRect/>
          </a:stretch>
        </p:blipFill>
        <p:spPr>
          <a:xfrm>
            <a:off x="6227064" y="1874520"/>
            <a:ext cx="365760" cy="365760"/>
          </a:xfrm>
          <a:prstGeom prst="rect">
            <a:avLst/>
          </a:prstGeom>
        </p:spPr>
      </p:pic>
      <p:sp>
        <p:nvSpPr>
          <p:cNvPr id="36" name="TextBox 35"/>
          <p:cNvSpPr txBox="1"/>
          <p:nvPr/>
        </p:nvSpPr>
        <p:spPr>
          <a:xfrm>
            <a:off x="6711696" y="1755648"/>
            <a:ext cx="1965960" cy="1051560"/>
          </a:xfrm>
          <a:prstGeom prst="rect">
            <a:avLst/>
          </a:prstGeom>
          <a:noFill/>
        </p:spPr>
        <p:txBody>
          <a:bodyPr wrap="square" lIns="73152" tIns="45720" rIns="73152" bIns="45720" anchor="t"/>
          <a:lstStyle/>
          <a:p>
            <a:pPr algn="l"/>
            <a:r>
              <a:rPr lang="tr-TR" sz="1250" b="0" i="0">
                <a:solidFill>
                  <a:srgbClr val="1E293B"/>
                </a:solidFill>
                <a:latin typeface="Calibri"/>
              </a:rPr>
              <a:t>Bir tarikatın toplandığı, eğitim ve ibadet yeri.</a:t>
            </a:r>
          </a:p>
        </p:txBody>
      </p:sp>
      <p:sp>
        <p:nvSpPr>
          <p:cNvPr id="37" name="Rounded Rectangle 36"/>
          <p:cNvSpPr/>
          <p:nvPr/>
        </p:nvSpPr>
        <p:spPr>
          <a:xfrm>
            <a:off x="6135624" y="2834640"/>
            <a:ext cx="2487168" cy="603504"/>
          </a:xfrm>
          <a:prstGeom prst="roundRect">
            <a:avLst>
              <a:gd name="adj" fmla="val 20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6135624" y="2834640"/>
            <a:ext cx="2487168" cy="603504"/>
          </a:xfrm>
          <a:prstGeom prst="rect">
            <a:avLst/>
          </a:prstGeom>
          <a:noFill/>
        </p:spPr>
        <p:txBody>
          <a:bodyPr wrap="square" lIns="73152" tIns="45720" rIns="73152" bIns="45720" anchor="ctr"/>
          <a:lstStyle/>
          <a:p>
            <a:pPr algn="ctr"/>
            <a:r>
              <a:rPr lang="tr-TR" sz="1200" b="1" i="0">
                <a:solidFill>
                  <a:srgbClr val="F97316"/>
                </a:solidFill>
                <a:latin typeface="Calibri"/>
              </a:rPr>
              <a:t>Örnek: </a:t>
            </a:r>
            <a:r>
              <a:rPr lang="tr-TR" sz="1200" b="0" i="0">
                <a:solidFill>
                  <a:srgbClr val="1E293B"/>
                </a:solidFill>
                <a:latin typeface="Calibri"/>
              </a:rPr>
              <a:t>Galata Mevlevihanesi (İstanbul)</a:t>
            </a:r>
          </a:p>
        </p:txBody>
      </p:sp>
      <p:sp>
        <p:nvSpPr>
          <p:cNvPr id="39" name="Rounded Rectangle 38"/>
          <p:cNvSpPr/>
          <p:nvPr/>
        </p:nvSpPr>
        <p:spPr>
          <a:xfrm>
            <a:off x="411480" y="3703320"/>
            <a:ext cx="8321040" cy="1115568"/>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594360" y="3703320"/>
            <a:ext cx="7955280" cy="1115568"/>
          </a:xfrm>
          <a:prstGeom prst="rect">
            <a:avLst/>
          </a:prstGeom>
          <a:noFill/>
        </p:spPr>
        <p:txBody>
          <a:bodyPr wrap="square" lIns="73152" tIns="45720" rIns="73152" bIns="45720" anchor="ctr"/>
          <a:lstStyle/>
          <a:p>
            <a:pPr algn="ctr">
              <a:lnSpc>
                <a:spcPct val="120000"/>
              </a:lnSpc>
            </a:pPr>
            <a:r>
              <a:rPr lang="tr-TR" sz="1500" b="1" i="0">
                <a:solidFill>
                  <a:srgbClr val="1E293B"/>
                </a:solidFill>
                <a:latin typeface="Calibri"/>
              </a:rPr>
              <a:t>Süleymaniye Külliyesi, 16. yüzyılda Mimar Sinan </a:t>
            </a:r>
            <a:r>
              <a:rPr lang="tr-TR" sz="1500" b="1" i="0">
                <a:solidFill>
                  <a:srgbClr val="16A34A"/>
                </a:solidFill>
                <a:latin typeface="Calibri"/>
              </a:rPr>
              <a:t>tarafından inşa edilmiştir</a:t>
            </a:r>
            <a:r>
              <a:rPr lang="tr-TR" sz="1500" b="1" i="0">
                <a:solidFill>
                  <a:srgbClr val="1E293B"/>
                </a:solidFill>
                <a:latin typeface="Calibri"/>
              </a:rPr>
              <a:t>.</a:t>
            </a:r>
          </a:p>
          <a:p>
            <a:pPr algn="ctr">
              <a:lnSpc>
                <a:spcPct val="120000"/>
              </a:lnSpc>
            </a:pPr>
            <a:r>
              <a:rPr lang="tr-TR" sz="1500" b="1" i="0">
                <a:solidFill>
                  <a:srgbClr val="1E293B"/>
                </a:solidFill>
                <a:latin typeface="Calibri"/>
              </a:rPr>
              <a:t>Bu yapılar </a:t>
            </a:r>
            <a:r>
              <a:rPr lang="tr-TR" sz="1500" b="1" i="0">
                <a:solidFill>
                  <a:srgbClr val="F97316"/>
                </a:solidFill>
                <a:latin typeface="Calibri"/>
              </a:rPr>
              <a:t>sadece</a:t>
            </a:r>
            <a:r>
              <a:rPr lang="tr-TR" sz="1500" b="1" i="0">
                <a:solidFill>
                  <a:srgbClr val="1E293B"/>
                </a:solidFill>
                <a:latin typeface="Calibri"/>
              </a:rPr>
              <a:t> ibadet yeri </a:t>
            </a:r>
            <a:r>
              <a:rPr lang="tr-TR" sz="1500" b="1" i="0">
                <a:solidFill>
                  <a:srgbClr val="F97316"/>
                </a:solidFill>
                <a:latin typeface="Calibri"/>
              </a:rPr>
              <a:t>değil, aynı zamanda</a:t>
            </a:r>
            <a:r>
              <a:rPr lang="tr-TR" sz="1500" b="1" i="0">
                <a:solidFill>
                  <a:srgbClr val="1E293B"/>
                </a:solidFill>
                <a:latin typeface="Calibri"/>
              </a:rPr>
              <a:t> eğitim ve yardımlaşma merkezleriydi.</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0"/>
            <a:ext cx="9144000" cy="65836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365760" y="0"/>
            <a:ext cx="6583680" cy="658368"/>
          </a:xfrm>
          <a:prstGeom prst="rect">
            <a:avLst/>
          </a:prstGeom>
          <a:noFill/>
        </p:spPr>
        <p:txBody>
          <a:bodyPr wrap="square" lIns="435102" tIns="45720" rIns="73152" bIns="45720" anchor="ctr"/>
          <a:lstStyle/>
          <a:p>
            <a:pPr algn="l"/>
            <a:r>
              <a:rPr lang="tr-TR" sz="1900" b="1" i="0">
                <a:solidFill>
                  <a:srgbClr val="FFFFFF"/>
                </a:solidFill>
                <a:latin typeface="Cambria"/>
              </a:rPr>
              <a:t>MAVİ YEŞİL TÜRKİYE: TURİZM TÜRLERİ</a:t>
            </a:r>
          </a:p>
        </p:txBody>
      </p:sp>
      <p:pic>
        <p:nvPicPr>
          <p:cNvPr id="45" name="Picture 44" descr="1f3d6_fe0f.png"/>
          <p:cNvPicPr>
            <a:picLocks noChangeAspect="1"/>
          </p:cNvPicPr>
          <p:nvPr/>
        </p:nvPicPr>
        <p:blipFill>
          <a:blip r:embed="rId3"/>
          <a:stretch>
            <a:fillRect/>
          </a:stretch>
        </p:blipFill>
        <p:spPr>
          <a:xfrm>
            <a:off x="438912" y="190436"/>
            <a:ext cx="277495" cy="277495"/>
          </a:xfrm>
          <a:prstGeom prst="rect">
            <a:avLst/>
          </a:prstGeom>
        </p:spPr>
      </p:pic>
      <p:sp>
        <p:nvSpPr>
          <p:cNvPr id="7" name="Rounded Rectangle 6"/>
          <p:cNvSpPr/>
          <p:nvPr/>
        </p:nvSpPr>
        <p:spPr>
          <a:xfrm>
            <a:off x="411480" y="841248"/>
            <a:ext cx="2706624" cy="896112"/>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6" name="Picture 45" descr="26f7_fe0f.png"/>
          <p:cNvPicPr>
            <a:picLocks noChangeAspect="1"/>
          </p:cNvPicPr>
          <p:nvPr/>
        </p:nvPicPr>
        <p:blipFill>
          <a:blip r:embed="rId4"/>
          <a:stretch>
            <a:fillRect/>
          </a:stretch>
        </p:blipFill>
        <p:spPr>
          <a:xfrm>
            <a:off x="609600" y="1121664"/>
            <a:ext cx="335280" cy="335280"/>
          </a:xfrm>
          <a:prstGeom prst="rect">
            <a:avLst/>
          </a:prstGeom>
        </p:spPr>
      </p:pic>
      <p:sp>
        <p:nvSpPr>
          <p:cNvPr id="9" name="TextBox 8"/>
          <p:cNvSpPr txBox="1"/>
          <p:nvPr/>
        </p:nvSpPr>
        <p:spPr>
          <a:xfrm>
            <a:off x="1097280" y="932688"/>
            <a:ext cx="1965960" cy="384048"/>
          </a:xfrm>
          <a:prstGeom prst="rect">
            <a:avLst/>
          </a:prstGeom>
          <a:noFill/>
        </p:spPr>
        <p:txBody>
          <a:bodyPr wrap="square" lIns="73152" tIns="45720" rIns="73152" bIns="45720" anchor="ctr"/>
          <a:lstStyle/>
          <a:p>
            <a:pPr algn="l"/>
            <a:r>
              <a:rPr lang="tr-TR" sz="1400" b="1" i="0">
                <a:solidFill>
                  <a:srgbClr val="2563EB"/>
                </a:solidFill>
                <a:latin typeface="Calibri"/>
              </a:rPr>
              <a:t>Kış turizmi</a:t>
            </a:r>
          </a:p>
        </p:txBody>
      </p:sp>
      <p:sp>
        <p:nvSpPr>
          <p:cNvPr id="10" name="TextBox 9"/>
          <p:cNvSpPr txBox="1"/>
          <p:nvPr/>
        </p:nvSpPr>
        <p:spPr>
          <a:xfrm>
            <a:off x="1097280" y="1298448"/>
            <a:ext cx="1965960" cy="384048"/>
          </a:xfrm>
          <a:prstGeom prst="rect">
            <a:avLst/>
          </a:prstGeom>
          <a:noFill/>
        </p:spPr>
        <p:txBody>
          <a:bodyPr wrap="square" lIns="73152" tIns="45720" rIns="73152" bIns="45720" anchor="ctr"/>
          <a:lstStyle/>
          <a:p>
            <a:pPr algn="l"/>
            <a:r>
              <a:rPr lang="tr-TR" sz="1200" b="0" i="0">
                <a:solidFill>
                  <a:srgbClr val="1E293B"/>
                </a:solidFill>
                <a:latin typeface="Calibri"/>
              </a:rPr>
              <a:t>Uludağ, Palandöken, Erciyes</a:t>
            </a:r>
          </a:p>
        </p:txBody>
      </p:sp>
      <p:sp>
        <p:nvSpPr>
          <p:cNvPr id="11" name="Rounded Rectangle 10"/>
          <p:cNvSpPr/>
          <p:nvPr/>
        </p:nvSpPr>
        <p:spPr>
          <a:xfrm>
            <a:off x="3218688" y="841248"/>
            <a:ext cx="2706624" cy="896112"/>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7" name="Picture 46" descr="1f3d6_fe0f.png"/>
          <p:cNvPicPr>
            <a:picLocks noChangeAspect="1"/>
          </p:cNvPicPr>
          <p:nvPr/>
        </p:nvPicPr>
        <p:blipFill>
          <a:blip r:embed="rId3"/>
          <a:stretch>
            <a:fillRect/>
          </a:stretch>
        </p:blipFill>
        <p:spPr>
          <a:xfrm>
            <a:off x="3416808" y="1121664"/>
            <a:ext cx="335280" cy="335280"/>
          </a:xfrm>
          <a:prstGeom prst="rect">
            <a:avLst/>
          </a:prstGeom>
        </p:spPr>
      </p:pic>
      <p:sp>
        <p:nvSpPr>
          <p:cNvPr id="13" name="TextBox 12"/>
          <p:cNvSpPr txBox="1"/>
          <p:nvPr/>
        </p:nvSpPr>
        <p:spPr>
          <a:xfrm>
            <a:off x="3904488" y="932688"/>
            <a:ext cx="1965960" cy="384048"/>
          </a:xfrm>
          <a:prstGeom prst="rect">
            <a:avLst/>
          </a:prstGeom>
          <a:noFill/>
        </p:spPr>
        <p:txBody>
          <a:bodyPr wrap="square" lIns="73152" tIns="45720" rIns="73152" bIns="45720" anchor="ctr"/>
          <a:lstStyle/>
          <a:p>
            <a:pPr algn="l"/>
            <a:r>
              <a:rPr lang="tr-TR" sz="1400" b="1" i="0">
                <a:solidFill>
                  <a:srgbClr val="2563EB"/>
                </a:solidFill>
                <a:latin typeface="Calibri"/>
              </a:rPr>
              <a:t>Yaz turizmi</a:t>
            </a:r>
          </a:p>
        </p:txBody>
      </p:sp>
      <p:sp>
        <p:nvSpPr>
          <p:cNvPr id="14" name="TextBox 13"/>
          <p:cNvSpPr txBox="1"/>
          <p:nvPr/>
        </p:nvSpPr>
        <p:spPr>
          <a:xfrm>
            <a:off x="3904488" y="1298448"/>
            <a:ext cx="1965960" cy="384048"/>
          </a:xfrm>
          <a:prstGeom prst="rect">
            <a:avLst/>
          </a:prstGeom>
          <a:noFill/>
        </p:spPr>
        <p:txBody>
          <a:bodyPr wrap="square" lIns="73152" tIns="45720" rIns="73152" bIns="45720" anchor="ctr"/>
          <a:lstStyle/>
          <a:p>
            <a:pPr algn="l"/>
            <a:r>
              <a:rPr lang="tr-TR" sz="1200" b="0" i="0">
                <a:solidFill>
                  <a:srgbClr val="1E293B"/>
                </a:solidFill>
                <a:latin typeface="Calibri"/>
              </a:rPr>
              <a:t>Antalya, Bodrum, Fethiye</a:t>
            </a:r>
          </a:p>
        </p:txBody>
      </p:sp>
      <p:sp>
        <p:nvSpPr>
          <p:cNvPr id="15" name="Rounded Rectangle 14"/>
          <p:cNvSpPr/>
          <p:nvPr/>
        </p:nvSpPr>
        <p:spPr>
          <a:xfrm>
            <a:off x="6025896" y="841248"/>
            <a:ext cx="2706624" cy="896112"/>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8" name="Picture 47" descr="1f3db_fe0f.png"/>
          <p:cNvPicPr>
            <a:picLocks noChangeAspect="1"/>
          </p:cNvPicPr>
          <p:nvPr/>
        </p:nvPicPr>
        <p:blipFill>
          <a:blip r:embed="rId5"/>
          <a:stretch>
            <a:fillRect/>
          </a:stretch>
        </p:blipFill>
        <p:spPr>
          <a:xfrm>
            <a:off x="6224016" y="1121664"/>
            <a:ext cx="335280" cy="335280"/>
          </a:xfrm>
          <a:prstGeom prst="rect">
            <a:avLst/>
          </a:prstGeom>
        </p:spPr>
      </p:pic>
      <p:sp>
        <p:nvSpPr>
          <p:cNvPr id="17" name="TextBox 16"/>
          <p:cNvSpPr txBox="1"/>
          <p:nvPr/>
        </p:nvSpPr>
        <p:spPr>
          <a:xfrm>
            <a:off x="6711696" y="932688"/>
            <a:ext cx="1965960" cy="384048"/>
          </a:xfrm>
          <a:prstGeom prst="rect">
            <a:avLst/>
          </a:prstGeom>
          <a:noFill/>
        </p:spPr>
        <p:txBody>
          <a:bodyPr wrap="square" lIns="73152" tIns="45720" rIns="73152" bIns="45720" anchor="ctr"/>
          <a:lstStyle/>
          <a:p>
            <a:pPr algn="l"/>
            <a:r>
              <a:rPr lang="tr-TR" sz="1400" b="1" i="0">
                <a:solidFill>
                  <a:srgbClr val="2563EB"/>
                </a:solidFill>
                <a:latin typeface="Calibri"/>
              </a:rPr>
              <a:t>Kültür turizmi</a:t>
            </a:r>
          </a:p>
        </p:txBody>
      </p:sp>
      <p:sp>
        <p:nvSpPr>
          <p:cNvPr id="18" name="TextBox 17"/>
          <p:cNvSpPr txBox="1"/>
          <p:nvPr/>
        </p:nvSpPr>
        <p:spPr>
          <a:xfrm>
            <a:off x="6711696" y="1298448"/>
            <a:ext cx="1965960" cy="384048"/>
          </a:xfrm>
          <a:prstGeom prst="rect">
            <a:avLst/>
          </a:prstGeom>
          <a:noFill/>
        </p:spPr>
        <p:txBody>
          <a:bodyPr wrap="square" lIns="73152" tIns="45720" rIns="73152" bIns="45720" anchor="ctr"/>
          <a:lstStyle/>
          <a:p>
            <a:pPr algn="l"/>
            <a:r>
              <a:rPr lang="tr-TR" sz="1200" b="0" i="0">
                <a:solidFill>
                  <a:srgbClr val="1E293B"/>
                </a:solidFill>
                <a:latin typeface="Calibri"/>
              </a:rPr>
              <a:t>Efes, Göbeklitepe, İstanbul</a:t>
            </a:r>
          </a:p>
        </p:txBody>
      </p:sp>
      <p:sp>
        <p:nvSpPr>
          <p:cNvPr id="19" name="Rounded Rectangle 18"/>
          <p:cNvSpPr/>
          <p:nvPr/>
        </p:nvSpPr>
        <p:spPr>
          <a:xfrm>
            <a:off x="411480" y="1847088"/>
            <a:ext cx="2706624" cy="896112"/>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9" name="Picture 48" descr="1f54c.png"/>
          <p:cNvPicPr>
            <a:picLocks noChangeAspect="1"/>
          </p:cNvPicPr>
          <p:nvPr/>
        </p:nvPicPr>
        <p:blipFill>
          <a:blip r:embed="rId6"/>
          <a:stretch>
            <a:fillRect/>
          </a:stretch>
        </p:blipFill>
        <p:spPr>
          <a:xfrm>
            <a:off x="609600" y="2127504"/>
            <a:ext cx="335280" cy="335280"/>
          </a:xfrm>
          <a:prstGeom prst="rect">
            <a:avLst/>
          </a:prstGeom>
        </p:spPr>
      </p:pic>
      <p:sp>
        <p:nvSpPr>
          <p:cNvPr id="21" name="TextBox 20"/>
          <p:cNvSpPr txBox="1"/>
          <p:nvPr/>
        </p:nvSpPr>
        <p:spPr>
          <a:xfrm>
            <a:off x="1097280" y="1938528"/>
            <a:ext cx="1965960" cy="384048"/>
          </a:xfrm>
          <a:prstGeom prst="rect">
            <a:avLst/>
          </a:prstGeom>
          <a:noFill/>
        </p:spPr>
        <p:txBody>
          <a:bodyPr wrap="square" lIns="73152" tIns="45720" rIns="73152" bIns="45720" anchor="ctr"/>
          <a:lstStyle/>
          <a:p>
            <a:pPr algn="l"/>
            <a:r>
              <a:rPr lang="tr-TR" sz="1400" b="1" i="0">
                <a:solidFill>
                  <a:srgbClr val="2563EB"/>
                </a:solidFill>
                <a:latin typeface="Calibri"/>
              </a:rPr>
              <a:t>İnanç turizmi</a:t>
            </a:r>
          </a:p>
        </p:txBody>
      </p:sp>
      <p:sp>
        <p:nvSpPr>
          <p:cNvPr id="22" name="TextBox 21"/>
          <p:cNvSpPr txBox="1"/>
          <p:nvPr/>
        </p:nvSpPr>
        <p:spPr>
          <a:xfrm>
            <a:off x="1097280" y="2304288"/>
            <a:ext cx="1965960" cy="384048"/>
          </a:xfrm>
          <a:prstGeom prst="rect">
            <a:avLst/>
          </a:prstGeom>
          <a:noFill/>
        </p:spPr>
        <p:txBody>
          <a:bodyPr wrap="square" lIns="73152" tIns="45720" rIns="73152" bIns="45720" anchor="ctr"/>
          <a:lstStyle/>
          <a:p>
            <a:pPr algn="l"/>
            <a:r>
              <a:rPr lang="tr-TR" sz="1200" b="0" i="0">
                <a:solidFill>
                  <a:srgbClr val="1E293B"/>
                </a:solidFill>
                <a:latin typeface="Calibri"/>
              </a:rPr>
              <a:t>Mevlana Türbesi, Eyüpsultan</a:t>
            </a:r>
          </a:p>
        </p:txBody>
      </p:sp>
      <p:sp>
        <p:nvSpPr>
          <p:cNvPr id="23" name="Rounded Rectangle 22"/>
          <p:cNvSpPr/>
          <p:nvPr/>
        </p:nvSpPr>
        <p:spPr>
          <a:xfrm>
            <a:off x="3218688" y="1847088"/>
            <a:ext cx="2706624" cy="896112"/>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0" name="Picture 49" descr="26f0_fe0f.png"/>
          <p:cNvPicPr>
            <a:picLocks noChangeAspect="1"/>
          </p:cNvPicPr>
          <p:nvPr/>
        </p:nvPicPr>
        <p:blipFill>
          <a:blip r:embed="rId7"/>
          <a:stretch>
            <a:fillRect/>
          </a:stretch>
        </p:blipFill>
        <p:spPr>
          <a:xfrm>
            <a:off x="3416808" y="2127504"/>
            <a:ext cx="335280" cy="335280"/>
          </a:xfrm>
          <a:prstGeom prst="rect">
            <a:avLst/>
          </a:prstGeom>
        </p:spPr>
      </p:pic>
      <p:sp>
        <p:nvSpPr>
          <p:cNvPr id="25" name="TextBox 24"/>
          <p:cNvSpPr txBox="1"/>
          <p:nvPr/>
        </p:nvSpPr>
        <p:spPr>
          <a:xfrm>
            <a:off x="3904488" y="1938528"/>
            <a:ext cx="1965960" cy="384048"/>
          </a:xfrm>
          <a:prstGeom prst="rect">
            <a:avLst/>
          </a:prstGeom>
          <a:noFill/>
        </p:spPr>
        <p:txBody>
          <a:bodyPr wrap="square" lIns="73152" tIns="45720" rIns="73152" bIns="45720" anchor="ctr"/>
          <a:lstStyle/>
          <a:p>
            <a:pPr algn="l"/>
            <a:r>
              <a:rPr lang="tr-TR" sz="1400" b="1" i="0">
                <a:solidFill>
                  <a:srgbClr val="2563EB"/>
                </a:solidFill>
                <a:latin typeface="Calibri"/>
              </a:rPr>
              <a:t>Yayla turizmi</a:t>
            </a:r>
          </a:p>
        </p:txBody>
      </p:sp>
      <p:sp>
        <p:nvSpPr>
          <p:cNvPr id="26" name="TextBox 25"/>
          <p:cNvSpPr txBox="1"/>
          <p:nvPr/>
        </p:nvSpPr>
        <p:spPr>
          <a:xfrm>
            <a:off x="3904488" y="2304288"/>
            <a:ext cx="1965960" cy="384048"/>
          </a:xfrm>
          <a:prstGeom prst="rect">
            <a:avLst/>
          </a:prstGeom>
          <a:noFill/>
        </p:spPr>
        <p:txBody>
          <a:bodyPr wrap="square" lIns="73152" tIns="45720" rIns="73152" bIns="45720" anchor="ctr"/>
          <a:lstStyle/>
          <a:p>
            <a:pPr algn="l"/>
            <a:r>
              <a:rPr lang="tr-TR" sz="1200" b="0" i="0">
                <a:solidFill>
                  <a:srgbClr val="1E293B"/>
                </a:solidFill>
                <a:latin typeface="Calibri"/>
              </a:rPr>
              <a:t>Ayder, Uzungöl yaylaları</a:t>
            </a:r>
          </a:p>
        </p:txBody>
      </p:sp>
      <p:sp>
        <p:nvSpPr>
          <p:cNvPr id="27" name="Rounded Rectangle 26"/>
          <p:cNvSpPr/>
          <p:nvPr/>
        </p:nvSpPr>
        <p:spPr>
          <a:xfrm>
            <a:off x="6025896" y="1847088"/>
            <a:ext cx="2706624" cy="896112"/>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1" name="Picture 50" descr="2668_fe0f.png"/>
          <p:cNvPicPr>
            <a:picLocks noChangeAspect="1"/>
          </p:cNvPicPr>
          <p:nvPr/>
        </p:nvPicPr>
        <p:blipFill>
          <a:blip r:embed="rId8"/>
          <a:stretch>
            <a:fillRect/>
          </a:stretch>
        </p:blipFill>
        <p:spPr>
          <a:xfrm>
            <a:off x="6224016" y="2127504"/>
            <a:ext cx="335280" cy="335280"/>
          </a:xfrm>
          <a:prstGeom prst="rect">
            <a:avLst/>
          </a:prstGeom>
        </p:spPr>
      </p:pic>
      <p:sp>
        <p:nvSpPr>
          <p:cNvPr id="29" name="TextBox 28"/>
          <p:cNvSpPr txBox="1"/>
          <p:nvPr/>
        </p:nvSpPr>
        <p:spPr>
          <a:xfrm>
            <a:off x="6711696" y="1938528"/>
            <a:ext cx="1965960" cy="384048"/>
          </a:xfrm>
          <a:prstGeom prst="rect">
            <a:avLst/>
          </a:prstGeom>
          <a:noFill/>
        </p:spPr>
        <p:txBody>
          <a:bodyPr wrap="square" lIns="73152" tIns="45720" rIns="73152" bIns="45720" anchor="ctr"/>
          <a:lstStyle/>
          <a:p>
            <a:pPr algn="l"/>
            <a:r>
              <a:rPr lang="tr-TR" sz="1400" b="1" i="0">
                <a:solidFill>
                  <a:srgbClr val="2563EB"/>
                </a:solidFill>
                <a:latin typeface="Calibri"/>
              </a:rPr>
              <a:t>Termal turizm</a:t>
            </a:r>
          </a:p>
        </p:txBody>
      </p:sp>
      <p:sp>
        <p:nvSpPr>
          <p:cNvPr id="30" name="TextBox 29"/>
          <p:cNvSpPr txBox="1"/>
          <p:nvPr/>
        </p:nvSpPr>
        <p:spPr>
          <a:xfrm>
            <a:off x="6711696" y="2304288"/>
            <a:ext cx="1965960" cy="384048"/>
          </a:xfrm>
          <a:prstGeom prst="rect">
            <a:avLst/>
          </a:prstGeom>
          <a:noFill/>
        </p:spPr>
        <p:txBody>
          <a:bodyPr wrap="square" lIns="73152" tIns="45720" rIns="73152" bIns="45720" anchor="ctr"/>
          <a:lstStyle/>
          <a:p>
            <a:pPr algn="l"/>
            <a:r>
              <a:rPr lang="tr-TR" sz="1200" b="0" i="0">
                <a:solidFill>
                  <a:srgbClr val="1E293B"/>
                </a:solidFill>
                <a:latin typeface="Calibri"/>
              </a:rPr>
              <a:t>Pamukkale, Afyonkarahisar</a:t>
            </a:r>
          </a:p>
        </p:txBody>
      </p:sp>
      <p:sp>
        <p:nvSpPr>
          <p:cNvPr id="31" name="Rounded Rectangle 30"/>
          <p:cNvSpPr/>
          <p:nvPr/>
        </p:nvSpPr>
        <p:spPr>
          <a:xfrm>
            <a:off x="411480" y="2852928"/>
            <a:ext cx="2706624" cy="896112"/>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2" name="Picture 51" descr="1f388.png"/>
          <p:cNvPicPr>
            <a:picLocks noChangeAspect="1"/>
          </p:cNvPicPr>
          <p:nvPr/>
        </p:nvPicPr>
        <p:blipFill>
          <a:blip r:embed="rId9"/>
          <a:stretch>
            <a:fillRect/>
          </a:stretch>
        </p:blipFill>
        <p:spPr>
          <a:xfrm>
            <a:off x="609600" y="3133344"/>
            <a:ext cx="335280" cy="335280"/>
          </a:xfrm>
          <a:prstGeom prst="rect">
            <a:avLst/>
          </a:prstGeom>
        </p:spPr>
      </p:pic>
      <p:sp>
        <p:nvSpPr>
          <p:cNvPr id="33" name="TextBox 32"/>
          <p:cNvSpPr txBox="1"/>
          <p:nvPr/>
        </p:nvSpPr>
        <p:spPr>
          <a:xfrm>
            <a:off x="1097280" y="2944368"/>
            <a:ext cx="1965960" cy="384048"/>
          </a:xfrm>
          <a:prstGeom prst="rect">
            <a:avLst/>
          </a:prstGeom>
          <a:noFill/>
        </p:spPr>
        <p:txBody>
          <a:bodyPr wrap="square" lIns="73152" tIns="45720" rIns="73152" bIns="45720" anchor="ctr"/>
          <a:lstStyle/>
          <a:p>
            <a:pPr algn="l"/>
            <a:r>
              <a:rPr lang="tr-TR" sz="1400" b="1" i="0">
                <a:solidFill>
                  <a:srgbClr val="2563EB"/>
                </a:solidFill>
                <a:latin typeface="Calibri"/>
              </a:rPr>
              <a:t>Doğa turizmi</a:t>
            </a:r>
          </a:p>
        </p:txBody>
      </p:sp>
      <p:sp>
        <p:nvSpPr>
          <p:cNvPr id="34" name="TextBox 33"/>
          <p:cNvSpPr txBox="1"/>
          <p:nvPr/>
        </p:nvSpPr>
        <p:spPr>
          <a:xfrm>
            <a:off x="1097280" y="3310128"/>
            <a:ext cx="1965960" cy="384048"/>
          </a:xfrm>
          <a:prstGeom prst="rect">
            <a:avLst/>
          </a:prstGeom>
          <a:noFill/>
        </p:spPr>
        <p:txBody>
          <a:bodyPr wrap="square" lIns="73152" tIns="45720" rIns="73152" bIns="45720" anchor="ctr"/>
          <a:lstStyle/>
          <a:p>
            <a:pPr algn="l"/>
            <a:r>
              <a:rPr lang="tr-TR" sz="1200" b="0" i="0">
                <a:solidFill>
                  <a:srgbClr val="1E293B"/>
                </a:solidFill>
                <a:latin typeface="Calibri"/>
              </a:rPr>
              <a:t>Kapadokya, Uzungöl</a:t>
            </a:r>
          </a:p>
        </p:txBody>
      </p:sp>
      <p:sp>
        <p:nvSpPr>
          <p:cNvPr id="35" name="Rounded Rectangle 34"/>
          <p:cNvSpPr/>
          <p:nvPr/>
        </p:nvSpPr>
        <p:spPr>
          <a:xfrm>
            <a:off x="3218688" y="2852928"/>
            <a:ext cx="2706624" cy="896112"/>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3" name="Picture 52" descr="1f362.png"/>
          <p:cNvPicPr>
            <a:picLocks noChangeAspect="1"/>
          </p:cNvPicPr>
          <p:nvPr/>
        </p:nvPicPr>
        <p:blipFill>
          <a:blip r:embed="rId10"/>
          <a:stretch>
            <a:fillRect/>
          </a:stretch>
        </p:blipFill>
        <p:spPr>
          <a:xfrm>
            <a:off x="3416808" y="3133344"/>
            <a:ext cx="335280" cy="335280"/>
          </a:xfrm>
          <a:prstGeom prst="rect">
            <a:avLst/>
          </a:prstGeom>
        </p:spPr>
      </p:pic>
      <p:sp>
        <p:nvSpPr>
          <p:cNvPr id="37" name="TextBox 36"/>
          <p:cNvSpPr txBox="1"/>
          <p:nvPr/>
        </p:nvSpPr>
        <p:spPr>
          <a:xfrm>
            <a:off x="3904488" y="2944368"/>
            <a:ext cx="1965960" cy="384048"/>
          </a:xfrm>
          <a:prstGeom prst="rect">
            <a:avLst/>
          </a:prstGeom>
          <a:noFill/>
        </p:spPr>
        <p:txBody>
          <a:bodyPr wrap="square" lIns="73152" tIns="45720" rIns="73152" bIns="45720" anchor="ctr"/>
          <a:lstStyle/>
          <a:p>
            <a:pPr algn="l"/>
            <a:r>
              <a:rPr lang="tr-TR" sz="1400" b="1" i="0">
                <a:solidFill>
                  <a:srgbClr val="2563EB"/>
                </a:solidFill>
                <a:latin typeface="Calibri"/>
              </a:rPr>
              <a:t>Gastronomi turizmi</a:t>
            </a:r>
          </a:p>
        </p:txBody>
      </p:sp>
      <p:sp>
        <p:nvSpPr>
          <p:cNvPr id="38" name="TextBox 37"/>
          <p:cNvSpPr txBox="1"/>
          <p:nvPr/>
        </p:nvSpPr>
        <p:spPr>
          <a:xfrm>
            <a:off x="3904488" y="3310128"/>
            <a:ext cx="1965960" cy="384048"/>
          </a:xfrm>
          <a:prstGeom prst="rect">
            <a:avLst/>
          </a:prstGeom>
          <a:noFill/>
        </p:spPr>
        <p:txBody>
          <a:bodyPr wrap="square" lIns="73152" tIns="45720" rIns="73152" bIns="45720" anchor="ctr"/>
          <a:lstStyle/>
          <a:p>
            <a:pPr algn="l"/>
            <a:r>
              <a:rPr lang="tr-TR" sz="1200" b="0" i="0">
                <a:solidFill>
                  <a:srgbClr val="1E293B"/>
                </a:solidFill>
                <a:latin typeface="Calibri"/>
              </a:rPr>
              <a:t>Gaziantep, Hatay</a:t>
            </a:r>
          </a:p>
        </p:txBody>
      </p:sp>
      <p:sp>
        <p:nvSpPr>
          <p:cNvPr id="39" name="Rounded Rectangle 38"/>
          <p:cNvSpPr/>
          <p:nvPr/>
        </p:nvSpPr>
        <p:spPr>
          <a:xfrm>
            <a:off x="6025896" y="2852928"/>
            <a:ext cx="2706624" cy="896112"/>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4" name="Picture 53" descr="1f3e5.png"/>
          <p:cNvPicPr>
            <a:picLocks noChangeAspect="1"/>
          </p:cNvPicPr>
          <p:nvPr/>
        </p:nvPicPr>
        <p:blipFill>
          <a:blip r:embed="rId11"/>
          <a:stretch>
            <a:fillRect/>
          </a:stretch>
        </p:blipFill>
        <p:spPr>
          <a:xfrm>
            <a:off x="6224016" y="3133344"/>
            <a:ext cx="335280" cy="335280"/>
          </a:xfrm>
          <a:prstGeom prst="rect">
            <a:avLst/>
          </a:prstGeom>
        </p:spPr>
      </p:pic>
      <p:sp>
        <p:nvSpPr>
          <p:cNvPr id="41" name="TextBox 40"/>
          <p:cNvSpPr txBox="1"/>
          <p:nvPr/>
        </p:nvSpPr>
        <p:spPr>
          <a:xfrm>
            <a:off x="6711696" y="2944368"/>
            <a:ext cx="1965960" cy="384048"/>
          </a:xfrm>
          <a:prstGeom prst="rect">
            <a:avLst/>
          </a:prstGeom>
          <a:noFill/>
        </p:spPr>
        <p:txBody>
          <a:bodyPr wrap="square" lIns="73152" tIns="45720" rIns="73152" bIns="45720" anchor="ctr"/>
          <a:lstStyle/>
          <a:p>
            <a:pPr algn="l"/>
            <a:r>
              <a:rPr lang="tr-TR" sz="1400" b="1" i="0">
                <a:solidFill>
                  <a:srgbClr val="2563EB"/>
                </a:solidFill>
                <a:latin typeface="Calibri"/>
              </a:rPr>
              <a:t>Sağlık turizmi</a:t>
            </a:r>
          </a:p>
        </p:txBody>
      </p:sp>
      <p:sp>
        <p:nvSpPr>
          <p:cNvPr id="42" name="TextBox 41"/>
          <p:cNvSpPr txBox="1"/>
          <p:nvPr/>
        </p:nvSpPr>
        <p:spPr>
          <a:xfrm>
            <a:off x="6711696" y="3310128"/>
            <a:ext cx="1965960" cy="384048"/>
          </a:xfrm>
          <a:prstGeom prst="rect">
            <a:avLst/>
          </a:prstGeom>
          <a:noFill/>
        </p:spPr>
        <p:txBody>
          <a:bodyPr wrap="square" lIns="73152" tIns="45720" rIns="73152" bIns="45720" anchor="ctr"/>
          <a:lstStyle/>
          <a:p>
            <a:pPr algn="l"/>
            <a:r>
              <a:rPr lang="tr-TR" sz="1200" b="0" i="0">
                <a:solidFill>
                  <a:srgbClr val="1E293B"/>
                </a:solidFill>
                <a:latin typeface="Calibri"/>
              </a:rPr>
              <a:t>Modern hastaneler, İstanbul</a:t>
            </a:r>
          </a:p>
        </p:txBody>
      </p:sp>
      <p:sp>
        <p:nvSpPr>
          <p:cNvPr id="43" name="Rounded Rectangle 42"/>
          <p:cNvSpPr/>
          <p:nvPr/>
        </p:nvSpPr>
        <p:spPr>
          <a:xfrm>
            <a:off x="411480" y="3931920"/>
            <a:ext cx="8321040" cy="896112"/>
          </a:xfrm>
          <a:prstGeom prst="roundRect">
            <a:avLst>
              <a:gd name="adj" fmla="val 12000"/>
            </a:avLst>
          </a:prstGeom>
          <a:solidFill>
            <a:srgbClr val="FDE6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594360" y="3931920"/>
            <a:ext cx="7955280" cy="896112"/>
          </a:xfrm>
          <a:prstGeom prst="rect">
            <a:avLst/>
          </a:prstGeom>
          <a:noFill/>
        </p:spPr>
        <p:txBody>
          <a:bodyPr wrap="square" lIns="73152" tIns="45720" rIns="73152" bIns="45720" anchor="ctr"/>
          <a:lstStyle/>
          <a:p>
            <a:pPr algn="ctr"/>
            <a:r>
              <a:rPr lang="tr-TR" sz="1500" b="1" i="0">
                <a:solidFill>
                  <a:srgbClr val="1E293B"/>
                </a:solidFill>
                <a:latin typeface="Calibri"/>
              </a:rPr>
              <a:t>Türkiye’de </a:t>
            </a:r>
            <a:r>
              <a:rPr lang="tr-TR" sz="1500" b="1" i="0">
                <a:solidFill>
                  <a:srgbClr val="F97316"/>
                </a:solidFill>
                <a:latin typeface="Calibri"/>
              </a:rPr>
              <a:t>hem</a:t>
            </a:r>
            <a:r>
              <a:rPr lang="tr-TR" sz="1500" b="1" i="0">
                <a:solidFill>
                  <a:srgbClr val="1E293B"/>
                </a:solidFill>
                <a:latin typeface="Calibri"/>
              </a:rPr>
              <a:t> denize girip </a:t>
            </a:r>
            <a:r>
              <a:rPr lang="tr-TR" sz="1500" b="1" i="0">
                <a:solidFill>
                  <a:srgbClr val="F97316"/>
                </a:solidFill>
                <a:latin typeface="Calibri"/>
              </a:rPr>
              <a:t>hem de</a:t>
            </a:r>
            <a:r>
              <a:rPr lang="tr-TR" sz="1500" b="1" i="0">
                <a:solidFill>
                  <a:srgbClr val="1E293B"/>
                </a:solidFill>
                <a:latin typeface="Calibri"/>
              </a:rPr>
              <a:t> kayak yapabilirsiniz! Senin memleketin hangi turizm türüne uyuyor?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0"/>
            <a:ext cx="9144000" cy="6583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365760" y="0"/>
            <a:ext cx="6583680" cy="658368"/>
          </a:xfrm>
          <a:prstGeom prst="rect">
            <a:avLst/>
          </a:prstGeom>
          <a:noFill/>
        </p:spPr>
        <p:txBody>
          <a:bodyPr wrap="square" lIns="435102" tIns="45720" rIns="73152" bIns="45720" anchor="ctr"/>
          <a:lstStyle/>
          <a:p>
            <a:pPr algn="l"/>
            <a:r>
              <a:rPr lang="tr-TR" sz="1900" b="1" i="0">
                <a:solidFill>
                  <a:srgbClr val="FFFFFF"/>
                </a:solidFill>
                <a:latin typeface="Cambria"/>
              </a:rPr>
              <a:t>DİL İSKELETİ: İKNA EDİCİ TANITIM</a:t>
            </a:r>
          </a:p>
        </p:txBody>
      </p:sp>
      <p:pic>
        <p:nvPicPr>
          <p:cNvPr id="13" name="Picture 12" descr="1f9e9.png"/>
          <p:cNvPicPr>
            <a:picLocks noChangeAspect="1"/>
          </p:cNvPicPr>
          <p:nvPr/>
        </p:nvPicPr>
        <p:blipFill>
          <a:blip r:embed="rId3"/>
          <a:stretch>
            <a:fillRect/>
          </a:stretch>
        </p:blipFill>
        <p:spPr>
          <a:xfrm>
            <a:off x="438912" y="190436"/>
            <a:ext cx="277495" cy="277495"/>
          </a:xfrm>
          <a:prstGeom prst="rect">
            <a:avLst/>
          </a:prstGeom>
        </p:spPr>
      </p:pic>
      <p:sp>
        <p:nvSpPr>
          <p:cNvPr id="7" name="Rounded Rectangle 6"/>
          <p:cNvSpPr/>
          <p:nvPr/>
        </p:nvSpPr>
        <p:spPr>
          <a:xfrm>
            <a:off x="457200" y="822960"/>
            <a:ext cx="8229600" cy="2103120"/>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31520" y="822960"/>
            <a:ext cx="7772400" cy="2103120"/>
          </a:xfrm>
          <a:prstGeom prst="rect">
            <a:avLst/>
          </a:prstGeom>
          <a:noFill/>
        </p:spPr>
        <p:txBody>
          <a:bodyPr wrap="square" lIns="73152" tIns="45720" rIns="73152" bIns="45720" anchor="ctr"/>
          <a:lstStyle/>
          <a:p>
            <a:pPr algn="l">
              <a:lnSpc>
                <a:spcPct val="130000"/>
              </a:lnSpc>
            </a:pPr>
            <a:r>
              <a:rPr lang="tr-TR" sz="1650" b="1" i="0">
                <a:solidFill>
                  <a:srgbClr val="1A2E5A"/>
                </a:solidFill>
                <a:latin typeface="Calibri"/>
              </a:rPr>
              <a:t>Türkiye </a:t>
            </a:r>
            <a:r>
              <a:rPr lang="tr-TR" sz="1650" b="1" i="0">
                <a:solidFill>
                  <a:srgbClr val="7C3AED"/>
                </a:solidFill>
                <a:latin typeface="Calibri"/>
              </a:rPr>
              <a:t>sadece</a:t>
            </a:r>
            <a:r>
              <a:rPr lang="tr-TR" sz="1650" b="1" i="0">
                <a:solidFill>
                  <a:srgbClr val="1A2E5A"/>
                </a:solidFill>
                <a:latin typeface="Calibri"/>
              </a:rPr>
              <a:t> ______ </a:t>
            </a:r>
            <a:r>
              <a:rPr lang="tr-TR" sz="1650" b="1" i="0">
                <a:solidFill>
                  <a:srgbClr val="7C3AED"/>
                </a:solidFill>
                <a:latin typeface="Calibri"/>
              </a:rPr>
              <a:t>değil, aynı zamanda</a:t>
            </a:r>
            <a:r>
              <a:rPr lang="tr-TR" sz="1650" b="1" i="0">
                <a:solidFill>
                  <a:srgbClr val="1A2E5A"/>
                </a:solidFill>
                <a:latin typeface="Calibri"/>
              </a:rPr>
              <a:t> ______ bir ülkedir.</a:t>
            </a:r>
          </a:p>
          <a:p>
            <a:pPr algn="l">
              <a:lnSpc>
                <a:spcPct val="130000"/>
              </a:lnSpc>
            </a:pPr>
            <a:r>
              <a:rPr lang="tr-TR" sz="1650" b="1" i="0">
                <a:solidFill>
                  <a:srgbClr val="1A2E5A"/>
                </a:solidFill>
                <a:latin typeface="Calibri"/>
              </a:rPr>
              <a:t>______ </a:t>
            </a:r>
            <a:r>
              <a:rPr lang="tr-TR" sz="1650" b="1" i="0">
                <a:solidFill>
                  <a:srgbClr val="7C3AED"/>
                </a:solidFill>
                <a:latin typeface="Calibri"/>
              </a:rPr>
              <a:t>bulunduğu için</a:t>
            </a:r>
            <a:r>
              <a:rPr lang="tr-TR" sz="1650" b="1" i="0">
                <a:solidFill>
                  <a:srgbClr val="1A2E5A"/>
                </a:solidFill>
                <a:latin typeface="Calibri"/>
              </a:rPr>
              <a:t> ______. </a:t>
            </a:r>
            <a:r>
              <a:rPr lang="tr-TR" sz="1650" b="1" i="0">
                <a:solidFill>
                  <a:srgbClr val="7C3AED"/>
                </a:solidFill>
                <a:latin typeface="Calibri"/>
              </a:rPr>
              <a:t>Bu nedenle</a:t>
            </a:r>
            <a:r>
              <a:rPr lang="tr-TR" sz="1650" b="1" i="0">
                <a:solidFill>
                  <a:srgbClr val="1A2E5A"/>
                </a:solidFill>
                <a:latin typeface="Calibri"/>
              </a:rPr>
              <a:t> ______.</a:t>
            </a:r>
          </a:p>
          <a:p>
            <a:pPr algn="l">
              <a:lnSpc>
                <a:spcPct val="130000"/>
              </a:lnSpc>
            </a:pPr>
            <a:r>
              <a:rPr lang="tr-TR" sz="1650" b="1" i="0">
                <a:solidFill>
                  <a:srgbClr val="1A2E5A"/>
                </a:solidFill>
                <a:latin typeface="Calibri"/>
              </a:rPr>
              <a:t>______, ______ yüzyılda ______ </a:t>
            </a:r>
            <a:r>
              <a:rPr lang="tr-TR" sz="1650" b="1" i="0">
                <a:solidFill>
                  <a:srgbClr val="7C3AED"/>
                </a:solidFill>
                <a:latin typeface="Calibri"/>
              </a:rPr>
              <a:t>tarafından inşa edilmiştir</a:t>
            </a:r>
            <a:r>
              <a:rPr lang="tr-TR" sz="1650" b="1" i="0">
                <a:solidFill>
                  <a:srgbClr val="1A2E5A"/>
                </a:solidFill>
                <a:latin typeface="Calibri"/>
              </a:rPr>
              <a:t>.</a:t>
            </a:r>
          </a:p>
          <a:p>
            <a:pPr algn="l">
              <a:lnSpc>
                <a:spcPct val="130000"/>
              </a:lnSpc>
            </a:pPr>
            <a:r>
              <a:rPr lang="tr-TR" sz="1650" b="1" i="0">
                <a:solidFill>
                  <a:srgbClr val="1A2E5A"/>
                </a:solidFill>
                <a:latin typeface="Calibri"/>
              </a:rPr>
              <a:t>Türkiye’yi </a:t>
            </a:r>
            <a:r>
              <a:rPr lang="tr-TR" sz="1650" b="1" i="0">
                <a:solidFill>
                  <a:srgbClr val="F97316"/>
                </a:solidFill>
                <a:latin typeface="Calibri"/>
              </a:rPr>
              <a:t>hem</a:t>
            </a:r>
            <a:r>
              <a:rPr lang="tr-TR" sz="1650" b="1" i="0">
                <a:solidFill>
                  <a:srgbClr val="1A2E5A"/>
                </a:solidFill>
                <a:latin typeface="Calibri"/>
              </a:rPr>
              <a:t> ______ </a:t>
            </a:r>
            <a:r>
              <a:rPr lang="tr-TR" sz="1650" b="1" i="0">
                <a:solidFill>
                  <a:srgbClr val="F97316"/>
                </a:solidFill>
                <a:latin typeface="Calibri"/>
              </a:rPr>
              <a:t>hem de</a:t>
            </a:r>
            <a:r>
              <a:rPr lang="tr-TR" sz="1650" b="1" i="0">
                <a:solidFill>
                  <a:srgbClr val="1A2E5A"/>
                </a:solidFill>
                <a:latin typeface="Calibri"/>
              </a:rPr>
              <a:t> ______ için mutlaka görmelisiniz!</a:t>
            </a:r>
          </a:p>
        </p:txBody>
      </p:sp>
      <p:sp>
        <p:nvSpPr>
          <p:cNvPr id="9" name="Rounded Rectangle 8"/>
          <p:cNvSpPr/>
          <p:nvPr/>
        </p:nvSpPr>
        <p:spPr>
          <a:xfrm>
            <a:off x="457200" y="3035808"/>
            <a:ext cx="1737360" cy="365760"/>
          </a:xfrm>
          <a:prstGeom prst="roundRect">
            <a:avLst>
              <a:gd name="adj" fmla="val 50000"/>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457200" y="3035808"/>
            <a:ext cx="1737360" cy="365760"/>
          </a:xfrm>
          <a:prstGeom prst="rect">
            <a:avLst/>
          </a:prstGeom>
          <a:noFill/>
        </p:spPr>
        <p:txBody>
          <a:bodyPr wrap="square" lIns="320800" tIns="45720" rIns="73152" bIns="45720" anchor="ctr"/>
          <a:lstStyle/>
          <a:p>
            <a:pPr algn="ctr"/>
            <a:r>
              <a:rPr lang="tr-TR" sz="1300" b="1" i="0">
                <a:solidFill>
                  <a:srgbClr val="FFFFFF"/>
                </a:solidFill>
                <a:latin typeface="Calibri"/>
              </a:rPr>
              <a:t>Örnek</a:t>
            </a:r>
          </a:p>
        </p:txBody>
      </p:sp>
      <p:pic>
        <p:nvPicPr>
          <p:cNvPr id="14" name="Picture 13" descr="2705.png"/>
          <p:cNvPicPr>
            <a:picLocks noChangeAspect="1"/>
          </p:cNvPicPr>
          <p:nvPr/>
        </p:nvPicPr>
        <p:blipFill>
          <a:blip r:embed="rId4"/>
          <a:stretch>
            <a:fillRect/>
          </a:stretch>
        </p:blipFill>
        <p:spPr>
          <a:xfrm>
            <a:off x="991405" y="3123756"/>
            <a:ext cx="189864" cy="189864"/>
          </a:xfrm>
          <a:prstGeom prst="rect">
            <a:avLst/>
          </a:prstGeom>
        </p:spPr>
      </p:pic>
      <p:sp>
        <p:nvSpPr>
          <p:cNvPr id="11" name="Rounded Rectangle 10"/>
          <p:cNvSpPr/>
          <p:nvPr/>
        </p:nvSpPr>
        <p:spPr>
          <a:xfrm>
            <a:off x="457200" y="3493008"/>
            <a:ext cx="8229600" cy="1325880"/>
          </a:xfrm>
          <a:prstGeom prst="roundRect">
            <a:avLst>
              <a:gd name="adj" fmla="val 12000"/>
            </a:avLst>
          </a:prstGeom>
          <a:solidFill>
            <a:srgbClr val="DCFCE7"/>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31520" y="3493008"/>
            <a:ext cx="7680960" cy="1325880"/>
          </a:xfrm>
          <a:prstGeom prst="rect">
            <a:avLst/>
          </a:prstGeom>
          <a:noFill/>
        </p:spPr>
        <p:txBody>
          <a:bodyPr wrap="square" lIns="73152" tIns="45720" rIns="73152" bIns="45720" anchor="ctr"/>
          <a:lstStyle/>
          <a:p>
            <a:pPr algn="l"/>
            <a:r>
              <a:rPr lang="tr-TR" sz="1350" b="0" i="1">
                <a:solidFill>
                  <a:srgbClr val="1A2E5A"/>
                </a:solidFill>
                <a:latin typeface="Calibri"/>
              </a:rPr>
              <a:t>“Türkiye sadece güzel plajları olan bir ülke değil, aynı zamanda binlerce yıllık bir tarihe sahip bir ülkedir. İki kıta arasında bulunduğu için doğu ile batı arasında bir köprüdür. Süleymaniye Külliyesi, 16. yüzyılda Mimar Sinan tarafından inşa edilmiştir. Türkiye’yi hem doğası hem de tarihi için mutlaka görmelisiniz!”</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FF7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0"/>
            <a:ext cx="9144000" cy="65836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365760" y="0"/>
            <a:ext cx="6583680" cy="658368"/>
          </a:xfrm>
          <a:prstGeom prst="rect">
            <a:avLst/>
          </a:prstGeom>
          <a:noFill/>
        </p:spPr>
        <p:txBody>
          <a:bodyPr wrap="square" lIns="435102" tIns="45720" rIns="73152" bIns="45720" anchor="ctr"/>
          <a:lstStyle/>
          <a:p>
            <a:pPr algn="l"/>
            <a:r>
              <a:rPr lang="tr-TR" sz="1900" b="1" i="0">
                <a:solidFill>
                  <a:srgbClr val="FFFFFF"/>
                </a:solidFill>
                <a:latin typeface="Cambria"/>
              </a:rPr>
              <a:t>KAMPANYA ATÖLYESİ: “TÜRKİYE’YE GEL!”</a:t>
            </a:r>
          </a:p>
        </p:txBody>
      </p:sp>
      <p:pic>
        <p:nvPicPr>
          <p:cNvPr id="22" name="Picture 21" descr="1f4e3.png"/>
          <p:cNvPicPr>
            <a:picLocks noChangeAspect="1"/>
          </p:cNvPicPr>
          <p:nvPr/>
        </p:nvPicPr>
        <p:blipFill>
          <a:blip r:embed="rId3"/>
          <a:stretch>
            <a:fillRect/>
          </a:stretch>
        </p:blipFill>
        <p:spPr>
          <a:xfrm>
            <a:off x="438912" y="190436"/>
            <a:ext cx="277495" cy="277495"/>
          </a:xfrm>
          <a:prstGeom prst="rect">
            <a:avLst/>
          </a:prstGeom>
        </p:spPr>
      </p:pic>
      <p:sp>
        <p:nvSpPr>
          <p:cNvPr id="7" name="TextBox 6"/>
          <p:cNvSpPr txBox="1"/>
          <p:nvPr/>
        </p:nvSpPr>
        <p:spPr>
          <a:xfrm>
            <a:off x="457200" y="749808"/>
            <a:ext cx="8229600" cy="411480"/>
          </a:xfrm>
          <a:prstGeom prst="rect">
            <a:avLst/>
          </a:prstGeom>
          <a:noFill/>
        </p:spPr>
        <p:txBody>
          <a:bodyPr wrap="square" lIns="73152" tIns="45720" rIns="73152" bIns="45720" anchor="ctr"/>
          <a:lstStyle/>
          <a:p>
            <a:pPr algn="ctr"/>
            <a:r>
              <a:rPr lang="tr-TR" sz="1500" b="0" i="1">
                <a:solidFill>
                  <a:srgbClr val="1E293B"/>
                </a:solidFill>
                <a:latin typeface="Calibri"/>
              </a:rPr>
              <a:t>Grubunla bir tanıtım kampanyası hazırla. Kampanyanda şunlar olsun:</a:t>
            </a:r>
          </a:p>
        </p:txBody>
      </p:sp>
      <p:sp>
        <p:nvSpPr>
          <p:cNvPr id="8" name="Rounded Rectangle 7"/>
          <p:cNvSpPr/>
          <p:nvPr/>
        </p:nvSpPr>
        <p:spPr>
          <a:xfrm>
            <a:off x="731520" y="1280160"/>
            <a:ext cx="7680960" cy="777240"/>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960120" y="1435608"/>
            <a:ext cx="457200" cy="457200"/>
          </a:xfrm>
          <a:prstGeom prst="ellipse">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60120" y="1435608"/>
            <a:ext cx="457200" cy="457200"/>
          </a:xfrm>
          <a:prstGeom prst="rect">
            <a:avLst/>
          </a:prstGeom>
          <a:noFill/>
        </p:spPr>
        <p:txBody>
          <a:bodyPr wrap="square" lIns="0" tIns="45720" rIns="0" bIns="45720" anchor="ctr"/>
          <a:lstStyle/>
          <a:p>
            <a:pPr algn="ctr"/>
            <a:r>
              <a:rPr lang="tr-TR" sz="1600" b="1" i="0">
                <a:solidFill>
                  <a:srgbClr val="FFFFFF"/>
                </a:solidFill>
                <a:latin typeface="Calibri"/>
              </a:rPr>
              <a:t>1</a:t>
            </a:r>
          </a:p>
        </p:txBody>
      </p:sp>
      <p:sp>
        <p:nvSpPr>
          <p:cNvPr id="11" name="TextBox 10"/>
          <p:cNvSpPr txBox="1"/>
          <p:nvPr/>
        </p:nvSpPr>
        <p:spPr>
          <a:xfrm>
            <a:off x="1600200" y="1280160"/>
            <a:ext cx="6720840" cy="777240"/>
          </a:xfrm>
          <a:prstGeom prst="rect">
            <a:avLst/>
          </a:prstGeom>
          <a:noFill/>
        </p:spPr>
        <p:txBody>
          <a:bodyPr wrap="square" lIns="73152" tIns="45720" rIns="73152" bIns="45720" anchor="ctr"/>
          <a:lstStyle/>
          <a:p>
            <a:pPr algn="l"/>
            <a:r>
              <a:rPr lang="tr-TR" sz="1450" b="1" i="0">
                <a:solidFill>
                  <a:srgbClr val="1E293B"/>
                </a:solidFill>
                <a:latin typeface="Calibri"/>
              </a:rPr>
              <a:t>Orta’da tanıttığın memleketi bir turizm türüyle eşleştir (Trabzon → yayla ve doğa turizmi)</a:t>
            </a:r>
          </a:p>
        </p:txBody>
      </p:sp>
      <p:sp>
        <p:nvSpPr>
          <p:cNvPr id="12" name="Rounded Rectangle 11"/>
          <p:cNvSpPr/>
          <p:nvPr/>
        </p:nvSpPr>
        <p:spPr>
          <a:xfrm>
            <a:off x="731520" y="2194560"/>
            <a:ext cx="7680960" cy="777240"/>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960120" y="2350008"/>
            <a:ext cx="457200" cy="45720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60120" y="2350008"/>
            <a:ext cx="457200" cy="457200"/>
          </a:xfrm>
          <a:prstGeom prst="rect">
            <a:avLst/>
          </a:prstGeom>
          <a:noFill/>
        </p:spPr>
        <p:txBody>
          <a:bodyPr wrap="square" lIns="0" tIns="45720" rIns="0" bIns="45720" anchor="ctr"/>
          <a:lstStyle/>
          <a:p>
            <a:pPr algn="ctr"/>
            <a:r>
              <a:rPr lang="tr-TR" sz="1600" b="1" i="0">
                <a:solidFill>
                  <a:srgbClr val="FFFFFF"/>
                </a:solidFill>
                <a:latin typeface="Calibri"/>
              </a:rPr>
              <a:t>2</a:t>
            </a:r>
          </a:p>
        </p:txBody>
      </p:sp>
      <p:sp>
        <p:nvSpPr>
          <p:cNvPr id="15" name="TextBox 14"/>
          <p:cNvSpPr txBox="1"/>
          <p:nvPr/>
        </p:nvSpPr>
        <p:spPr>
          <a:xfrm>
            <a:off x="1600200" y="2194560"/>
            <a:ext cx="6720840" cy="777240"/>
          </a:xfrm>
          <a:prstGeom prst="rect">
            <a:avLst/>
          </a:prstGeom>
          <a:noFill/>
        </p:spPr>
        <p:txBody>
          <a:bodyPr wrap="square" lIns="73152" tIns="45720" rIns="73152" bIns="45720" anchor="ctr"/>
          <a:lstStyle/>
          <a:p>
            <a:pPr algn="l"/>
            <a:r>
              <a:rPr lang="tr-TR" sz="1450" b="1" i="0">
                <a:solidFill>
                  <a:srgbClr val="1E293B"/>
                </a:solidFill>
                <a:latin typeface="Calibri"/>
              </a:rPr>
              <a:t>Türkiye’nin konumundan ya da Türk dünyasından ilgi çekici bir bilgi ekle</a:t>
            </a:r>
          </a:p>
        </p:txBody>
      </p:sp>
      <p:sp>
        <p:nvSpPr>
          <p:cNvPr id="16" name="Rounded Rectangle 15"/>
          <p:cNvSpPr/>
          <p:nvPr/>
        </p:nvSpPr>
        <p:spPr>
          <a:xfrm>
            <a:off x="731520" y="3108960"/>
            <a:ext cx="7680960" cy="777240"/>
          </a:xfrm>
          <a:prstGeom prst="roundRect">
            <a:avLst>
              <a:gd name="adj" fmla="val 12000"/>
            </a:avLst>
          </a:prstGeom>
          <a:solidFill>
            <a:srgbClr val="FFFFFF"/>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960120" y="3264408"/>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60120" y="3264408"/>
            <a:ext cx="457200" cy="457200"/>
          </a:xfrm>
          <a:prstGeom prst="rect">
            <a:avLst/>
          </a:prstGeom>
          <a:noFill/>
        </p:spPr>
        <p:txBody>
          <a:bodyPr wrap="square" lIns="0" tIns="45720" rIns="0" bIns="45720" anchor="ctr"/>
          <a:lstStyle/>
          <a:p>
            <a:pPr algn="ctr"/>
            <a:r>
              <a:rPr lang="tr-TR" sz="1600" b="1" i="0">
                <a:solidFill>
                  <a:srgbClr val="FFFFFF"/>
                </a:solidFill>
                <a:latin typeface="Calibri"/>
              </a:rPr>
              <a:t>3</a:t>
            </a:r>
          </a:p>
        </p:txBody>
      </p:sp>
      <p:sp>
        <p:nvSpPr>
          <p:cNvPr id="19" name="TextBox 18"/>
          <p:cNvSpPr txBox="1"/>
          <p:nvPr/>
        </p:nvSpPr>
        <p:spPr>
          <a:xfrm>
            <a:off x="1600200" y="3108960"/>
            <a:ext cx="6720840" cy="777240"/>
          </a:xfrm>
          <a:prstGeom prst="rect">
            <a:avLst/>
          </a:prstGeom>
          <a:noFill/>
        </p:spPr>
        <p:txBody>
          <a:bodyPr wrap="square" lIns="73152" tIns="45720" rIns="73152" bIns="45720" anchor="ctr"/>
          <a:lstStyle/>
          <a:p>
            <a:pPr algn="l"/>
            <a:r>
              <a:rPr lang="tr-TR" sz="1450" b="1" i="0">
                <a:solidFill>
                  <a:srgbClr val="1E293B"/>
                </a:solidFill>
                <a:latin typeface="Calibri"/>
              </a:rPr>
              <a:t>Bir slogan ve en az üç ikna edici kalıp kullan (sadece… değil… • … için… • hem… hem de…)</a:t>
            </a:r>
          </a:p>
        </p:txBody>
      </p:sp>
      <p:sp>
        <p:nvSpPr>
          <p:cNvPr id="20" name="Rounded Rectangle 19"/>
          <p:cNvSpPr/>
          <p:nvPr/>
        </p:nvSpPr>
        <p:spPr>
          <a:xfrm>
            <a:off x="1371600" y="4160520"/>
            <a:ext cx="6400800" cy="548640"/>
          </a:xfrm>
          <a:prstGeom prst="roundRect">
            <a:avLst>
              <a:gd name="adj" fmla="val 50000"/>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1371600" y="4160520"/>
            <a:ext cx="6400800" cy="548640"/>
          </a:xfrm>
          <a:prstGeom prst="rect">
            <a:avLst/>
          </a:prstGeom>
          <a:noFill/>
        </p:spPr>
        <p:txBody>
          <a:bodyPr wrap="square" lIns="73152" tIns="45720" rIns="73152" bIns="45720" anchor="ctr"/>
          <a:lstStyle/>
          <a:p>
            <a:pPr algn="ctr"/>
            <a:r>
              <a:rPr lang="tr-TR" sz="1400" b="1" i="0">
                <a:solidFill>
                  <a:srgbClr val="FFFFFF"/>
                </a:solidFill>
                <a:latin typeface="Calibri"/>
              </a:rPr>
              <a:t>Kampanyanı sınıfa sun — en ikna edici kampanyayı birlikte seçelim!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7ED"/>
          </a:solidFill>
          <a:ln/>
        </p:spPr>
        <p:txBody>
          <a:bodyPr/>
          <a:lstStyle/>
          <a:p>
            <a:endParaRPr/>
          </a:p>
        </p:txBody>
      </p:sp>
      <p:sp>
        <p:nvSpPr>
          <p:cNvPr id="3" name="Shape 1"/>
          <p:cNvSpPr/>
          <p:nvPr/>
        </p:nvSpPr>
        <p:spPr>
          <a:xfrm>
            <a:off x="0" y="0"/>
            <a:ext cx="9144000" cy="658368"/>
          </a:xfrm>
          <a:prstGeom prst="rect">
            <a:avLst/>
          </a:prstGeom>
          <a:solidFill>
            <a:srgbClr val="F97316"/>
          </a:solidFill>
          <a:ln/>
        </p:spPr>
        <p:txBody>
          <a:bodyPr/>
          <a:lstStyle/>
          <a:p>
            <a:endParaRPr/>
          </a:p>
        </p:txBody>
      </p:sp>
      <p:sp>
        <p:nvSpPr>
          <p:cNvPr id="4" name="Text 2"/>
          <p:cNvSpPr/>
          <p:nvPr/>
        </p:nvSpPr>
        <p:spPr>
          <a:xfrm>
            <a:off x="365760" y="0"/>
            <a:ext cx="8412480" cy="658368"/>
          </a:xfrm>
          <a:prstGeom prst="rect">
            <a:avLst/>
          </a:prstGeom>
          <a:noFill/>
          <a:ln/>
        </p:spPr>
        <p:txBody>
          <a:bodyPr wrap="square" lIns="415289" rtlCol="0" anchor="ctr"/>
          <a:lstStyle/>
          <a:p>
            <a:pPr marL="0" indent="0" algn="l">
              <a:buNone/>
            </a:pPr>
            <a:r>
              <a:rPr lang="en-US" sz="1700" b="1" dirty="0">
                <a:solidFill>
                  <a:srgbClr val="1A2E5A"/>
                </a:solidFill>
                <a:latin typeface="Cambria" pitchFamily="34" charset="0"/>
                <a:ea typeface="Cambria" pitchFamily="34" charset="-122"/>
                <a:cs typeface="Cambria" pitchFamily="34" charset="-120"/>
              </a:rPr>
              <a:t>KÜLTÜR KÖŞESİ – DEDEKTİF SIRRI!</a:t>
            </a:r>
            <a:endParaRPr lang="en-US" sz="1700" dirty="0"/>
          </a:p>
        </p:txBody>
      </p:sp>
      <p:pic>
        <p:nvPicPr>
          <p:cNvPr id="9" name="Picture 8" descr="1f30d.png"/>
          <p:cNvPicPr>
            <a:picLocks noChangeAspect="1"/>
          </p:cNvPicPr>
          <p:nvPr/>
        </p:nvPicPr>
        <p:blipFill>
          <a:blip r:embed="rId3"/>
          <a:stretch>
            <a:fillRect/>
          </a:stretch>
        </p:blipFill>
        <p:spPr>
          <a:xfrm>
            <a:off x="457200" y="205042"/>
            <a:ext cx="248284" cy="248284"/>
          </a:xfrm>
          <a:prstGeom prst="rect">
            <a:avLst/>
          </a:prstGeom>
        </p:spPr>
      </p:pic>
      <p:sp>
        <p:nvSpPr>
          <p:cNvPr id="5" name="Shape 3"/>
          <p:cNvSpPr/>
          <p:nvPr/>
        </p:nvSpPr>
        <p:spPr>
          <a:xfrm>
            <a:off x="640080" y="1371600"/>
            <a:ext cx="7863840" cy="1463040"/>
          </a:xfrm>
          <a:prstGeom prst="roundRect">
            <a:avLst>
              <a:gd name="adj" fmla="val 7500"/>
            </a:avLst>
          </a:prstGeom>
          <a:solidFill>
            <a:srgbClr val="FFFFFF"/>
          </a:solidFill>
          <a:ln w="12700">
            <a:solidFill>
              <a:srgbClr val="FFFFFF"/>
            </a:solidFill>
            <a:prstDash val="solid"/>
          </a:ln>
          <a:effectLst>
            <a:outerShdw blurRad="76200" dist="25400" dir="5400000" algn="bl" rotWithShape="0">
              <a:srgbClr val="1A2E5A">
                <a:alpha val="18000"/>
              </a:srgbClr>
            </a:outerShdw>
          </a:effectLst>
        </p:spPr>
        <p:txBody>
          <a:bodyPr/>
          <a:lstStyle/>
          <a:p>
            <a:endParaRPr/>
          </a:p>
        </p:txBody>
      </p:sp>
      <p:sp>
        <p:nvSpPr>
          <p:cNvPr id="6" name="Text 4"/>
          <p:cNvSpPr/>
          <p:nvPr/>
        </p:nvSpPr>
        <p:spPr>
          <a:xfrm>
            <a:off x="914400" y="1371600"/>
            <a:ext cx="7315200" cy="1463040"/>
          </a:xfrm>
          <a:prstGeom prst="rect">
            <a:avLst/>
          </a:prstGeom>
          <a:noFill/>
          <a:ln/>
        </p:spPr>
        <p:txBody>
          <a:bodyPr wrap="square" rtlCol="0" anchor="ctr"/>
          <a:lstStyle/>
          <a:p>
            <a:pPr marL="0" indent="0" algn="ctr">
              <a:lnSpc>
                <a:spcPct val="120000"/>
              </a:lnSpc>
              <a:buNone/>
            </a:pPr>
            <a:r>
              <a:rPr lang="en-US" sz="1900" dirty="0">
                <a:solidFill>
                  <a:srgbClr val="1E1E1E"/>
                </a:solidFill>
                <a:latin typeface="Calibri" pitchFamily="34" charset="0"/>
                <a:ea typeface="Calibri" pitchFamily="34" charset="-122"/>
                <a:cs typeface="Calibri" pitchFamily="34" charset="-120"/>
              </a:rPr>
              <a:t>Türkler aynı memleketten biriyle bağ kurar. Aynı memleketten gelen kişilere «hemşehri» denir.</a:t>
            </a:r>
            <a:endParaRPr lang="en-US" sz="1900" dirty="0"/>
          </a:p>
        </p:txBody>
      </p:sp>
      <p:sp>
        <p:nvSpPr>
          <p:cNvPr id="7" name="Shape 5"/>
          <p:cNvSpPr/>
          <p:nvPr/>
        </p:nvSpPr>
        <p:spPr>
          <a:xfrm>
            <a:off x="822960" y="3200400"/>
            <a:ext cx="7498080" cy="822960"/>
          </a:xfrm>
          <a:prstGeom prst="roundRect">
            <a:avLst>
              <a:gd name="adj" fmla="val 16667"/>
            </a:avLst>
          </a:prstGeom>
          <a:solidFill>
            <a:srgbClr val="F59E0B"/>
          </a:solidFill>
          <a:ln/>
        </p:spPr>
        <p:txBody>
          <a:bodyPr/>
          <a:lstStyle/>
          <a:p>
            <a:endParaRPr/>
          </a:p>
        </p:txBody>
      </p:sp>
      <p:sp>
        <p:nvSpPr>
          <p:cNvPr id="8" name="Text 6"/>
          <p:cNvSpPr/>
          <p:nvPr/>
        </p:nvSpPr>
        <p:spPr>
          <a:xfrm>
            <a:off x="960120" y="3200400"/>
            <a:ext cx="7223760" cy="822960"/>
          </a:xfrm>
          <a:prstGeom prst="rect">
            <a:avLst/>
          </a:prstGeom>
          <a:noFill/>
          <a:ln/>
        </p:spPr>
        <p:txBody>
          <a:bodyPr wrap="square" lIns="339088"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Saha Görevi: Yarın okulda bir arkadaşına 'Nerelisin?' diye sor, bakalım hemşehrin var mı!</a:t>
            </a:r>
            <a:endParaRPr lang="en-US" sz="1300" dirty="0"/>
          </a:p>
        </p:txBody>
      </p:sp>
      <p:pic>
        <p:nvPicPr>
          <p:cNvPr id="10" name="Picture 9" descr="1f3c5.png"/>
          <p:cNvPicPr>
            <a:picLocks noChangeAspect="1"/>
          </p:cNvPicPr>
          <p:nvPr/>
        </p:nvPicPr>
        <p:blipFill>
          <a:blip r:embed="rId4"/>
          <a:stretch>
            <a:fillRect/>
          </a:stretch>
        </p:blipFill>
        <p:spPr>
          <a:xfrm>
            <a:off x="1432418" y="3516948"/>
            <a:ext cx="189864" cy="18986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7ED"/>
          </a:solidFill>
          <a:ln/>
        </p:spPr>
        <p:txBody>
          <a:bodyPr/>
          <a:lstStyle/>
          <a:p>
            <a:endParaRPr/>
          </a:p>
        </p:txBody>
      </p:sp>
      <p:sp>
        <p:nvSpPr>
          <p:cNvPr id="3" name="Shape 1"/>
          <p:cNvSpPr/>
          <p:nvPr/>
        </p:nvSpPr>
        <p:spPr>
          <a:xfrm>
            <a:off x="0" y="0"/>
            <a:ext cx="9144000" cy="658368"/>
          </a:xfrm>
          <a:prstGeom prst="rect">
            <a:avLst/>
          </a:prstGeom>
          <a:solidFill>
            <a:srgbClr val="F97316"/>
          </a:solidFill>
          <a:ln/>
        </p:spPr>
        <p:txBody>
          <a:bodyPr/>
          <a:lstStyle/>
          <a:p>
            <a:endParaRPr/>
          </a:p>
        </p:txBody>
      </p:sp>
      <p:sp>
        <p:nvSpPr>
          <p:cNvPr id="4" name="Text 2"/>
          <p:cNvSpPr/>
          <p:nvPr/>
        </p:nvSpPr>
        <p:spPr>
          <a:xfrm>
            <a:off x="365760" y="0"/>
            <a:ext cx="8412480" cy="658368"/>
          </a:xfrm>
          <a:prstGeom prst="rect">
            <a:avLst/>
          </a:prstGeom>
          <a:noFill/>
          <a:ln/>
        </p:spPr>
        <p:txBody>
          <a:bodyPr wrap="square" lIns="415289" rtlCol="0" anchor="ctr"/>
          <a:lstStyle/>
          <a:p>
            <a:pPr marL="0" indent="0" algn="l">
              <a:buNone/>
            </a:pPr>
            <a:r>
              <a:rPr lang="en-US" sz="1700" b="1" dirty="0">
                <a:solidFill>
                  <a:srgbClr val="FFFFFF"/>
                </a:solidFill>
                <a:latin typeface="Cambria" pitchFamily="34" charset="0"/>
                <a:ea typeface="Cambria" pitchFamily="34" charset="-122"/>
                <a:cs typeface="Cambria" pitchFamily="34" charset="-120"/>
              </a:rPr>
              <a:t>YENİ SAHA GÖREVİ</a:t>
            </a:r>
            <a:endParaRPr lang="en-US" sz="1700" dirty="0"/>
          </a:p>
        </p:txBody>
      </p:sp>
      <p:pic>
        <p:nvPicPr>
          <p:cNvPr id="26" name="Picture 25" descr="1f3c5.png"/>
          <p:cNvPicPr>
            <a:picLocks noChangeAspect="1"/>
          </p:cNvPicPr>
          <p:nvPr/>
        </p:nvPicPr>
        <p:blipFill>
          <a:blip r:embed="rId3"/>
          <a:stretch>
            <a:fillRect/>
          </a:stretch>
        </p:blipFill>
        <p:spPr>
          <a:xfrm>
            <a:off x="457200" y="205042"/>
            <a:ext cx="248284" cy="248284"/>
          </a:xfrm>
          <a:prstGeom prst="rect">
            <a:avLst/>
          </a:prstGeom>
        </p:spPr>
      </p:pic>
      <p:sp>
        <p:nvSpPr>
          <p:cNvPr id="5" name="Text 3"/>
          <p:cNvSpPr/>
          <p:nvPr/>
        </p:nvSpPr>
        <p:spPr>
          <a:xfrm>
            <a:off x="457200" y="749808"/>
            <a:ext cx="8229600" cy="411480"/>
          </a:xfrm>
          <a:prstGeom prst="rect">
            <a:avLst/>
          </a:prstGeom>
          <a:noFill/>
          <a:ln/>
        </p:spPr>
        <p:txBody>
          <a:bodyPr wrap="square" rtlCol="0" anchor="ctr"/>
          <a:lstStyle/>
          <a:p>
            <a:pPr marL="0" indent="0" algn="ctr">
              <a:buNone/>
            </a:pPr>
            <a:r>
              <a:rPr lang="en-US" sz="1300" b="1" i="1" dirty="0">
                <a:solidFill>
                  <a:srgbClr val="1A2E5A"/>
                </a:solidFill>
                <a:latin typeface="Calibri" pitchFamily="34" charset="0"/>
                <a:ea typeface="Calibri" pitchFamily="34" charset="-122"/>
                <a:cs typeface="Calibri" pitchFamily="34" charset="-120"/>
              </a:rPr>
              <a:t>Bu kez görevin: Bir KÜLTÜR ELÇİSİ olarak Türkiye’yi yaşadığın ülkeye tanıtmak!</a:t>
            </a:r>
            <a:endParaRPr lang="en-US" sz="1300" dirty="0"/>
          </a:p>
        </p:txBody>
      </p:sp>
      <p:sp>
        <p:nvSpPr>
          <p:cNvPr id="6" name="Shape 4"/>
          <p:cNvSpPr/>
          <p:nvPr/>
        </p:nvSpPr>
        <p:spPr>
          <a:xfrm>
            <a:off x="502920" y="1280160"/>
            <a:ext cx="8138160" cy="749808"/>
          </a:xfrm>
          <a:prstGeom prst="roundRect">
            <a:avLst>
              <a:gd name="adj" fmla="val 14634"/>
            </a:avLst>
          </a:prstGeom>
          <a:solidFill>
            <a:srgbClr val="FFFFFF"/>
          </a:solidFill>
          <a:ln w="12700">
            <a:solidFill>
              <a:srgbClr val="FFFFFF"/>
            </a:solidFill>
            <a:prstDash val="solid"/>
          </a:ln>
          <a:effectLst>
            <a:outerShdw blurRad="76200" dist="25400" dir="5400000" algn="bl" rotWithShape="0">
              <a:srgbClr val="1A2E5A">
                <a:alpha val="18000"/>
              </a:srgbClr>
            </a:outerShdw>
          </a:effectLst>
        </p:spPr>
        <p:txBody>
          <a:bodyPr/>
          <a:lstStyle/>
          <a:p>
            <a:endParaRPr/>
          </a:p>
        </p:txBody>
      </p:sp>
      <p:sp>
        <p:nvSpPr>
          <p:cNvPr id="7" name="Shape 5"/>
          <p:cNvSpPr/>
          <p:nvPr/>
        </p:nvSpPr>
        <p:spPr>
          <a:xfrm>
            <a:off x="731520" y="1426464"/>
            <a:ext cx="457200" cy="457200"/>
          </a:xfrm>
          <a:prstGeom prst="ellipse">
            <a:avLst/>
          </a:prstGeom>
          <a:solidFill>
            <a:srgbClr val="F97316"/>
          </a:solidFill>
          <a:ln/>
        </p:spPr>
        <p:txBody>
          <a:bodyPr/>
          <a:lstStyle/>
          <a:p>
            <a:endParaRPr/>
          </a:p>
        </p:txBody>
      </p:sp>
      <p:sp>
        <p:nvSpPr>
          <p:cNvPr id="8" name="Text 6"/>
          <p:cNvSpPr/>
          <p:nvPr/>
        </p:nvSpPr>
        <p:spPr>
          <a:xfrm>
            <a:off x="731520" y="1426464"/>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1371600" y="1280160"/>
            <a:ext cx="7086600" cy="749808"/>
          </a:xfrm>
          <a:prstGeom prst="rect">
            <a:avLst/>
          </a:prstGeom>
          <a:noFill/>
          <a:ln/>
        </p:spPr>
        <p:txBody>
          <a:bodyPr wrap="square" lIns="320040" rtlCol="0" anchor="ctr"/>
          <a:lstStyle/>
          <a:p>
            <a:pPr marL="0" indent="0" algn="l">
              <a:buNone/>
            </a:pPr>
            <a:r>
              <a:rPr lang="en-US" sz="1200" b="1" dirty="0">
                <a:solidFill>
                  <a:srgbClr val="1E293B"/>
                </a:solidFill>
                <a:latin typeface="Calibri" pitchFamily="34" charset="0"/>
                <a:ea typeface="Calibri" pitchFamily="34" charset="-122"/>
                <a:cs typeface="Calibri" pitchFamily="34" charset="-120"/>
              </a:rPr>
              <a:t>Türkiye’yi tanıtan 1 dakikalık bir video ya da bir broşür hazırlayın.</a:t>
            </a:r>
            <a:endParaRPr lang="en-US" sz="1200" dirty="0"/>
          </a:p>
        </p:txBody>
      </p:sp>
      <p:pic>
        <p:nvPicPr>
          <p:cNvPr id="27" name="Picture 26" descr="1f3ac.png"/>
          <p:cNvPicPr>
            <a:picLocks noChangeAspect="1"/>
          </p:cNvPicPr>
          <p:nvPr/>
        </p:nvPicPr>
        <p:blipFill>
          <a:blip r:embed="rId4"/>
          <a:stretch>
            <a:fillRect/>
          </a:stretch>
        </p:blipFill>
        <p:spPr>
          <a:xfrm>
            <a:off x="1463040" y="1567434"/>
            <a:ext cx="175260" cy="175260"/>
          </a:xfrm>
          <a:prstGeom prst="rect">
            <a:avLst/>
          </a:prstGeom>
        </p:spPr>
      </p:pic>
      <p:sp>
        <p:nvSpPr>
          <p:cNvPr id="10" name="Shape 8"/>
          <p:cNvSpPr/>
          <p:nvPr/>
        </p:nvSpPr>
        <p:spPr>
          <a:xfrm>
            <a:off x="502920" y="2148840"/>
            <a:ext cx="8138160" cy="749808"/>
          </a:xfrm>
          <a:prstGeom prst="roundRect">
            <a:avLst>
              <a:gd name="adj" fmla="val 14634"/>
            </a:avLst>
          </a:prstGeom>
          <a:solidFill>
            <a:srgbClr val="FFFFFF"/>
          </a:solidFill>
          <a:ln w="12700">
            <a:solidFill>
              <a:srgbClr val="FFFFFF"/>
            </a:solidFill>
            <a:prstDash val="solid"/>
          </a:ln>
          <a:effectLst>
            <a:outerShdw blurRad="76200" dist="25400" dir="5400000" algn="bl" rotWithShape="0">
              <a:srgbClr val="1A2E5A">
                <a:alpha val="18000"/>
              </a:srgbClr>
            </a:outerShdw>
          </a:effectLst>
        </p:spPr>
        <p:txBody>
          <a:bodyPr/>
          <a:lstStyle/>
          <a:p>
            <a:endParaRPr/>
          </a:p>
        </p:txBody>
      </p:sp>
      <p:sp>
        <p:nvSpPr>
          <p:cNvPr id="11" name="Shape 9"/>
          <p:cNvSpPr/>
          <p:nvPr/>
        </p:nvSpPr>
        <p:spPr>
          <a:xfrm>
            <a:off x="731520" y="2295144"/>
            <a:ext cx="457200" cy="457200"/>
          </a:xfrm>
          <a:prstGeom prst="ellipse">
            <a:avLst/>
          </a:prstGeom>
          <a:solidFill>
            <a:srgbClr val="F97316"/>
          </a:solidFill>
          <a:ln/>
        </p:spPr>
        <p:txBody>
          <a:bodyPr/>
          <a:lstStyle/>
          <a:p>
            <a:endParaRPr/>
          </a:p>
        </p:txBody>
      </p:sp>
      <p:sp>
        <p:nvSpPr>
          <p:cNvPr id="12" name="Text 10"/>
          <p:cNvSpPr/>
          <p:nvPr/>
        </p:nvSpPr>
        <p:spPr>
          <a:xfrm>
            <a:off x="731520" y="2295144"/>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1371600" y="2148840"/>
            <a:ext cx="7086600" cy="749808"/>
          </a:xfrm>
          <a:prstGeom prst="rect">
            <a:avLst/>
          </a:prstGeom>
          <a:noFill/>
          <a:ln/>
        </p:spPr>
        <p:txBody>
          <a:bodyPr wrap="square" lIns="320040" rtlCol="0" anchor="ctr"/>
          <a:lstStyle/>
          <a:p>
            <a:pPr marL="0" indent="0" algn="l">
              <a:buNone/>
            </a:pPr>
            <a:r>
              <a:rPr lang="en-US" sz="1200" b="1" dirty="0">
                <a:solidFill>
                  <a:srgbClr val="1E293B"/>
                </a:solidFill>
                <a:latin typeface="Calibri" pitchFamily="34" charset="0"/>
                <a:ea typeface="Calibri" pitchFamily="34" charset="-122"/>
                <a:cs typeface="Calibri" pitchFamily="34" charset="-120"/>
              </a:rPr>
              <a:t>İçine Türkiye’nin konumunu ve bir Türk dünyası bağlantısını ekleyin.</a:t>
            </a:r>
            <a:endParaRPr lang="en-US" sz="1200" dirty="0"/>
          </a:p>
        </p:txBody>
      </p:sp>
      <p:pic>
        <p:nvPicPr>
          <p:cNvPr id="28" name="Picture 27" descr="1f5fa_fe0f.png"/>
          <p:cNvPicPr>
            <a:picLocks noChangeAspect="1"/>
          </p:cNvPicPr>
          <p:nvPr/>
        </p:nvPicPr>
        <p:blipFill>
          <a:blip r:embed="rId5"/>
          <a:stretch>
            <a:fillRect/>
          </a:stretch>
        </p:blipFill>
        <p:spPr>
          <a:xfrm>
            <a:off x="1463040" y="2436114"/>
            <a:ext cx="175260" cy="175260"/>
          </a:xfrm>
          <a:prstGeom prst="rect">
            <a:avLst/>
          </a:prstGeom>
        </p:spPr>
      </p:pic>
      <p:sp>
        <p:nvSpPr>
          <p:cNvPr id="14" name="Shape 12"/>
          <p:cNvSpPr/>
          <p:nvPr/>
        </p:nvSpPr>
        <p:spPr>
          <a:xfrm>
            <a:off x="502920" y="3017520"/>
            <a:ext cx="8138160" cy="749808"/>
          </a:xfrm>
          <a:prstGeom prst="roundRect">
            <a:avLst>
              <a:gd name="adj" fmla="val 14634"/>
            </a:avLst>
          </a:prstGeom>
          <a:solidFill>
            <a:srgbClr val="FFFFFF"/>
          </a:solidFill>
          <a:ln w="12700">
            <a:solidFill>
              <a:srgbClr val="FFFFFF"/>
            </a:solidFill>
            <a:prstDash val="solid"/>
          </a:ln>
          <a:effectLst>
            <a:outerShdw blurRad="76200" dist="25400" dir="5400000" algn="bl" rotWithShape="0">
              <a:srgbClr val="1A2E5A">
                <a:alpha val="18000"/>
              </a:srgbClr>
            </a:outerShdw>
          </a:effectLst>
        </p:spPr>
        <p:txBody>
          <a:bodyPr/>
          <a:lstStyle/>
          <a:p>
            <a:endParaRPr/>
          </a:p>
        </p:txBody>
      </p:sp>
      <p:sp>
        <p:nvSpPr>
          <p:cNvPr id="15" name="Shape 13"/>
          <p:cNvSpPr/>
          <p:nvPr/>
        </p:nvSpPr>
        <p:spPr>
          <a:xfrm>
            <a:off x="731520" y="3163824"/>
            <a:ext cx="457200" cy="457200"/>
          </a:xfrm>
          <a:prstGeom prst="ellipse">
            <a:avLst/>
          </a:prstGeom>
          <a:solidFill>
            <a:srgbClr val="F97316"/>
          </a:solidFill>
          <a:ln/>
        </p:spPr>
        <p:txBody>
          <a:bodyPr/>
          <a:lstStyle/>
          <a:p>
            <a:endParaRPr/>
          </a:p>
        </p:txBody>
      </p:sp>
      <p:sp>
        <p:nvSpPr>
          <p:cNvPr id="16" name="Text 14"/>
          <p:cNvSpPr/>
          <p:nvPr/>
        </p:nvSpPr>
        <p:spPr>
          <a:xfrm>
            <a:off x="731520" y="3163824"/>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1371600" y="3017520"/>
            <a:ext cx="7086600" cy="749808"/>
          </a:xfrm>
          <a:prstGeom prst="rect">
            <a:avLst/>
          </a:prstGeom>
          <a:noFill/>
          <a:ln/>
        </p:spPr>
        <p:txBody>
          <a:bodyPr wrap="square" lIns="320040" rtlCol="0" anchor="ctr"/>
          <a:lstStyle/>
          <a:p>
            <a:pPr marL="0" indent="0" algn="l">
              <a:buNone/>
            </a:pPr>
            <a:r>
              <a:rPr lang="en-US" sz="1200" b="1" dirty="0">
                <a:solidFill>
                  <a:srgbClr val="1E293B"/>
                </a:solidFill>
                <a:latin typeface="Calibri" pitchFamily="34" charset="0"/>
                <a:ea typeface="Calibri" pitchFamily="34" charset="-122"/>
                <a:cs typeface="Calibri" pitchFamily="34" charset="-120"/>
              </a:rPr>
              <a:t>Bir büyüğünüze sorun: “Türkiye’yi bir yabancıya tanıtsaydınız neyi anlatırdınız?”</a:t>
            </a:r>
            <a:endParaRPr lang="en-US" sz="1200" dirty="0"/>
          </a:p>
        </p:txBody>
      </p:sp>
      <p:pic>
        <p:nvPicPr>
          <p:cNvPr id="29" name="Picture 28" descr="1f399_fe0f.png"/>
          <p:cNvPicPr>
            <a:picLocks noChangeAspect="1"/>
          </p:cNvPicPr>
          <p:nvPr/>
        </p:nvPicPr>
        <p:blipFill>
          <a:blip r:embed="rId6"/>
          <a:stretch>
            <a:fillRect/>
          </a:stretch>
        </p:blipFill>
        <p:spPr>
          <a:xfrm>
            <a:off x="1463040" y="3304794"/>
            <a:ext cx="175260" cy="175260"/>
          </a:xfrm>
          <a:prstGeom prst="rect">
            <a:avLst/>
          </a:prstGeom>
        </p:spPr>
      </p:pic>
      <p:sp>
        <p:nvSpPr>
          <p:cNvPr id="18" name="Shape 16"/>
          <p:cNvSpPr/>
          <p:nvPr/>
        </p:nvSpPr>
        <p:spPr>
          <a:xfrm>
            <a:off x="502920" y="3886200"/>
            <a:ext cx="8138160" cy="749808"/>
          </a:xfrm>
          <a:prstGeom prst="roundRect">
            <a:avLst>
              <a:gd name="adj" fmla="val 14634"/>
            </a:avLst>
          </a:prstGeom>
          <a:solidFill>
            <a:srgbClr val="FFFFFF"/>
          </a:solidFill>
          <a:ln w="12700">
            <a:solidFill>
              <a:srgbClr val="FFFFFF"/>
            </a:solidFill>
            <a:prstDash val="solid"/>
          </a:ln>
          <a:effectLst>
            <a:outerShdw blurRad="76200" dist="25400" dir="5400000" algn="bl" rotWithShape="0">
              <a:srgbClr val="1A2E5A">
                <a:alpha val="18000"/>
              </a:srgbClr>
            </a:outerShdw>
          </a:effectLst>
        </p:spPr>
        <p:txBody>
          <a:bodyPr/>
          <a:lstStyle/>
          <a:p>
            <a:endParaRPr/>
          </a:p>
        </p:txBody>
      </p:sp>
      <p:sp>
        <p:nvSpPr>
          <p:cNvPr id="19" name="Shape 17"/>
          <p:cNvSpPr/>
          <p:nvPr/>
        </p:nvSpPr>
        <p:spPr>
          <a:xfrm>
            <a:off x="731520" y="4032504"/>
            <a:ext cx="457200" cy="457200"/>
          </a:xfrm>
          <a:prstGeom prst="ellipse">
            <a:avLst/>
          </a:prstGeom>
          <a:solidFill>
            <a:srgbClr val="F97316"/>
          </a:solidFill>
          <a:ln/>
        </p:spPr>
        <p:txBody>
          <a:bodyPr/>
          <a:lstStyle/>
          <a:p>
            <a:endParaRPr/>
          </a:p>
        </p:txBody>
      </p:sp>
      <p:sp>
        <p:nvSpPr>
          <p:cNvPr id="20" name="Text 18"/>
          <p:cNvSpPr/>
          <p:nvPr/>
        </p:nvSpPr>
        <p:spPr>
          <a:xfrm>
            <a:off x="731520" y="4032504"/>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1" name="Text 19"/>
          <p:cNvSpPr/>
          <p:nvPr/>
        </p:nvSpPr>
        <p:spPr>
          <a:xfrm>
            <a:off x="1371600" y="3886200"/>
            <a:ext cx="7086600" cy="749808"/>
          </a:xfrm>
          <a:prstGeom prst="rect">
            <a:avLst/>
          </a:prstGeom>
          <a:noFill/>
          <a:ln/>
        </p:spPr>
        <p:txBody>
          <a:bodyPr wrap="square" lIns="320040" rtlCol="0" anchor="ctr"/>
          <a:lstStyle/>
          <a:p>
            <a:pPr marL="0" indent="0" algn="l">
              <a:buNone/>
            </a:pPr>
            <a:r>
              <a:rPr lang="en-US" sz="1200" b="1" dirty="0">
                <a:solidFill>
                  <a:srgbClr val="1E293B"/>
                </a:solidFill>
                <a:latin typeface="Calibri" pitchFamily="34" charset="0"/>
                <a:ea typeface="Calibri" pitchFamily="34" charset="-122"/>
                <a:cs typeface="Calibri" pitchFamily="34" charset="-120"/>
              </a:rPr>
              <a:t>En az üç ikna edici kalıp kullanın ve çalışmanızı yaşadığınız ülkedeki bir arkadaşınıza gösterin.</a:t>
            </a:r>
            <a:endParaRPr lang="en-US" sz="1200" dirty="0"/>
          </a:p>
        </p:txBody>
      </p:sp>
      <p:pic>
        <p:nvPicPr>
          <p:cNvPr id="30" name="Picture 29" descr="1f4ac.png"/>
          <p:cNvPicPr>
            <a:picLocks noChangeAspect="1"/>
          </p:cNvPicPr>
          <p:nvPr/>
        </p:nvPicPr>
        <p:blipFill>
          <a:blip r:embed="rId7"/>
          <a:stretch>
            <a:fillRect/>
          </a:stretch>
        </p:blipFill>
        <p:spPr>
          <a:xfrm>
            <a:off x="1463040" y="4173474"/>
            <a:ext cx="175260" cy="175260"/>
          </a:xfrm>
          <a:prstGeom prst="rect">
            <a:avLst/>
          </a:prstGeom>
        </p:spPr>
      </p:pic>
      <p:sp>
        <p:nvSpPr>
          <p:cNvPr id="22" name="Shape 20"/>
          <p:cNvSpPr/>
          <p:nvPr/>
        </p:nvSpPr>
        <p:spPr>
          <a:xfrm>
            <a:off x="1371600" y="4590288"/>
            <a:ext cx="6400800" cy="438912"/>
          </a:xfrm>
          <a:prstGeom prst="roundRect">
            <a:avLst>
              <a:gd name="adj" fmla="val 50000"/>
            </a:avLst>
          </a:prstGeom>
          <a:solidFill>
            <a:srgbClr val="F97316"/>
          </a:solidFill>
          <a:ln/>
        </p:spPr>
        <p:txBody>
          <a:bodyPr/>
          <a:lstStyle/>
          <a:p>
            <a:endParaRPr/>
          </a:p>
        </p:txBody>
      </p:sp>
      <p:sp>
        <p:nvSpPr>
          <p:cNvPr id="23" name="Text 21"/>
          <p:cNvSpPr/>
          <p:nvPr/>
        </p:nvSpPr>
        <p:spPr>
          <a:xfrm>
            <a:off x="1371600" y="4590288"/>
            <a:ext cx="6400800" cy="438912"/>
          </a:xfrm>
          <a:prstGeom prst="rect">
            <a:avLst/>
          </a:prstGeom>
          <a:noFill/>
          <a:ln/>
        </p:spPr>
        <p:txBody>
          <a:bodyPr wrap="square" rIns="32004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Sen artık bir kültür elçisisin — çalışmanı sınıfa getir!</a:t>
            </a:r>
            <a:endParaRPr lang="en-US" sz="1200" dirty="0"/>
          </a:p>
        </p:txBody>
      </p:sp>
      <p:pic>
        <p:nvPicPr>
          <p:cNvPr id="31" name="Picture 30" descr="1f3af.png"/>
          <p:cNvPicPr>
            <a:picLocks noChangeAspect="1"/>
          </p:cNvPicPr>
          <p:nvPr/>
        </p:nvPicPr>
        <p:blipFill>
          <a:blip r:embed="rId8"/>
          <a:stretch>
            <a:fillRect/>
          </a:stretch>
        </p:blipFill>
        <p:spPr>
          <a:xfrm>
            <a:off x="6138094" y="4722114"/>
            <a:ext cx="175260" cy="17526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2E5A"/>
          </a:solidFill>
          <a:ln/>
        </p:spPr>
        <p:txBody>
          <a:bodyPr/>
          <a:lstStyle/>
          <a:p>
            <a:endParaRPr/>
          </a:p>
        </p:txBody>
      </p:sp>
      <p:sp>
        <p:nvSpPr>
          <p:cNvPr id="35" name="5-Point Star 34"/>
          <p:cNvSpPr/>
          <p:nvPr/>
        </p:nvSpPr>
        <p:spPr>
          <a:xfrm>
            <a:off x="360680" y="269240"/>
            <a:ext cx="193040" cy="193040"/>
          </a:xfrm>
          <a:prstGeom prst="star5">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5-Point Star 35"/>
          <p:cNvSpPr/>
          <p:nvPr/>
        </p:nvSpPr>
        <p:spPr>
          <a:xfrm>
            <a:off x="8407400" y="269240"/>
            <a:ext cx="193040" cy="193040"/>
          </a:xfrm>
          <a:prstGeom prst="star5">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5-Point Star 36"/>
          <p:cNvSpPr/>
          <p:nvPr/>
        </p:nvSpPr>
        <p:spPr>
          <a:xfrm>
            <a:off x="360680" y="4566920"/>
            <a:ext cx="193040" cy="193040"/>
          </a:xfrm>
          <a:prstGeom prst="star5">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5-Point Star 37"/>
          <p:cNvSpPr/>
          <p:nvPr/>
        </p:nvSpPr>
        <p:spPr>
          <a:xfrm>
            <a:off x="8407400" y="4566920"/>
            <a:ext cx="193040" cy="193040"/>
          </a:xfrm>
          <a:prstGeom prst="star5">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 5"/>
          <p:cNvSpPr/>
          <p:nvPr/>
        </p:nvSpPr>
        <p:spPr>
          <a:xfrm>
            <a:off x="457200" y="502920"/>
            <a:ext cx="8229600" cy="640080"/>
          </a:xfrm>
          <a:prstGeom prst="rect">
            <a:avLst/>
          </a:prstGeom>
          <a:noFill/>
          <a:ln/>
        </p:spPr>
        <p:txBody>
          <a:bodyPr wrap="square" rtlCol="0" anchor="ctr"/>
          <a:lstStyle/>
          <a:p>
            <a:pPr marL="0" indent="0" algn="ctr">
              <a:buNone/>
            </a:pPr>
            <a:r>
              <a:rPr lang="en-US" sz="3200" b="1" dirty="0">
                <a:solidFill>
                  <a:srgbClr val="FBBF24"/>
                </a:solidFill>
                <a:latin typeface="Cambria" pitchFamily="34" charset="0"/>
                <a:ea typeface="Cambria" pitchFamily="34" charset="-122"/>
                <a:cs typeface="Cambria" pitchFamily="34" charset="-120"/>
              </a:rPr>
              <a:t>GÖREV TAMAMLANDI!</a:t>
            </a:r>
            <a:endParaRPr lang="en-US" sz="3200" dirty="0"/>
          </a:p>
        </p:txBody>
      </p:sp>
      <p:sp>
        <p:nvSpPr>
          <p:cNvPr id="18" name="Text 16"/>
          <p:cNvSpPr/>
          <p:nvPr/>
        </p:nvSpPr>
        <p:spPr>
          <a:xfrm>
            <a:off x="457200" y="3931920"/>
            <a:ext cx="8229600" cy="548640"/>
          </a:xfrm>
          <a:prstGeom prst="rect">
            <a:avLst/>
          </a:prstGeom>
          <a:noFill/>
          <a:ln/>
        </p:spPr>
        <p:txBody>
          <a:bodyPr wrap="square" rIns="377189" rtlCol="0" anchor="ctr"/>
          <a:lstStyle/>
          <a:p>
            <a:pPr marL="0" indent="0" algn="ctr">
              <a:buNone/>
            </a:pPr>
            <a:r>
              <a:rPr lang="en-US" sz="1500" i="1" dirty="0">
                <a:solidFill>
                  <a:srgbClr val="FFFFFF"/>
                </a:solidFill>
                <a:latin typeface="Calibri" pitchFamily="34" charset="0"/>
                <a:ea typeface="Calibri" pitchFamily="34" charset="-122"/>
                <a:cs typeface="Calibri" pitchFamily="34" charset="-120"/>
              </a:rPr>
              <a:t>Tebrikler, Dil Dedektifi! Dünya turunu tamamladın.</a:t>
            </a:r>
            <a:endParaRPr lang="en-US" sz="1500" dirty="0"/>
          </a:p>
        </p:txBody>
      </p:sp>
      <p:pic>
        <p:nvPicPr>
          <p:cNvPr id="39" name="Picture 38" descr="1f30d.png"/>
          <p:cNvPicPr>
            <a:picLocks noChangeAspect="1"/>
          </p:cNvPicPr>
          <p:nvPr/>
        </p:nvPicPr>
        <p:blipFill>
          <a:blip r:embed="rId3"/>
          <a:stretch>
            <a:fillRect/>
          </a:stretch>
        </p:blipFill>
        <p:spPr>
          <a:xfrm>
            <a:off x="6429740" y="4096703"/>
            <a:ext cx="219074" cy="219074"/>
          </a:xfrm>
          <a:prstGeom prst="rect">
            <a:avLst/>
          </a:prstGeom>
        </p:spPr>
      </p:pic>
      <p:sp>
        <p:nvSpPr>
          <p:cNvPr id="19" name="Rounded Rectangle 18"/>
          <p:cNvSpPr/>
          <p:nvPr/>
        </p:nvSpPr>
        <p:spPr>
          <a:xfrm>
            <a:off x="502920" y="1600200"/>
            <a:ext cx="1280160" cy="1280160"/>
          </a:xfrm>
          <a:prstGeom prst="roundRect">
            <a:avLst>
              <a:gd name="adj" fmla="val 8000"/>
            </a:avLst>
          </a:prstGeom>
          <a:solidFill>
            <a:srgbClr val="F97316"/>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502920" y="1600200"/>
            <a:ext cx="1280160" cy="1280160"/>
          </a:xfrm>
          <a:prstGeom prst="rect">
            <a:avLst/>
          </a:prstGeom>
          <a:noFill/>
        </p:spPr>
        <p:txBody>
          <a:bodyPr wrap="square" lIns="73152" tIns="45720" rIns="73152" bIns="45720" anchor="ctr"/>
          <a:lstStyle/>
          <a:p>
            <a:pPr algn="ctr"/>
            <a:r>
              <a:rPr lang="tr-TR" sz="1500" b="1" i="0">
                <a:solidFill>
                  <a:srgbClr val="FFFFFF"/>
                </a:solidFill>
                <a:latin typeface="Calibri"/>
              </a:rPr>
              <a:t>Türkiye’nin Konumu</a:t>
            </a:r>
          </a:p>
        </p:txBody>
      </p:sp>
      <p:sp>
        <p:nvSpPr>
          <p:cNvPr id="21" name="Rounded Rectangle 20"/>
          <p:cNvSpPr/>
          <p:nvPr/>
        </p:nvSpPr>
        <p:spPr>
          <a:xfrm>
            <a:off x="1874520" y="1600200"/>
            <a:ext cx="1280160" cy="1280160"/>
          </a:xfrm>
          <a:prstGeom prst="roundRect">
            <a:avLst>
              <a:gd name="adj" fmla="val 8000"/>
            </a:avLst>
          </a:prstGeom>
          <a:solidFill>
            <a:srgbClr val="2563EB"/>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1874520" y="1600200"/>
            <a:ext cx="1280160" cy="1280160"/>
          </a:xfrm>
          <a:prstGeom prst="rect">
            <a:avLst/>
          </a:prstGeom>
          <a:noFill/>
        </p:spPr>
        <p:txBody>
          <a:bodyPr wrap="square" lIns="73152" tIns="45720" rIns="73152" bIns="45720" anchor="ctr"/>
          <a:lstStyle/>
          <a:p>
            <a:pPr algn="ctr"/>
            <a:r>
              <a:rPr lang="tr-TR" sz="1500" b="1" i="0">
                <a:solidFill>
                  <a:srgbClr val="FFFFFF"/>
                </a:solidFill>
                <a:latin typeface="Calibri"/>
              </a:rPr>
              <a:t>Mavi Vatan</a:t>
            </a:r>
          </a:p>
        </p:txBody>
      </p:sp>
      <p:sp>
        <p:nvSpPr>
          <p:cNvPr id="23" name="Rounded Rectangle 22"/>
          <p:cNvSpPr/>
          <p:nvPr/>
        </p:nvSpPr>
        <p:spPr>
          <a:xfrm>
            <a:off x="3246120" y="1600200"/>
            <a:ext cx="1280160" cy="1280160"/>
          </a:xfrm>
          <a:prstGeom prst="roundRect">
            <a:avLst>
              <a:gd name="adj" fmla="val 8000"/>
            </a:avLst>
          </a:prstGeom>
          <a:solidFill>
            <a:srgbClr val="7C3AED"/>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3246120" y="1600200"/>
            <a:ext cx="1280160" cy="1280160"/>
          </a:xfrm>
          <a:prstGeom prst="rect">
            <a:avLst/>
          </a:prstGeom>
          <a:noFill/>
        </p:spPr>
        <p:txBody>
          <a:bodyPr wrap="square" lIns="73152" tIns="45720" rIns="73152" bIns="45720" anchor="ctr"/>
          <a:lstStyle/>
          <a:p>
            <a:pPr algn="ctr"/>
            <a:r>
              <a:rPr lang="tr-TR" sz="1500" b="1" i="0">
                <a:solidFill>
                  <a:srgbClr val="FFFFFF"/>
                </a:solidFill>
                <a:latin typeface="Calibri"/>
              </a:rPr>
              <a:t>Türk Dünyası</a:t>
            </a:r>
          </a:p>
        </p:txBody>
      </p:sp>
      <p:sp>
        <p:nvSpPr>
          <p:cNvPr id="25" name="Rounded Rectangle 24"/>
          <p:cNvSpPr/>
          <p:nvPr/>
        </p:nvSpPr>
        <p:spPr>
          <a:xfrm>
            <a:off x="4617720" y="1600200"/>
            <a:ext cx="1280160" cy="1280160"/>
          </a:xfrm>
          <a:prstGeom prst="roundRect">
            <a:avLst>
              <a:gd name="adj" fmla="val 8000"/>
            </a:avLst>
          </a:prstGeom>
          <a:solidFill>
            <a:srgbClr val="DC2626"/>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4617720" y="1600200"/>
            <a:ext cx="1280160" cy="1280160"/>
          </a:xfrm>
          <a:prstGeom prst="rect">
            <a:avLst/>
          </a:prstGeom>
          <a:noFill/>
        </p:spPr>
        <p:txBody>
          <a:bodyPr wrap="square" lIns="73152" tIns="45720" rIns="73152" bIns="45720" anchor="ctr"/>
          <a:lstStyle/>
          <a:p>
            <a:pPr algn="ctr"/>
            <a:r>
              <a:rPr lang="tr-TR" sz="1500" b="1" i="0">
                <a:solidFill>
                  <a:srgbClr val="FFFFFF"/>
                </a:solidFill>
                <a:latin typeface="Calibri"/>
              </a:rPr>
              <a:t>KKTC</a:t>
            </a:r>
          </a:p>
        </p:txBody>
      </p:sp>
      <p:sp>
        <p:nvSpPr>
          <p:cNvPr id="27" name="Rounded Rectangle 26"/>
          <p:cNvSpPr/>
          <p:nvPr/>
        </p:nvSpPr>
        <p:spPr>
          <a:xfrm>
            <a:off x="5989320" y="1600200"/>
            <a:ext cx="1280160" cy="1280160"/>
          </a:xfrm>
          <a:prstGeom prst="roundRect">
            <a:avLst>
              <a:gd name="adj" fmla="val 8000"/>
            </a:avLst>
          </a:prstGeom>
          <a:solidFill>
            <a:srgbClr val="16A34A"/>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5989320" y="1600200"/>
            <a:ext cx="1280160" cy="1280160"/>
          </a:xfrm>
          <a:prstGeom prst="rect">
            <a:avLst/>
          </a:prstGeom>
          <a:noFill/>
        </p:spPr>
        <p:txBody>
          <a:bodyPr wrap="square" lIns="73152" tIns="45720" rIns="73152" bIns="45720" anchor="ctr"/>
          <a:lstStyle/>
          <a:p>
            <a:pPr algn="ctr"/>
            <a:r>
              <a:rPr lang="tr-TR" sz="1500" b="1" i="0">
                <a:solidFill>
                  <a:srgbClr val="FFFFFF"/>
                </a:solidFill>
                <a:latin typeface="Calibri"/>
              </a:rPr>
              <a:t>Külliye • Dergâh</a:t>
            </a:r>
          </a:p>
        </p:txBody>
      </p:sp>
      <p:sp>
        <p:nvSpPr>
          <p:cNvPr id="29" name="Rounded Rectangle 28"/>
          <p:cNvSpPr/>
          <p:nvPr/>
        </p:nvSpPr>
        <p:spPr>
          <a:xfrm>
            <a:off x="7360920" y="1600200"/>
            <a:ext cx="1280160" cy="1280160"/>
          </a:xfrm>
          <a:prstGeom prst="roundRect">
            <a:avLst>
              <a:gd name="adj" fmla="val 8000"/>
            </a:avLst>
          </a:prstGeom>
          <a:solidFill>
            <a:srgbClr val="0D9488"/>
          </a:solidFill>
          <a:ln>
            <a:noFill/>
          </a:ln>
          <a:effectLst>
            <a:outerShdw blurRad="76200" dist="25400" dir="5400000" algn="bl" rotWithShape="0">
              <a:srgbClr val="1A2E5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7360920" y="1600200"/>
            <a:ext cx="1280160" cy="1280160"/>
          </a:xfrm>
          <a:prstGeom prst="rect">
            <a:avLst/>
          </a:prstGeom>
          <a:noFill/>
        </p:spPr>
        <p:txBody>
          <a:bodyPr wrap="square" lIns="73152" tIns="45720" rIns="73152" bIns="45720" anchor="ctr"/>
          <a:lstStyle/>
          <a:p>
            <a:pPr algn="ctr"/>
            <a:r>
              <a:rPr lang="tr-TR" sz="1500" b="1" i="0">
                <a:solidFill>
                  <a:srgbClr val="FFFFFF"/>
                </a:solidFill>
                <a:latin typeface="Calibri"/>
              </a:rPr>
              <a:t>Mavi Yeşil Türkiye</a:t>
            </a:r>
          </a:p>
        </p:txBody>
      </p:sp>
      <p:sp>
        <p:nvSpPr>
          <p:cNvPr id="31" name="Rounded Rectangle 30"/>
          <p:cNvSpPr/>
          <p:nvPr/>
        </p:nvSpPr>
        <p:spPr>
          <a:xfrm>
            <a:off x="685800" y="3127248"/>
            <a:ext cx="6400800" cy="56692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685800" y="3127248"/>
            <a:ext cx="6400800" cy="566928"/>
          </a:xfrm>
          <a:prstGeom prst="rect">
            <a:avLst/>
          </a:prstGeom>
          <a:noFill/>
        </p:spPr>
        <p:txBody>
          <a:bodyPr wrap="square" lIns="73152" tIns="45720" rIns="73152" bIns="45720" anchor="ctr"/>
          <a:lstStyle/>
          <a:p>
            <a:pPr algn="ctr"/>
            <a:r>
              <a:rPr lang="tr-TR" sz="1400" b="1" i="0">
                <a:solidFill>
                  <a:srgbClr val="1A2E5A"/>
                </a:solidFill>
                <a:latin typeface="Calibri"/>
              </a:rPr>
              <a:t>Ana dilini ve kültürünü korumak senin hakkın. </a:t>
            </a:r>
            <a:r>
              <a:rPr lang="tr-TR" sz="1400" b="1" i="0">
                <a:solidFill>
                  <a:srgbClr val="F97316"/>
                </a:solidFill>
                <a:latin typeface="Calibri"/>
              </a:rPr>
              <a:t>Türkçe seninle her yere gelir!</a:t>
            </a:r>
          </a:p>
        </p:txBody>
      </p:sp>
      <p:sp>
        <p:nvSpPr>
          <p:cNvPr id="33" name="Rounded Rectangle 32"/>
          <p:cNvSpPr/>
          <p:nvPr/>
        </p:nvSpPr>
        <p:spPr>
          <a:xfrm>
            <a:off x="7770571" y="3200400"/>
            <a:ext cx="1144829" cy="347472"/>
          </a:xfrm>
          <a:prstGeom prst="roundRect">
            <a:avLst>
              <a:gd name="adj" fmla="val 50000"/>
            </a:avLst>
          </a:prstGeom>
          <a:solidFill>
            <a:srgbClr val="1A2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7770571" y="3200400"/>
            <a:ext cx="1144829" cy="347472"/>
          </a:xfrm>
          <a:prstGeom prst="rect">
            <a:avLst/>
          </a:prstGeom>
          <a:noFill/>
        </p:spPr>
        <p:txBody>
          <a:bodyPr wrap="square" lIns="18288" tIns="45720" rIns="18288" bIns="45720" anchor="ctr"/>
          <a:lstStyle/>
          <a:p>
            <a:pPr algn="ctr"/>
            <a:r>
              <a:rPr lang="tr-TR" sz="1000" b="1" i="0">
                <a:solidFill>
                  <a:srgbClr val="FBBF24"/>
                </a:solidFill>
                <a:latin typeface="Calibri"/>
              </a:rPr>
              <a:t>7. Seviye: 2B2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1821</Words>
  <Application>Microsoft Office PowerPoint</Application>
  <PresentationFormat>Ekran Gösterisi (16:9)</PresentationFormat>
  <Paragraphs>211</Paragraphs>
  <Slides>15</Slides>
  <Notes>15</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15</vt:i4>
      </vt:variant>
    </vt:vector>
  </HeadingPairs>
  <TitlesOfParts>
    <vt:vector size="19" baseType="lpstr">
      <vt:lpstr>Arial</vt:lpstr>
      <vt:lpstr>Calibri</vt:lpstr>
      <vt:lpstr>Cambria</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Edibe YILMAZ</cp:lastModifiedBy>
  <cp:revision>2</cp:revision>
  <dcterms:created xsi:type="dcterms:W3CDTF">2026-07-29T14:07:45Z</dcterms:created>
  <dcterms:modified xsi:type="dcterms:W3CDTF">2026-10-02T08:46:06Z</dcterms:modified>
</cp:coreProperties>
</file>