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79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'Başlangıç seviyesinde ne demiştik? Türkiyeliyim!' diye hatırlat. 'Bugün bu şifreyi üçe bölüyoruz.' de. Kartları sırayla göster: 'Türkiye bir ÜLKE — neresi? Türk bir MİLLET — kim? Türkçe bir DİL — hangi dil?' Her kelimeyi öğrencilere tekrar ettir. Sonra alt cümleyi birlikte oku: 'Türkiye bir ülke. Ben Türk’üm. Türkçe konuşuyorum.'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'Başlangıç’ta Türkiye-li-yim dedik. -li eki bize kişinin nereli olduğunu söyler.' de. Her kartı okut: 'Hollanda — Hollandalı'. Eki (mor kısım) elinle işaret et. Sonra soru-cevap yap: 'Hollandalı mısın?' — 'Evet, Hollandalıyım. / Hayır, Norveçliyim.' Alttaki yazım kuralını vurgula: ülke adına bu ek gelince kesme işareti kullanılmaz (Hollandalı, İzmirli).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'Dikkat dedektifler, burada bir tuzak var!' de. 'Bazı milletlerin özel bir adı vardır.' Türkiye için iki cevabın da doğru olduğunu söyle: 'Türkiyeliyim' (Başlangıç’ta öğrendik) ve 'Türk’üm'. İspanya → İspanyol, Bulgaristan → Bulgar, Bosna Hersek → Boşnak (Bosnalı da denir). Öğrencilere sor: 'Almanya’da yaşayan insanlara ne deriz?' — 'Alman.'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'Şimdi dilin şifresini çözüyoruz.' de. 'Hangi dili konuşuyorsun?' diye sor, cevabı kendin ver: 'Türkçe konuşuyorum.' Kartları okut ve yeşil eki elinle göster. Danca’ya dikkat çek: Danimarka değil, Dan + ca. Ses kuralını basitçe göster: k, ç, ş gibi sert seslerden sonra -ça/-çe gelir (Türkçe, Norveççe, Boşnakça). Dil adlarının büyük harfle başladığını söyle.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'Dedektifler, her ülkenin dili ülkenin adıyla mı aynı?' diye sor. Sol sütunu oku: 'Burada benzer: Norveç — Norveççe.' Sağ sütunda dur: 'Amerika’da Amerikanca mı konuşulur? Hayır, İngilizce!' Senegal’de Fransızca ve Volofça konuşulduğunu, Hollanda’nın dilinin Felemenkçe (Hollandaca) olduğunu, Bosna Hersek’te üç dil bulunduğunu anlat. Alt kutuyu sıcak bir tonla oku: 'Türkçe de birçok yerde konuşulur — Türkiye’de, Kıbrıs’ta ve sizin evinizde!' Öğrencilere sor: 'Sizin yaşadığınız ülkede hangi dil konuşuluyor? Benzer mi, farklı mı?'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'Her kültürde insanlar selamlaşır — bu bir benzerlik. Ama kelimeler farklı — bu bir farklılık.' de. Selamları birlikte oku, çocuklar bildikleri selamları söylesin. Alttaki sırrı göster: Danimarka ve İsveç 'Hej!', Bosna Hersek ve Karadağ 'Zdravo!' der — komşu ülkelerin dilleri birbirine benzer. Ek bilgi: Bosna Hersek’te birçok kişi 'Merhaba' da der! Senegal’de 'Nanga def?' Volofça 'Nasılsın?' demektir. Son soru: 'Sen evde nasıl selam veriyorsun, okulda nasıl?'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'Şimdi üç şifreyi birleştirip kendimizi tanıtıyoruz.' de. İskeleti satır satır oku, öğrenciler boşlukları kendi bilgileriyle doldursun. Örneği birlikte oku. Ardından ikili çalışma: biri soruları sorsun (Nerelisin? Nerede yaşıyorsun? Arkadaşların nereli? Hangi dilleri konuşuyorsun?), diğeri iskeletle cevap versin.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Oyun: Bir bayrağı göster, öğrenciler üç şifreyi söylesin. Cevaplar: Danimarka — Danimarkalı — Danca; İspanya — İspanyol — İspanyolca; Çin — Çinli — Çince; Senegal — Senegalli — Fransızca ve Volofça (tuzak soru!). En hızlı ve doğru cevap veren 'baş dedektif' olur. Sonunda herkes kendi yaşadığı ülkenin üç şifresini söylesin.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9.png"/><Relationship Id="rId10" Type="http://schemas.openxmlformats.org/officeDocument/2006/relationships/image" Target="../media/image12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7.png"/><Relationship Id="rId9" Type="http://schemas.openxmlformats.org/officeDocument/2006/relationships/image" Target="../media/image2.png"/><Relationship Id="rId10" Type="http://schemas.openxmlformats.org/officeDocument/2006/relationships/image" Target="../media/image12.png"/><Relationship Id="rId11" Type="http://schemas.openxmlformats.org/officeDocument/2006/relationships/image" Target="../media/image24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2.png"/><Relationship Id="rId10" Type="http://schemas.openxmlformats.org/officeDocument/2006/relationships/image" Target="../media/image10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Relationship Id="rId14" Type="http://schemas.openxmlformats.org/officeDocument/2006/relationships/image" Target="../media/image11.png"/><Relationship Id="rId15" Type="http://schemas.openxmlformats.org/officeDocument/2006/relationships/image" Target="../media/image29.png"/><Relationship Id="rId16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p/>
        </p:txBody>
      </p:sp>
      <p:sp>
        <p:nvSpPr>
          <p:cNvPr id="16" name="5-Point Star 15"/>
          <p:cNvSpPr/>
          <p:nvPr/>
        </p:nvSpPr>
        <p:spPr>
          <a:xfrm>
            <a:off x="360680" y="26924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8407400" y="26924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360680" y="456692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8407400" y="456692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1092200" y="410972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675880" y="72644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 7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2" name="Picture 21" descr="1f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0" y="853440"/>
            <a:ext cx="670560" cy="67056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DİL DEDEKTİFİ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SEVİYESİ • DÜNYA TURU VE MEMLEKETİM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00200" y="329184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60020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 lIns="339088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 Yeri • İkametgah • Ülke-Millet-Dil • Aile Kökeni</a:t>
            </a:r>
            <a:endParaRPr lang="en-US" sz="1300" dirty="0"/>
          </a:p>
        </p:txBody>
      </p:sp>
      <p:pic>
        <p:nvPicPr>
          <p:cNvPr id="23" name="Picture 22" descr="1f9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469" y="3425508"/>
            <a:ext cx="189864" cy="189864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dedektif her zaman daha derin hikayelerin peşinden gider!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 PANOSU VE YENİ ŞİFRELER</a:t>
            </a:r>
            <a:endParaRPr lang="en-US" sz="1900" dirty="0"/>
          </a:p>
        </p:txBody>
      </p:sp>
      <p:pic>
        <p:nvPicPr>
          <p:cNvPr id="18" name="Picture 17" descr="1f5c2_fe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48640" y="932688"/>
            <a:ext cx="8046720" cy="786384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088136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p/>
        </p:txBody>
      </p:sp>
      <p:pic>
        <p:nvPicPr>
          <p:cNvPr id="19" name="Picture 18" descr="1f4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188720"/>
            <a:ext cx="274320" cy="27432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1600200" y="932688"/>
            <a:ext cx="6766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Doğum yerimizi ve yaşadığımız yeri net cümlelerle ayıracağız.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8046720" cy="786384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88036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20" name="Picture 19" descr="1f5fa_fe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980944"/>
            <a:ext cx="274320" cy="27432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600200" y="2724912"/>
            <a:ext cx="6766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Ailemizin köklerini bulmak için Türkiye haritasında yolculuğa çıkacağız.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621024"/>
            <a:ext cx="8046720" cy="786384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2960" y="3776472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21" name="Picture 20" descr="1f9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3877056"/>
            <a:ext cx="274320" cy="274320"/>
          </a:xfrm>
          <a:prstGeom prst="rect">
            <a:avLst/>
          </a:prstGeom>
        </p:spPr>
      </p:pic>
      <p:sp>
        <p:nvSpPr>
          <p:cNvPr id="16" name="Text 14"/>
          <p:cNvSpPr/>
          <p:nvPr/>
        </p:nvSpPr>
        <p:spPr>
          <a:xfrm>
            <a:off x="1600200" y="3621024"/>
            <a:ext cx="6766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“Hemşerim!” demenin arkasındaki dayanışma gücünü öğreneceğiz.</a:t>
            </a:r>
            <a:endParaRPr lang="en-US" sz="1550" dirty="0"/>
          </a:p>
        </p:txBody>
      </p:sp>
      <p:sp>
        <p:nvSpPr>
          <p:cNvPr id="23" name="Shape 7 new"/>
          <p:cNvSpPr/>
          <p:nvPr/>
        </p:nvSpPr>
        <p:spPr>
          <a:xfrm>
            <a:off x="548640" y="1828800"/>
            <a:ext cx="8046720" cy="786384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Shape 8 new"/>
          <p:cNvSpPr/>
          <p:nvPr/>
        </p:nvSpPr>
        <p:spPr>
          <a:xfrm>
            <a:off x="822960" y="198424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p/>
        </p:txBody>
      </p:sp>
      <p:pic>
        <p:nvPicPr>
          <p:cNvPr id="22" name="Picture 21" descr="1f3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2084832"/>
            <a:ext cx="274320" cy="274320"/>
          </a:xfrm>
          <a:prstGeom prst="rect">
            <a:avLst/>
          </a:prstGeom>
        </p:spPr>
      </p:pic>
      <p:sp>
        <p:nvSpPr>
          <p:cNvPr id="25" name="Text 10 new"/>
          <p:cNvSpPr/>
          <p:nvPr/>
        </p:nvSpPr>
        <p:spPr>
          <a:xfrm>
            <a:off x="1600200" y="1828800"/>
            <a:ext cx="6766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Ülke, millet ve dil isimlerini öğrenip kültürel benzerlik ve farklılıkları keşfedeceğiz.</a:t>
            </a:r>
            <a:endParaRPr lang="en-US" sz="1550" dirty="0"/>
          </a:p>
        </p:txBody>
      </p:sp>
      <p:sp>
        <p:nvSpPr>
          <p:cNvPr id="17" name="CurriculumNote"/>
          <p:cNvSpPr/>
          <p:nvPr/>
        </p:nvSpPr>
        <p:spPr>
          <a:xfrm>
            <a:off x="71802" y="747542"/>
            <a:ext cx="859536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2026 TTKD Öğretim Programı </a:t>
            </a:r>
            <a:r>
              <a:rPr lang="tr-TR" sz="900" dirty="0" smtClean="0">
                <a:solidFill>
                  <a:srgbClr val="94A3B8"/>
                </a:solidFill>
                <a:latin typeface="Calibri" pitchFamily="34" charset="0"/>
              </a:rPr>
              <a:t>—3</a:t>
            </a:r>
            <a:r>
              <a:rPr lang="tr-TR" sz="900" dirty="0" smtClean="0">
                <a:solidFill>
                  <a:srgbClr val="94A3B8"/>
                </a:solidFill>
                <a:latin typeface="Calibri" pitchFamily="34" charset="0"/>
              </a:rPr>
              <a:t>. Seviye: </a:t>
            </a:r>
            <a:r>
              <a:rPr lang="tr-TR" sz="900" dirty="0" smtClean="0">
                <a:solidFill>
                  <a:srgbClr val="94A3B8"/>
                </a:solidFill>
                <a:latin typeface="Calibri" pitchFamily="34" charset="0"/>
              </a:rPr>
              <a:t>1B3; 4. </a:t>
            </a:r>
            <a:r>
              <a:rPr lang="tr-TR" sz="900" smtClean="0">
                <a:solidFill>
                  <a:srgbClr val="94A3B8"/>
                </a:solidFill>
                <a:latin typeface="Calibri" pitchFamily="34" charset="0"/>
              </a:rPr>
              <a:t>Seviye: 2B1</a:t>
            </a:r>
            <a:endParaRPr lang="tr-T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FARKI ANLAMA</a:t>
            </a:r>
            <a:endParaRPr lang="en-US" sz="1900" dirty="0"/>
          </a:p>
        </p:txBody>
      </p:sp>
      <p:pic>
        <p:nvPicPr>
          <p:cNvPr id="10" name="Picture 9" descr="1f9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731520" y="1097280"/>
            <a:ext cx="7680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09728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"İstanbul’da doğdum ama Berlin’de yaşıyorum."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680960" cy="118872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74320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Belki siz Londra’da doğdunuz ama aileniz Ankara’dan geldi. Kim doğum yerini ve yaşadığı yeri böyle iki farklı şehirle söyleyebilir?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 Yeri  ≠  Yaşadığın Yer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 DAYANIŞMASI: “HEMŞERİM!”</a:t>
            </a:r>
            <a:endParaRPr lang="en-US" sz="1900" dirty="0"/>
          </a:p>
        </p:txBody>
      </p:sp>
      <p:pic>
        <p:nvPicPr>
          <p:cNvPr id="10" name="Picture 9" descr="1f9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1188720" y="100584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88720" y="10058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"Hemşerim!"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2860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Türkler dünyanın neresinde olurlarsa olsun, aynı şehirden veya bölgeden gelen birini bulduklarında ona içtenlikle “Hemşerim!” diye seslenir. “Hemşeri”, aynı toprağın havasını solumuş insanlar demektir.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Sokakta biri size “Hemşerim!” diye seslense ne hissederdin? Neden?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TÜRKİYE HARİTASI VE 7 BÖLGE</a:t>
            </a:r>
            <a:endParaRPr lang="en-US" sz="1900" dirty="0"/>
          </a:p>
        </p:txBody>
      </p:sp>
      <p:pic>
        <p:nvPicPr>
          <p:cNvPr id="27" name="Picture 26" descr="1f5fa_fe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434340" y="9144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7492" y="10515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" y="1691640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deniz kokulu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7460" y="9144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10612" y="10515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Karadeniz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10612" y="1691640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yemyeşil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0580" y="9144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13732" y="10515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Akdeniz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13732" y="1691640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43700" y="9144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16852" y="10515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Anadolu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6852" y="1691640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tarihin kalbi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" y="24688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7492" y="260604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" y="3246120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köprülerin şehri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37460" y="24688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10612" y="260604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Güneydoğu Anadolu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10612" y="3246120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lezzet diyarı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40580" y="246888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13732" y="260604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 Anadolu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13732" y="3246120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görkemli dağlar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Ailen bu bölgelerin hangisinden geliyor?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DİL İSKELETİ İSTASYONU</a:t>
            </a:r>
            <a:endParaRPr lang="en-US" sz="1900" dirty="0"/>
          </a:p>
        </p:txBody>
      </p:sp>
      <p:pic>
        <p:nvPicPr>
          <p:cNvPr id="11" name="Picture 10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457200" y="914400"/>
            <a:ext cx="8229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____’da/’de doğdum ama ____'de yaşıyorum.
</a:t>
            </a:r>
            <a:endParaRPr lang="en-US" sz="17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Ailem ____ bölgesinden geliyor.
</a:t>
            </a:r>
            <a:endParaRPr lang="en-US" sz="17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Onlar İzmirli / Trabzonlu / Konyalı.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 lIns="339088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300" dirty="0"/>
          </a:p>
        </p:txBody>
      </p:sp>
      <p:pic>
        <p:nvPicPr>
          <p:cNvPr id="12" name="Picture 11" descr="27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565" y="2899728"/>
            <a:ext cx="189864" cy="189864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"Ben İstanbul’da doğdum ama Rotterdam’da yaşıyorum. Ailem Karadeniz bölgesinden geliyor. Onlar Trabzonlu."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p/>
        </p:txBody>
      </p:sp>
      <p:sp>
        <p:nvSpPr>
          <p:cNvPr id="14" name="5-Point Star 13"/>
          <p:cNvSpPr/>
          <p:nvPr/>
        </p:nvSpPr>
        <p:spPr>
          <a:xfrm>
            <a:off x="372745" y="189865"/>
            <a:ext cx="168910" cy="16891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8419465" y="189865"/>
            <a:ext cx="168910" cy="16891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372745" y="4670425"/>
            <a:ext cx="168910" cy="16891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GİZEMLİ TAHMİN OYUNU!</a:t>
            </a:r>
            <a:endParaRPr lang="en-US" sz="1900" dirty="0"/>
          </a:p>
        </p:txBody>
      </p:sp>
      <p:pic>
        <p:nvPicPr>
          <p:cNvPr id="17" name="Picture 16" descr="1f3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640080" y="10972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Ailenin bölgesinin bir özelliğini söyle (hava durumu ya da meşhur bir yemek)...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34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...diğer dedektifler senin gerçek memleketini ve gizli coğrafi aidiyetini tahmin etsin!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Türkiye'yi çok iyi bilenler ipuçlarını detaylı tarif etsin!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KÜLTÜR KÖŞESİ – DEDEKTİF SIRRI!</a:t>
            </a:r>
            <a:endParaRPr lang="en-US" sz="1900" dirty="0"/>
          </a:p>
        </p:txBody>
      </p:sp>
      <p:pic>
        <p:nvPicPr>
          <p:cNvPr id="9" name="Picture 8" descr="1f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640080" y="1371600"/>
            <a:ext cx="7863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Türkler aynı memleketten biriyle bağ kurar. Aynı memleketten gelen kişilere «hemşehri» denir.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7498080" cy="82296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320040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 lIns="339088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Görevi: Yarın okulda bir arkadaşına 'Nerelisin?' diye sor, bakalım hemşehrin var mı!</a:t>
            </a:r>
            <a:endParaRPr lang="en-US" sz="1300" dirty="0"/>
          </a:p>
        </p:txBody>
      </p:sp>
      <p:pic>
        <p:nvPicPr>
          <p:cNvPr id="10" name="Picture 9" descr="1f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418" y="3516948"/>
            <a:ext cx="189864" cy="189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 lIns="453390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YENİ SAHA GÖREVİ</a:t>
            </a:r>
            <a:endParaRPr lang="en-US" sz="1900" dirty="0"/>
          </a:p>
        </p:txBody>
      </p:sp>
      <p:pic>
        <p:nvPicPr>
          <p:cNvPr id="24" name="Picture 23" descr="1f3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436"/>
            <a:ext cx="277495" cy="277495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kez görevin: “Hemşerim!” kelimesini GERÇEK bir bağlamda doğru kullanmak!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4264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426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 lIns="329564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Ailenizin geldiği bölgeyi/şehri öğrenin — anneannenize, dedenize veya ailenize sorun.</a:t>
            </a:r>
            <a:endParaRPr lang="en-US" sz="1250" dirty="0"/>
          </a:p>
        </p:txBody>
      </p:sp>
      <p:pic>
        <p:nvPicPr>
          <p:cNvPr id="25" name="Picture 24" descr="1f5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563783"/>
            <a:ext cx="182562" cy="182562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502920" y="214884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2951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 lIns="329564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Çevrenizde (okulda, ailede, komşularda) aynı bölgeden/şehirden birini bulmaya çalışın.</a:t>
            </a:r>
            <a:endParaRPr lang="en-US" sz="1250" dirty="0"/>
          </a:p>
        </p:txBody>
      </p:sp>
      <p:pic>
        <p:nvPicPr>
          <p:cNvPr id="26" name="Picture 25" descr="1f9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2432463"/>
            <a:ext cx="182562" cy="182562"/>
          </a:xfrm>
          <a:prstGeom prst="rect">
            <a:avLst/>
          </a:prstGeom>
        </p:spPr>
      </p:pic>
      <p:sp>
        <p:nvSpPr>
          <p:cNvPr id="14" name="Shape 12"/>
          <p:cNvSpPr/>
          <p:nvPr/>
        </p:nvSpPr>
        <p:spPr>
          <a:xfrm>
            <a:off x="502920" y="301752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16382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 lIns="329564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Bulduğunuzda ona doğru bağlamda “Hemşerim!” diye seslenin ve nedenini kısaca anlatın.</a:t>
            </a:r>
            <a:endParaRPr lang="en-US" sz="1250" dirty="0"/>
          </a:p>
        </p:txBody>
      </p:sp>
      <p:pic>
        <p:nvPicPr>
          <p:cNvPr id="27" name="Picture 26" descr="1f4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301143"/>
            <a:ext cx="182562" cy="182562"/>
          </a:xfrm>
          <a:prstGeom prst="rect">
            <a:avLst/>
          </a:prstGeom>
        </p:spPr>
      </p:pic>
      <p:sp>
        <p:nvSpPr>
          <p:cNvPr id="18" name="Shape 16"/>
          <p:cNvSpPr/>
          <p:nvPr/>
        </p:nvSpPr>
        <p:spPr>
          <a:xfrm>
            <a:off x="502920" y="388620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 lIns="329564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Bulamazsanız, ailenizin bölgesini ve “Hemşerim” sözünün dayanışma anlamını tanıtan kısa bir video çekin.</a:t>
            </a:r>
            <a:endParaRPr lang="en-US" sz="1250" dirty="0"/>
          </a:p>
        </p:txBody>
      </p:sp>
      <p:pic>
        <p:nvPicPr>
          <p:cNvPr id="28" name="Picture 27" descr="1f3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4169823"/>
            <a:ext cx="182562" cy="182562"/>
          </a:xfrm>
          <a:prstGeom prst="rect">
            <a:avLst/>
          </a:prstGeom>
        </p:spPr>
      </p:pic>
      <p:sp>
        <p:nvSpPr>
          <p:cNvPr id="22" name="Shape 20"/>
          <p:cNvSpPr/>
          <p:nvPr/>
        </p:nvSpPr>
        <p:spPr>
          <a:xfrm>
            <a:off x="1463040" y="4590288"/>
            <a:ext cx="621792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463040" y="459028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 rIns="32004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Videoyu ailenize gösterin — doğru “Hemşerim” anını yakaladınız mı?</a:t>
            </a:r>
            <a:endParaRPr lang="en-US" sz="1200" dirty="0"/>
          </a:p>
        </p:txBody>
      </p:sp>
      <p:pic>
        <p:nvPicPr>
          <p:cNvPr id="29" name="Picture 28" descr="1f3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840" y="4722114"/>
            <a:ext cx="1752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  <p:txBody>
          <a:bodyPr/>
          <a:p/>
        </p:txBody>
      </p:sp>
      <p:sp>
        <p:nvSpPr>
          <p:cNvPr id="19" name="5-Point Star 18"/>
          <p:cNvSpPr/>
          <p:nvPr/>
        </p:nvSpPr>
        <p:spPr>
          <a:xfrm>
            <a:off x="360680" y="26924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8407400" y="26924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360680" y="456692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407400" y="4566920"/>
            <a:ext cx="193040" cy="193040"/>
          </a:xfrm>
          <a:prstGeom prst="star5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 TAMAMLANDI!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 Yeri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74520" y="201168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7452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İkametgah</a:t>
            </a:r>
            <a:endParaRPr lang="en-US" sz="1300" dirty="0"/>
          </a:p>
        </p:txBody>
      </p:sp>
      <p:sp>
        <p:nvSpPr>
          <p:cNvPr id="24" name="Shape 8"/>
          <p:cNvSpPr/>
          <p:nvPr/>
        </p:nvSpPr>
        <p:spPr>
          <a:xfrm>
            <a:off x="3246120" y="201168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5" name="Text 9"/>
          <p:cNvSpPr/>
          <p:nvPr/>
        </p:nvSpPr>
        <p:spPr>
          <a:xfrm>
            <a:off x="324612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</a:t>
            </a:r>
            <a:b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Millet</a:t>
            </a:r>
            <a:b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201168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Kökeni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201168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8932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Bölge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201168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60920" y="201168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Hemşerim!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 rIns="377189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heyecan dolu dünya turunda görüşmek üzere!</a:t>
            </a:r>
            <a:endParaRPr lang="en-US" sz="1500" dirty="0"/>
          </a:p>
        </p:txBody>
      </p:sp>
      <p:pic>
        <p:nvPicPr>
          <p:cNvPr id="23" name="Picture 22" descr="1f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68" y="4096703"/>
            <a:ext cx="219074" cy="219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FFFFF"/>
                </a:solidFill>
                <a:latin typeface="Cambria"/>
              </a:rPr>
              <a:t>ÜLKE – MİLLET – DİL: ÜÇ ŞİFRE</a:t>
            </a:r>
          </a:p>
        </p:txBody>
      </p:sp>
      <p:pic>
        <p:nvPicPr>
          <p:cNvPr id="27" name="Picture 26" descr="1f3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500" b="0" i="1" lang="tr-TR">
                <a:solidFill>
                  <a:srgbClr val="1A2E5A"/>
                </a:solidFill>
                <a:latin typeface="Calibri"/>
              </a:rPr>
              <a:t>Başlangıç’ta öğrendik: </a:t>
            </a:r>
            <a:r>
              <a:rPr sz="1500" b="1" i="0" lang="tr-TR">
                <a:solidFill>
                  <a:srgbClr val="2563EB"/>
                </a:solidFill>
                <a:latin typeface="Calibri"/>
              </a:rPr>
              <a:t>“Türkiyeliyim.”</a:t>
            </a:r>
            <a:r>
              <a:rPr sz="1500" b="0" i="1" lang="tr-TR">
                <a:solidFill>
                  <a:srgbClr val="1A2E5A"/>
                </a:solidFill>
                <a:latin typeface="Calibri"/>
              </a:rPr>
              <a:t>  Şimdi şifreyi üçe bölüyoruz!</a:t>
            </a:r>
          </a:p>
        </p:txBody>
      </p:sp>
      <p:pic>
        <p:nvPicPr>
          <p:cNvPr id="6" name="Picture 5" descr="Turki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19899"/>
            <a:ext cx="1783080" cy="1195043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2514600" y="13258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834640" y="1444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834640" y="1444752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1200" b="1" i="0" lang="tr-TR">
                <a:solidFill>
                  <a:srgbClr val="FFFFFF"/>
                </a:solidFill>
                <a:latin typeface="Calibri"/>
              </a:rPr>
              <a:t>ÜLKE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828800" cy="6858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2800" b="1" i="0" lang="tr-TR">
                <a:solidFill>
                  <a:srgbClr val="2563EB"/>
                </a:solidFill>
                <a:latin typeface="Cambria"/>
              </a:rPr>
              <a:t>Türkiye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14600"/>
            <a:ext cx="1828800" cy="41148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400" b="0" i="1" lang="tr-TR">
                <a:solidFill>
                  <a:srgbClr val="64748B"/>
                </a:solidFill>
                <a:latin typeface="Calibri"/>
              </a:rPr>
              <a:t>Neresi?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2400" b="1" i="0" lang="tr-TR">
                <a:solidFill>
                  <a:srgbClr val="1A2E5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3258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029200" y="1444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0" y="1444752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1200" b="1" i="0" lang="tr-TR">
                <a:solidFill>
                  <a:srgbClr val="FFFFFF"/>
                </a:solidFill>
                <a:latin typeface="Calibri"/>
              </a:rPr>
              <a:t>MİLLET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1828800" cy="6858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2800" b="1" i="0" lang="tr-TR">
                <a:solidFill>
                  <a:srgbClr val="7C3AED"/>
                </a:solidFill>
                <a:latin typeface="Cambria"/>
              </a:rPr>
              <a:t>Türk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514600"/>
            <a:ext cx="1828800" cy="41148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400" b="0" i="1" lang="tr-TR">
                <a:solidFill>
                  <a:srgbClr val="64748B"/>
                </a:solidFill>
                <a:latin typeface="Calibri"/>
              </a:rPr>
              <a:t>Kim?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2400" b="1" i="0" lang="tr-TR">
                <a:solidFill>
                  <a:srgbClr val="1A2E5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325880"/>
            <a:ext cx="1828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223760" y="14447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23760" y="1444752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1200" b="1" i="0" lang="tr-TR">
                <a:solidFill>
                  <a:srgbClr val="FFFFFF"/>
                </a:solidFill>
                <a:latin typeface="Calibri"/>
              </a:rPr>
              <a:t>DİL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828800"/>
            <a:ext cx="1828800" cy="6858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2800" b="1" i="0" lang="tr-TR">
                <a:solidFill>
                  <a:srgbClr val="16A34A"/>
                </a:solidFill>
                <a:latin typeface="Cambria"/>
              </a:rPr>
              <a:t>Türkçe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514600"/>
            <a:ext cx="1828800" cy="41148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400" b="0" i="1" lang="tr-TR">
                <a:solidFill>
                  <a:srgbClr val="64748B"/>
                </a:solidFill>
                <a:latin typeface="Calibri"/>
              </a:rPr>
              <a:t>Hangi dil?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401568"/>
            <a:ext cx="7498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3401568"/>
            <a:ext cx="7498080" cy="73152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2000" b="1" i="0" lang="tr-TR">
                <a:solidFill>
                  <a:srgbClr val="2563EB"/>
                </a:solidFill>
                <a:latin typeface="Calibri"/>
              </a:rPr>
              <a:t>Türkiye</a:t>
            </a:r>
            <a:r>
              <a:rPr sz="2000" b="1" i="0" lang="tr-TR">
                <a:solidFill>
                  <a:srgbClr val="1A2E5A"/>
                </a:solidFill>
                <a:latin typeface="Calibri"/>
              </a:rPr>
              <a:t> bir ülke.  Ben </a:t>
            </a:r>
            <a:r>
              <a:rPr sz="2000" b="1" i="0" lang="tr-TR">
                <a:solidFill>
                  <a:srgbClr val="7C3AED"/>
                </a:solidFill>
                <a:latin typeface="Calibri"/>
              </a:rPr>
              <a:t>Türk</a:t>
            </a:r>
            <a:r>
              <a:rPr sz="2000" b="1" i="0" lang="tr-TR">
                <a:solidFill>
                  <a:srgbClr val="1A2E5A"/>
                </a:solidFill>
                <a:latin typeface="Calibri"/>
              </a:rPr>
              <a:t>’üm.  </a:t>
            </a:r>
            <a:r>
              <a:rPr sz="2000" b="1" i="0" lang="tr-TR">
                <a:solidFill>
                  <a:srgbClr val="16A34A"/>
                </a:solidFill>
                <a:latin typeface="Calibri"/>
              </a:rPr>
              <a:t>Türkçe</a:t>
            </a:r>
            <a:r>
              <a:rPr sz="2000" b="1" i="0" lang="tr-TR">
                <a:solidFill>
                  <a:srgbClr val="1A2E5A"/>
                </a:solidFill>
                <a:latin typeface="Calibri"/>
              </a:rPr>
              <a:t> konuşuyorum.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400" b="0" i="1" lang="tr-TR">
                <a:solidFill>
                  <a:srgbClr val="1A2E5A"/>
                </a:solidFill>
                <a:latin typeface="Calibri"/>
              </a:rPr>
              <a:t>Her ülkenin üç şifresi var: ülkenin adı, insanların adı ve dilin adı.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FFFFF"/>
                </a:solidFill>
                <a:latin typeface="Cambria"/>
              </a:rPr>
              <a:t>ŞİFRE 1: ÜLKE + -lı / -li / -lu / -lü = KİŞİ</a:t>
            </a:r>
          </a:p>
        </p:txBody>
      </p:sp>
      <p:pic>
        <p:nvPicPr>
          <p:cNvPr id="32" name="Picture 31" descr="1f46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500" b="1" i="0" lang="tr-TR">
                <a:solidFill>
                  <a:srgbClr val="7C3AED"/>
                </a:solidFill>
                <a:latin typeface="Calibri"/>
              </a:rPr>
              <a:t>Nerelisin?  →  </a:t>
            </a:r>
            <a:r>
              <a:rPr sz="1500" b="1" i="0" lang="tr-TR">
                <a:solidFill>
                  <a:srgbClr val="1A2E5A"/>
                </a:solidFill>
                <a:latin typeface="Calibri"/>
              </a:rPr>
              <a:t>Hollandalıyım.</a:t>
            </a:r>
            <a:r>
              <a:rPr sz="1500" b="0" i="0" lang="tr-TR">
                <a:solidFill>
                  <a:srgbClr val="1A2E5A"/>
                </a:solidFill>
                <a:latin typeface="Calibri"/>
              </a:rPr>
              <a:t>   Ülke adına </a:t>
            </a:r>
            <a:r>
              <a:rPr sz="1500" b="1" i="0" lang="tr-TR">
                <a:solidFill>
                  <a:srgbClr val="7C3AED"/>
                </a:solidFill>
                <a:latin typeface="Calibri"/>
              </a:rPr>
              <a:t>-lı / -li / -lu / -lü</a:t>
            </a:r>
            <a:r>
              <a:rPr sz="1500" b="0" i="0" lang="tr-TR">
                <a:solidFill>
                  <a:srgbClr val="1A2E5A"/>
                </a:solidFill>
                <a:latin typeface="Calibri"/>
              </a:rPr>
              <a:t> ekle!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Holl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1" y="1353312"/>
            <a:ext cx="531759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17320" y="1261872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Hollanda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Hollanda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61872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meri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78162"/>
            <a:ext cx="640080" cy="352637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577840" y="1261872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Amerika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Amerika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56816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Norv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81" y="2048256"/>
            <a:ext cx="544479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417320" y="1956816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Norveç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Norveç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956816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259" y="2048256"/>
            <a:ext cx="562761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577840" y="1956816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Çin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Çin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51760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animark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34" y="2743200"/>
            <a:ext cx="523972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1417320" y="2651760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Danimarka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Danimarka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651760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eneg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744173"/>
            <a:ext cx="640080" cy="40039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577840" y="2651760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Senegal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Senegal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46704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Karada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489960"/>
            <a:ext cx="640080" cy="29870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1417320" y="3346704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Karadağ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Karadağ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346704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sve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3439082"/>
            <a:ext cx="640080" cy="40046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577840" y="3346704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İsveç</a:t>
            </a:r>
            <a:r>
              <a:rPr sz="18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800" b="1" i="0" lang="tr-TR">
                <a:solidFill>
                  <a:srgbClr val="1A2E5A"/>
                </a:solidFill>
                <a:latin typeface="Calibri"/>
              </a:rPr>
              <a:t>İsveç</a:t>
            </a:r>
            <a:r>
              <a:rPr sz="1800" b="1" i="0" lang="tr-TR">
                <a:solidFill>
                  <a:srgbClr val="7C3AED"/>
                </a:solidFill>
                <a:latin typeface="Calibri"/>
              </a:rPr>
              <a:t>li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14800"/>
            <a:ext cx="8138160" cy="713232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587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7863840" cy="713232"/>
          </a:xfrm>
          <a:prstGeom prst="rect">
            <a:avLst/>
          </a:prstGeom>
          <a:noFill/>
        </p:spPr>
        <p:txBody>
          <a:bodyPr wrap="square" anchor="ctr" lIns="320800" rIns="73152" tIns="45720" bIns="45720"/>
          <a:lstStyle/>
          <a:p>
            <a:pPr algn="ctr"/>
            <a:r>
              <a:rPr sz="1300" b="1" i="0" lang="tr-TR">
                <a:solidFill>
                  <a:srgbClr val="F97316"/>
                </a:solidFill>
                <a:latin typeface="Calibri"/>
              </a:rPr>
              <a:t>Kesme işareti yok! </a:t>
            </a:r>
            <a:r>
              <a:rPr sz="1300" b="1" i="0" lang="tr-TR">
                <a:solidFill>
                  <a:srgbClr val="1A2E5A"/>
                </a:solidFill>
                <a:latin typeface="Calibri"/>
              </a:rPr>
              <a:t>Doğru: Hollandalı  •  Yanlış: Hollanda’lı</a:t>
            </a:r>
            <a:r>
              <a:rPr sz="1300" b="0" i="0" lang="tr-TR">
                <a:solidFill>
                  <a:srgbClr val="1A2E5A"/>
                </a:solidFill>
                <a:latin typeface="Calibri"/>
              </a:rPr>
              <a:t>   •   Şehirlerde de aynı: İzmirli, Trabzonlu, Konyalı</a:t>
            </a:r>
          </a:p>
        </p:txBody>
      </p:sp>
      <p:pic>
        <p:nvPicPr>
          <p:cNvPr id="33" name="Picture 32" descr="270f_fe0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908" y="4376484"/>
            <a:ext cx="189864" cy="1898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FFFFF"/>
                </a:solidFill>
                <a:latin typeface="Cambria"/>
              </a:rPr>
              <a:t>ÖZEL İSİMLER – DEDEKTİF TUZAĞI!</a:t>
            </a:r>
          </a:p>
        </p:txBody>
      </p:sp>
      <p:pic>
        <p:nvPicPr>
          <p:cNvPr id="30" name="Picture 29" descr="2b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500" b="0" i="1" lang="tr-TR">
                <a:solidFill>
                  <a:srgbClr val="1A2E5A"/>
                </a:solidFill>
                <a:latin typeface="Calibri"/>
              </a:rPr>
              <a:t>Bazı milletlerin kendine özel bir adı var. Bunları ezberleyelim!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61872"/>
            <a:ext cx="7498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Turki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37" y="1362456"/>
            <a:ext cx="627598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828800" y="1261872"/>
            <a:ext cx="21945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Türkiye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26187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2200" b="1" i="0" lang="tr-TR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261872"/>
            <a:ext cx="17373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2400" b="1" i="0" lang="tr-TR">
                <a:solidFill>
                  <a:srgbClr val="F97316"/>
                </a:solidFill>
                <a:latin typeface="Cambria"/>
              </a:rPr>
              <a:t>Türk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261872"/>
            <a:ext cx="237744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300" b="0" i="1" lang="tr-TR">
                <a:solidFill>
                  <a:srgbClr val="64748B"/>
                </a:solidFill>
                <a:latin typeface="Calibri"/>
              </a:rPr>
              <a:t>(Türkiyeli de denir)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93392"/>
            <a:ext cx="7498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spany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52" y="2093976"/>
            <a:ext cx="607568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828800" y="1993392"/>
            <a:ext cx="21945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İspanya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9339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2200" b="1" i="0" lang="tr-TR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993392"/>
            <a:ext cx="17373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2400" b="1" i="0" lang="tr-TR">
                <a:solidFill>
                  <a:srgbClr val="F97316"/>
                </a:solidFill>
                <a:latin typeface="Cambria"/>
              </a:rPr>
              <a:t>İspanyol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24912"/>
            <a:ext cx="7498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ulgarist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840883"/>
            <a:ext cx="658368" cy="389849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1828800" y="2724912"/>
            <a:ext cx="21945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Bulgaristan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2491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2200" b="1" i="0" lang="tr-TR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724912"/>
            <a:ext cx="17373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2400" b="1" i="0" lang="tr-TR">
                <a:solidFill>
                  <a:srgbClr val="F97316"/>
                </a:solidFill>
                <a:latin typeface="Cambria"/>
              </a:rPr>
              <a:t>Bulgar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56432"/>
            <a:ext cx="7498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Bos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526" y="3557016"/>
            <a:ext cx="602419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1828800" y="3456432"/>
            <a:ext cx="21945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800" b="1" i="0" lang="tr-TR">
                <a:solidFill>
                  <a:srgbClr val="1A2E5A"/>
                </a:solidFill>
                <a:latin typeface="Calibri"/>
              </a:rPr>
              <a:t>Bosna Hersek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456432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45720" bIns="45720"/>
          <a:lstStyle/>
          <a:p>
            <a:pPr algn="ctr"/>
            <a:r>
              <a:rPr sz="2200" b="1" i="0" lang="tr-TR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456432"/>
            <a:ext cx="173736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2400" b="1" i="0" lang="tr-TR">
                <a:solidFill>
                  <a:srgbClr val="F97316"/>
                </a:solidFill>
                <a:latin typeface="Cambria"/>
              </a:rPr>
              <a:t>Boşnak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456432"/>
            <a:ext cx="2377440" cy="621792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300" b="0" i="1" lang="tr-TR">
                <a:solidFill>
                  <a:srgbClr val="64748B"/>
                </a:solidFill>
                <a:latin typeface="Calibri"/>
              </a:rPr>
              <a:t>(Bosnalı da denir)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251960"/>
            <a:ext cx="7498080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4251960"/>
            <a:ext cx="7498080" cy="566928"/>
          </a:xfrm>
          <a:prstGeom prst="rect">
            <a:avLst/>
          </a:prstGeom>
          <a:noFill/>
        </p:spPr>
        <p:txBody>
          <a:bodyPr wrap="square" anchor="ctr" lIns="339850" rIns="73152" tIns="45720" bIns="45720"/>
          <a:lstStyle/>
          <a:p>
            <a:pPr algn="ctr"/>
            <a:r>
              <a:rPr sz="1400" b="1" i="0" lang="tr-TR">
                <a:solidFill>
                  <a:srgbClr val="FFFFFF"/>
                </a:solidFill>
                <a:latin typeface="Calibri"/>
              </a:rPr>
              <a:t>Bir ipucu daha: Almanya → Alman,  Yunanistan → Yunan,  Rusya → Rus</a:t>
            </a:r>
          </a:p>
        </p:txBody>
      </p:sp>
      <p:pic>
        <p:nvPicPr>
          <p:cNvPr id="31" name="Picture 30" descr="1f50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9345" y="4433189"/>
            <a:ext cx="204469" cy="2044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FFFFF"/>
                </a:solidFill>
                <a:latin typeface="Cambria"/>
              </a:rPr>
              <a:t>ŞİFRE 2: -ca / -ce / -ça / -çe = DİL</a:t>
            </a:r>
          </a:p>
        </p:txBody>
      </p:sp>
      <p:pic>
        <p:nvPicPr>
          <p:cNvPr id="32" name="Picture 31" descr="1f5e3_fe0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500" b="1" i="0" lang="tr-TR">
                <a:solidFill>
                  <a:srgbClr val="16A34A"/>
                </a:solidFill>
                <a:latin typeface="Calibri"/>
              </a:rPr>
              <a:t>Hangi dili konuşuyorsun?  →  </a:t>
            </a:r>
            <a:r>
              <a:rPr sz="1500" b="1" i="0" lang="tr-TR">
                <a:solidFill>
                  <a:srgbClr val="1A2E5A"/>
                </a:solidFill>
                <a:latin typeface="Calibri"/>
              </a:rPr>
              <a:t>Türkçe konuşuyorum.</a:t>
            </a:r>
            <a:r>
              <a:rPr sz="1500" b="0" i="0" lang="tr-TR">
                <a:solidFill>
                  <a:srgbClr val="1A2E5A"/>
                </a:solidFill>
                <a:latin typeface="Calibri"/>
              </a:rPr>
              <a:t>   Sonuna </a:t>
            </a:r>
            <a:r>
              <a:rPr sz="1500" b="1" i="0" lang="tr-TR">
                <a:solidFill>
                  <a:srgbClr val="16A34A"/>
                </a:solidFill>
                <a:latin typeface="Calibri"/>
              </a:rPr>
              <a:t>-ca / -ce / -ça / -çe</a:t>
            </a:r>
            <a:r>
              <a:rPr sz="1500" b="0" i="0" lang="tr-TR">
                <a:solidFill>
                  <a:srgbClr val="1A2E5A"/>
                </a:solidFill>
                <a:latin typeface="Calibri"/>
              </a:rPr>
              <a:t> ekle!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Turki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65" y="1353312"/>
            <a:ext cx="600311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17320" y="1261872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Türkiye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Türk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çe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61872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Norv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401" y="1353312"/>
            <a:ext cx="544479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577840" y="1261872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Norveç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Norveç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çe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56816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39" y="2048256"/>
            <a:ext cx="562761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417320" y="1956816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Çin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Çin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956816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Danimark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8654" y="2048256"/>
            <a:ext cx="523972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577840" y="1956816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Danimarka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Dan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51760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Ispany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544" y="2743200"/>
            <a:ext cx="581152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1417320" y="2651760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İspanya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İspanyol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651760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Bulgarist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754858"/>
            <a:ext cx="640080" cy="3790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577840" y="2651760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Bulgaristan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Bulgar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46704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Isve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439082"/>
            <a:ext cx="640080" cy="40046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1417320" y="3346704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İsveç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İsveç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çe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346704"/>
            <a:ext cx="397764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Bosn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2527" y="3438144"/>
            <a:ext cx="576227" cy="40233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577840" y="3346704"/>
            <a:ext cx="3017520" cy="585216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1" i="0" lang="tr-TR">
                <a:solidFill>
                  <a:srgbClr val="1A2E5A"/>
                </a:solidFill>
                <a:latin typeface="Calibri"/>
              </a:rPr>
              <a:t>Bosna Hersek</a:t>
            </a:r>
            <a:r>
              <a:rPr sz="17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Boşnak</a:t>
            </a:r>
            <a:r>
              <a:rPr sz="1700" b="1" i="0" lang="tr-TR">
                <a:solidFill>
                  <a:srgbClr val="16A34A"/>
                </a:solidFill>
                <a:latin typeface="Calibri"/>
              </a:rPr>
              <a:t>ça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14800"/>
            <a:ext cx="8138160" cy="713232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587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7863840" cy="713232"/>
          </a:xfrm>
          <a:prstGeom prst="rect">
            <a:avLst/>
          </a:prstGeom>
          <a:noFill/>
        </p:spPr>
        <p:txBody>
          <a:bodyPr wrap="square" anchor="ctr" lIns="320800" rIns="73152" tIns="45720" bIns="45720"/>
          <a:lstStyle/>
          <a:p>
            <a:pPr algn="ctr"/>
            <a:r>
              <a:rPr sz="1300" b="1" i="0" lang="tr-TR">
                <a:solidFill>
                  <a:srgbClr val="F97316"/>
                </a:solidFill>
                <a:latin typeface="Calibri"/>
              </a:rPr>
              <a:t>Sert seslerden (ç, k, ş…) sonra -ça / -çe gelir: </a:t>
            </a:r>
            <a:r>
              <a:rPr sz="1300" b="1" i="0" lang="tr-TR">
                <a:solidFill>
                  <a:srgbClr val="1A2E5A"/>
                </a:solidFill>
                <a:latin typeface="Calibri"/>
              </a:rPr>
              <a:t>Türkçe, Boşnakça</a:t>
            </a:r>
            <a:r>
              <a:rPr sz="1300" b="0" i="0" lang="tr-TR">
                <a:solidFill>
                  <a:srgbClr val="1A2E5A"/>
                </a:solidFill>
                <a:latin typeface="Calibri"/>
              </a:rPr>
              <a:t>   •   Dil adları büyük harfle başlar.</a:t>
            </a:r>
          </a:p>
        </p:txBody>
      </p:sp>
      <p:pic>
        <p:nvPicPr>
          <p:cNvPr id="33" name="Picture 32" descr="1f4a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8667" y="4376484"/>
            <a:ext cx="189864" cy="1898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BBF24"/>
                </a:solidFill>
                <a:latin typeface="Cambria"/>
              </a:rPr>
              <a:t>BENZER Mİ, FARKLI MI?</a:t>
            </a:r>
          </a:p>
        </p:txBody>
      </p:sp>
      <p:pic>
        <p:nvPicPr>
          <p:cNvPr id="35" name="Picture 34" descr="1f50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841248"/>
            <a:ext cx="4069080" cy="30175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4069080" cy="457200"/>
          </a:xfrm>
          <a:prstGeom prst="rect">
            <a:avLst/>
          </a:prstGeom>
          <a:noFill/>
        </p:spPr>
        <p:txBody>
          <a:bodyPr wrap="square" anchor="ctr" lIns="358901" rIns="73152" tIns="45720" bIns="45720"/>
          <a:lstStyle/>
          <a:p>
            <a:pPr algn="ctr"/>
            <a:r>
              <a:rPr sz="1500" b="1" i="0" lang="tr-TR">
                <a:solidFill>
                  <a:srgbClr val="16A34A"/>
                </a:solidFill>
                <a:latin typeface="Calibri"/>
              </a:rPr>
              <a:t>BENZER: Ülke adı ≈ Dil adı</a:t>
            </a:r>
          </a:p>
        </p:txBody>
      </p:sp>
      <p:pic>
        <p:nvPicPr>
          <p:cNvPr id="36" name="Picture 35" descr="1f44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6991" y="1015175"/>
            <a:ext cx="219074" cy="2190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1732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Norv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83" y="1499616"/>
            <a:ext cx="457857" cy="33832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97864" y="141732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500" b="1" i="0" lang="tr-TR">
                <a:solidFill>
                  <a:srgbClr val="1A2E5A"/>
                </a:solidFill>
                <a:latin typeface="Calibri"/>
              </a:rPr>
              <a:t>Norveç</a:t>
            </a:r>
            <a:r>
              <a:rPr sz="15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500" b="1" i="0" lang="tr-TR">
                <a:solidFill>
                  <a:srgbClr val="16A34A"/>
                </a:solidFill>
                <a:latin typeface="Calibri"/>
              </a:rPr>
              <a:t>Norveççe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97" y="2093976"/>
            <a:ext cx="473231" cy="33832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197864" y="201168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500" b="1" i="0" lang="tr-TR">
                <a:solidFill>
                  <a:srgbClr val="1A2E5A"/>
                </a:solidFill>
                <a:latin typeface="Calibri"/>
              </a:rPr>
              <a:t>Çin</a:t>
            </a:r>
            <a:r>
              <a:rPr sz="15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500" b="1" i="0" lang="tr-TR">
                <a:solidFill>
                  <a:srgbClr val="16A34A"/>
                </a:solidFill>
                <a:latin typeface="Calibri"/>
              </a:rPr>
              <a:t>Çince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Isv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97316"/>
            <a:ext cx="512064" cy="32036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197864" y="260604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500" b="1" i="0" lang="tr-TR">
                <a:solidFill>
                  <a:srgbClr val="1A2E5A"/>
                </a:solidFill>
                <a:latin typeface="Calibri"/>
              </a:rPr>
              <a:t>İsveç</a:t>
            </a:r>
            <a:r>
              <a:rPr sz="15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500" b="1" i="0" lang="tr-TR">
                <a:solidFill>
                  <a:srgbClr val="16A34A"/>
                </a:solidFill>
                <a:latin typeface="Calibri"/>
              </a:rPr>
              <a:t>İsveççe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Turki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09" y="3282696"/>
            <a:ext cx="504807" cy="33832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1197864" y="320040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500" b="1" i="0" lang="tr-TR">
                <a:solidFill>
                  <a:srgbClr val="1A2E5A"/>
                </a:solidFill>
                <a:latin typeface="Calibri"/>
              </a:rPr>
              <a:t>Türkiye</a:t>
            </a:r>
            <a:r>
              <a:rPr sz="15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500" b="1" i="0" lang="tr-TR">
                <a:solidFill>
                  <a:srgbClr val="16A34A"/>
                </a:solidFill>
                <a:latin typeface="Calibri"/>
              </a:rPr>
              <a:t>Türkçe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841248"/>
            <a:ext cx="4069080" cy="301752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63440" y="896112"/>
            <a:ext cx="4069080" cy="457200"/>
          </a:xfrm>
          <a:prstGeom prst="rect">
            <a:avLst/>
          </a:prstGeom>
          <a:noFill/>
        </p:spPr>
        <p:txBody>
          <a:bodyPr wrap="square" anchor="ctr" lIns="358901" rIns="73152" tIns="45720" bIns="45720"/>
          <a:lstStyle/>
          <a:p>
            <a:pPr algn="ctr"/>
            <a:r>
              <a:rPr sz="1500" b="1" i="0" lang="tr-TR">
                <a:solidFill>
                  <a:srgbClr val="F97316"/>
                </a:solidFill>
                <a:latin typeface="Calibri"/>
              </a:rPr>
              <a:t>FARKLI: Dedektif dikkat!</a:t>
            </a:r>
          </a:p>
        </p:txBody>
      </p:sp>
      <p:pic>
        <p:nvPicPr>
          <p:cNvPr id="37" name="Picture 36" descr="1f91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5128" y="1015175"/>
            <a:ext cx="219074" cy="21907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800600" y="141732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Amerik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527725"/>
            <a:ext cx="512064" cy="282109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449824" y="141732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200" b="1" i="0" lang="tr-TR">
                <a:solidFill>
                  <a:srgbClr val="1A2E5A"/>
                </a:solidFill>
                <a:latin typeface="Calibri"/>
              </a:rPr>
              <a:t>Amerika</a:t>
            </a:r>
            <a:r>
              <a:rPr sz="12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200" b="1" i="0" lang="tr-TR">
                <a:solidFill>
                  <a:srgbClr val="F97316"/>
                </a:solidFill>
                <a:latin typeface="Calibri"/>
              </a:rPr>
              <a:t>İngilizce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01168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Seneg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102984"/>
            <a:ext cx="512064" cy="32031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5449824" y="201168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200" b="1" i="0" lang="tr-TR">
                <a:solidFill>
                  <a:srgbClr val="1A2E5A"/>
                </a:solidFill>
                <a:latin typeface="Calibri"/>
              </a:rPr>
              <a:t>Senegal</a:t>
            </a:r>
            <a:r>
              <a:rPr sz="12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200" b="1" i="0" lang="tr-TR">
                <a:solidFill>
                  <a:srgbClr val="F97316"/>
                </a:solidFill>
                <a:latin typeface="Calibri"/>
              </a:rPr>
              <a:t>Fransızca, Volofça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260604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Holland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4492" y="2688336"/>
            <a:ext cx="447161" cy="33832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449824" y="260604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200" b="1" i="0" lang="tr-TR">
                <a:solidFill>
                  <a:srgbClr val="1A2E5A"/>
                </a:solidFill>
                <a:latin typeface="Calibri"/>
              </a:rPr>
              <a:t>Hollanda</a:t>
            </a:r>
            <a:r>
              <a:rPr sz="12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200" b="1" i="0" lang="tr-TR">
                <a:solidFill>
                  <a:srgbClr val="F97316"/>
                </a:solidFill>
                <a:latin typeface="Calibri"/>
              </a:rPr>
              <a:t>Felemenkçe (Hollandaca)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3200400"/>
            <a:ext cx="37947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Bosn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5795" y="3282696"/>
            <a:ext cx="484555" cy="33832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5449824" y="3200400"/>
            <a:ext cx="3145536" cy="502920"/>
          </a:xfrm>
          <a:prstGeom prst="rect">
            <a:avLst/>
          </a:prstGeom>
          <a:noFill/>
        </p:spPr>
        <p:txBody>
          <a:bodyPr wrap="square" anchor="ctr" lIns="27432" rIns="27432" tIns="45720" bIns="45720"/>
          <a:lstStyle/>
          <a:p>
            <a:pPr algn="l"/>
            <a:r>
              <a:rPr sz="1200" b="1" i="0" lang="tr-TR">
                <a:solidFill>
                  <a:srgbClr val="1A2E5A"/>
                </a:solidFill>
                <a:latin typeface="Calibri"/>
              </a:rPr>
              <a:t>Bosna Hersek</a:t>
            </a:r>
            <a:r>
              <a:rPr sz="1200" b="1" i="0" lang="tr-TR">
                <a:solidFill>
                  <a:srgbClr val="64748B"/>
                </a:solidFill>
                <a:latin typeface="Calibri"/>
              </a:rPr>
              <a:t>  →  </a:t>
            </a:r>
            <a:r>
              <a:rPr sz="1200" b="1" i="0" lang="tr-TR">
                <a:solidFill>
                  <a:srgbClr val="F97316"/>
                </a:solidFill>
                <a:latin typeface="Calibri"/>
              </a:rPr>
              <a:t>Boşnakça, Sırpça, Hırvatça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005072"/>
            <a:ext cx="83210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4360" y="4005072"/>
            <a:ext cx="7955280" cy="841248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500" b="0" i="0" lang="tr-TR">
                <a:solidFill>
                  <a:srgbClr val="1A2E5A"/>
                </a:solidFill>
                <a:latin typeface="Calibri"/>
              </a:rPr>
              <a:t>Bir ülkede birden fazla dil konuşulabilir. Bir dil de birçok ülkede konuşulabilir: </a:t>
            </a:r>
            <a:r>
              <a:rPr sz="1500" b="1" i="0" lang="tr-TR">
                <a:solidFill>
                  <a:srgbClr val="2563EB"/>
                </a:solidFill>
                <a:latin typeface="Calibri"/>
              </a:rPr>
              <a:t>Türkçe Türkiye’de, Kıbrıs’ta… ve senin evinde!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FFFFF"/>
                </a:solidFill>
                <a:latin typeface="Cambria"/>
              </a:rPr>
              <a:t>DÜNYA MERHABA DİYOR!</a:t>
            </a:r>
          </a:p>
        </p:txBody>
      </p:sp>
      <p:pic>
        <p:nvPicPr>
          <p:cNvPr id="56" name="Picture 55" descr="1f44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500" b="1" i="0" lang="tr-TR">
                <a:solidFill>
                  <a:srgbClr val="16A34A"/>
                </a:solidFill>
                <a:latin typeface="Calibri"/>
              </a:rPr>
              <a:t>Benzerlik: </a:t>
            </a:r>
            <a:r>
              <a:rPr sz="1500" b="0" i="0" lang="tr-TR">
                <a:solidFill>
                  <a:srgbClr val="1A2E5A"/>
                </a:solidFill>
                <a:latin typeface="Calibri"/>
              </a:rPr>
              <a:t>Her kültürde insanlar selamlaşır.   </a:t>
            </a:r>
            <a:r>
              <a:rPr sz="1500" b="1" i="0" lang="tr-TR">
                <a:solidFill>
                  <a:srgbClr val="F97316"/>
                </a:solidFill>
                <a:latin typeface="Calibri"/>
              </a:rPr>
              <a:t>Farklılık: </a:t>
            </a:r>
            <a:r>
              <a:rPr sz="1500" b="0" i="0" lang="tr-TR">
                <a:solidFill>
                  <a:srgbClr val="1A2E5A"/>
                </a:solidFill>
                <a:latin typeface="Calibri"/>
              </a:rPr>
              <a:t>Kelimeler farklıdır!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07008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DE68A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Turki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16250"/>
            <a:ext cx="603504" cy="40447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88720" y="1280160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Türkiye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Merhaba!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3744" y="1207008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Hollan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259" y="1408176"/>
            <a:ext cx="555930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300984" y="1280160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Hollanda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1536192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Hallo!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1207008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Ameri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1452245"/>
            <a:ext cx="603504" cy="33248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413248" y="1280160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Amerika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536192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Hello!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8272" y="1207008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Norv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5138" y="1408176"/>
            <a:ext cx="569228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7525512" y="1280160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Norveç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1536192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Hei!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148840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C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789" y="2350008"/>
            <a:ext cx="588341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1188720" y="2221992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Çin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478024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Ni hao!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23744" y="2148840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Danimark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1329" y="2350008"/>
            <a:ext cx="547789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3300984" y="2221992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Danimarka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0984" y="2478024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Hej!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6008" y="2148840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Bos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6278" y="2350008"/>
            <a:ext cx="602419" cy="420624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5413248" y="2221992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Bosna Hersek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2478024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Zdravo!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48272" y="2148840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Ispany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351415"/>
            <a:ext cx="603504" cy="41781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7525512" y="2221992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İspanya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478024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¡Hola!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090672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Seneg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208" y="3313396"/>
            <a:ext cx="603504" cy="377511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1188720" y="3163824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Senegal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3419856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Nanga def?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23744" y="3090672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Karada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3472" y="3361334"/>
            <a:ext cx="603504" cy="281635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3300984" y="3163824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Karadağ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00984" y="3419856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Zdravo!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36008" y="3090672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Isve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45736" y="3313364"/>
            <a:ext cx="603504" cy="377577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48" name="TextBox 47"/>
          <p:cNvSpPr txBox="1"/>
          <p:nvPr/>
        </p:nvSpPr>
        <p:spPr>
          <a:xfrm>
            <a:off x="5413248" y="3163824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İsveç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3248" y="3419856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Hej!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48272" y="3090672"/>
            <a:ext cx="198424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Bulgarista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0" y="3323471"/>
            <a:ext cx="603504" cy="357362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52" name="TextBox 51"/>
          <p:cNvSpPr txBox="1"/>
          <p:nvPr/>
        </p:nvSpPr>
        <p:spPr>
          <a:xfrm>
            <a:off x="7525512" y="3163824"/>
            <a:ext cx="1188720" cy="292608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000" b="1" i="0" lang="tr-TR">
                <a:solidFill>
                  <a:srgbClr val="64748B"/>
                </a:solidFill>
                <a:latin typeface="Calibri"/>
              </a:rPr>
              <a:t>Bulgaristan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25512" y="3419856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45720" bIns="45720"/>
          <a:lstStyle/>
          <a:p>
            <a:pPr algn="l"/>
            <a:r>
              <a:rPr sz="1700" b="1" i="0" lang="tr-TR">
                <a:solidFill>
                  <a:srgbClr val="7C3AED"/>
                </a:solidFill>
                <a:latin typeface="Calibri"/>
              </a:rPr>
              <a:t>Zdravey!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4096512"/>
            <a:ext cx="8321040" cy="73152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587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48640" y="4096512"/>
            <a:ext cx="8046720" cy="731520"/>
          </a:xfrm>
          <a:prstGeom prst="rect">
            <a:avLst/>
          </a:prstGeom>
          <a:noFill/>
        </p:spPr>
        <p:txBody>
          <a:bodyPr wrap="square" anchor="ctr" lIns="339850" rIns="73152" tIns="45720" bIns="45720"/>
          <a:lstStyle/>
          <a:p>
            <a:pPr algn="ctr"/>
            <a:r>
              <a:rPr sz="1400" b="1" i="0" lang="tr-TR">
                <a:solidFill>
                  <a:srgbClr val="F97316"/>
                </a:solidFill>
                <a:latin typeface="Calibri"/>
              </a:rPr>
              <a:t>Dedektif sırrı: </a:t>
            </a:r>
            <a:r>
              <a:rPr sz="1400" b="1" i="0" lang="tr-TR">
                <a:solidFill>
                  <a:srgbClr val="1A2E5A"/>
                </a:solidFill>
                <a:latin typeface="Calibri"/>
              </a:rPr>
              <a:t>Danimarka ve İsveç “Hej!”, Bosna Hersek ve Karadağ “Zdravo!” der. Komşu ülkelerin dilleri birbirine benzer!</a:t>
            </a:r>
          </a:p>
        </p:txBody>
      </p:sp>
      <p:pic>
        <p:nvPicPr>
          <p:cNvPr id="57" name="Picture 56" descr="1f4a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792" y="4360037"/>
            <a:ext cx="204469" cy="2044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FFFFF"/>
                </a:solidFill>
                <a:latin typeface="Cambria"/>
              </a:rPr>
              <a:t>DİL İSKELETİ: BEN KİMİM?</a:t>
            </a:r>
          </a:p>
        </p:txBody>
      </p:sp>
      <p:pic>
        <p:nvPicPr>
          <p:cNvPr id="11" name="Picture 10" descr="1f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841248"/>
            <a:ext cx="8229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7772400" cy="201168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>
              <a:lnSpc>
                <a:spcPct val="125000"/>
              </a:lnSpc>
            </a:pPr>
            <a:r>
              <a:rPr sz="1700" b="1" i="0" lang="tr-TR">
                <a:solidFill>
                  <a:srgbClr val="2563EB"/>
                </a:solidFill>
                <a:latin typeface="Calibri"/>
              </a:rPr>
              <a:t>Nerelisin?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Ben Türk’üm. / Türkiyeliyim.</a:t>
            </a:r>
          </a:p>
          <a:p>
            <a:pPr algn="l">
              <a:lnSpc>
                <a:spcPct val="125000"/>
              </a:lnSpc>
            </a:pPr>
            <a:r>
              <a:rPr sz="1700" b="1" i="0" lang="tr-TR">
                <a:solidFill>
                  <a:srgbClr val="2563EB"/>
                </a:solidFill>
                <a:latin typeface="Calibri"/>
              </a:rPr>
              <a:t>Nerede yaşıyorsun?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______’da / ______’de yaşıyorum.</a:t>
            </a:r>
          </a:p>
          <a:p>
            <a:pPr algn="l">
              <a:lnSpc>
                <a:spcPct val="125000"/>
              </a:lnSpc>
            </a:pPr>
            <a:r>
              <a:rPr sz="1700" b="1" i="0" lang="tr-TR">
                <a:solidFill>
                  <a:srgbClr val="2563EB"/>
                </a:solidFill>
                <a:latin typeface="Calibri"/>
              </a:rPr>
              <a:t>Arkadaşların nereli?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Arkadaşlarım ______lı / ______li.</a:t>
            </a:r>
          </a:p>
          <a:p>
            <a:pPr algn="l">
              <a:lnSpc>
                <a:spcPct val="125000"/>
              </a:lnSpc>
            </a:pPr>
            <a:r>
              <a:rPr sz="1700" b="1" i="0" lang="tr-TR">
                <a:solidFill>
                  <a:srgbClr val="2563EB"/>
                </a:solidFill>
                <a:latin typeface="Calibri"/>
              </a:rPr>
              <a:t>Hangi dilleri konuşuyorsun?  </a:t>
            </a:r>
            <a:r>
              <a:rPr sz="1700" b="1" i="0" lang="tr-TR">
                <a:solidFill>
                  <a:srgbClr val="1A2E5A"/>
                </a:solidFill>
                <a:latin typeface="Calibri"/>
              </a:rPr>
              <a:t>Evde Türkçe, okulda ______ konuşuyorum.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900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2990088"/>
            <a:ext cx="1737360" cy="365760"/>
          </a:xfrm>
          <a:prstGeom prst="rect">
            <a:avLst/>
          </a:prstGeom>
          <a:noFill/>
        </p:spPr>
        <p:txBody>
          <a:bodyPr wrap="square" anchor="ctr" lIns="320800" rIns="73152" tIns="45720" bIns="45720"/>
          <a:lstStyle/>
          <a:p>
            <a:pPr algn="ctr"/>
            <a:r>
              <a:rPr sz="1300" b="1" i="0" lang="tr-TR">
                <a:solidFill>
                  <a:srgbClr val="FFFFFF"/>
                </a:solidFill>
                <a:latin typeface="Calibri"/>
              </a:rPr>
              <a:t>Örnek</a:t>
            </a:r>
          </a:p>
        </p:txBody>
      </p:sp>
      <p:pic>
        <p:nvPicPr>
          <p:cNvPr id="12" name="Picture 11" descr="27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405" y="3078036"/>
            <a:ext cx="189864" cy="1898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3474720"/>
            <a:ext cx="8229600" cy="13258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7680960" cy="132588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l"/>
            <a:r>
              <a:rPr sz="1700" b="0" i="1" lang="tr-TR">
                <a:solidFill>
                  <a:srgbClr val="1A2E5A"/>
                </a:solidFill>
                <a:latin typeface="Calibri"/>
              </a:rPr>
              <a:t>“Ben Türk’üm. Norveç’te yaşıyorum. Arkadaşlarım Norveçli. Evde Türkçe, okulda Norveççe konuşuyorum.”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</p:spPr>
        <p:txBody>
          <a:bodyPr wrap="square" anchor="ctr" lIns="435102" rIns="73152" tIns="45720" bIns="45720"/>
          <a:lstStyle/>
          <a:p>
            <a:pPr algn="l"/>
            <a:r>
              <a:rPr sz="1900" b="1" i="0" lang="tr-TR">
                <a:solidFill>
                  <a:srgbClr val="FFFFFF"/>
                </a:solidFill>
                <a:latin typeface="Cambria"/>
              </a:rPr>
              <a:t>BAYRAK DEDEKTİFİ</a:t>
            </a:r>
          </a:p>
        </p:txBody>
      </p:sp>
      <p:pic>
        <p:nvPicPr>
          <p:cNvPr id="19" name="Picture 18" descr="1f3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90436"/>
            <a:ext cx="277495" cy="277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700" b="1" i="0" lang="tr-TR">
                <a:solidFill>
                  <a:srgbClr val="FBBF24"/>
                </a:solidFill>
                <a:latin typeface="Calibri"/>
              </a:rPr>
              <a:t>Bayrağı gör, üç şifreyi söyle:  Ülke  •  Millet  •  Dil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892808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animar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00" y="1463040"/>
            <a:ext cx="1131304" cy="8686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4360" y="2487168"/>
            <a:ext cx="1737360" cy="1417320"/>
          </a:xfrm>
          <a:prstGeom prst="rect">
            <a:avLst/>
          </a:prstGeom>
          <a:noFill/>
        </p:spPr>
        <p:txBody>
          <a:bodyPr wrap="square" anchor="t" lIns="73152" rIns="73152" tIns="45720" bIns="45720"/>
          <a:lstStyle/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2563EB"/>
                </a:solidFill>
                <a:latin typeface="Calibri"/>
              </a:rPr>
              <a:t>Ülke: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7C3AED"/>
                </a:solidFill>
                <a:latin typeface="Calibri"/>
              </a:rPr>
              <a:t>Millet: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16A34A"/>
                </a:solidFill>
                <a:latin typeface="Calibri"/>
              </a:rPr>
              <a:t>Dil: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298448"/>
            <a:ext cx="1892808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spany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060" y="1463040"/>
            <a:ext cx="1254760" cy="8686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670048" y="2487168"/>
            <a:ext cx="1737360" cy="1417320"/>
          </a:xfrm>
          <a:prstGeom prst="rect">
            <a:avLst/>
          </a:prstGeom>
          <a:noFill/>
        </p:spPr>
        <p:txBody>
          <a:bodyPr wrap="square" anchor="t" lIns="73152" rIns="73152" tIns="45720" bIns="45720"/>
          <a:lstStyle/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2563EB"/>
                </a:solidFill>
                <a:latin typeface="Calibri"/>
              </a:rPr>
              <a:t>Ülke: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7C3AED"/>
                </a:solidFill>
                <a:latin typeface="Calibri"/>
              </a:rPr>
              <a:t>Millet: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16A34A"/>
                </a:solidFill>
                <a:latin typeface="Calibri"/>
              </a:rPr>
              <a:t>Dil: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1298448"/>
            <a:ext cx="1892808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602" y="1463040"/>
            <a:ext cx="1215052" cy="8686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745736" y="2487168"/>
            <a:ext cx="1737360" cy="1417320"/>
          </a:xfrm>
          <a:prstGeom prst="rect">
            <a:avLst/>
          </a:prstGeom>
          <a:noFill/>
        </p:spPr>
        <p:txBody>
          <a:bodyPr wrap="square" anchor="t" lIns="73152" rIns="73152" tIns="45720" bIns="45720"/>
          <a:lstStyle/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2563EB"/>
                </a:solidFill>
                <a:latin typeface="Calibri"/>
              </a:rPr>
              <a:t>Ülke: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7C3AED"/>
                </a:solidFill>
                <a:latin typeface="Calibri"/>
              </a:rPr>
              <a:t>Millet: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16A34A"/>
                </a:solidFill>
                <a:latin typeface="Calibri"/>
              </a:rPr>
              <a:t>Dil: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9984" y="1298448"/>
            <a:ext cx="1892808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neg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1468390"/>
            <a:ext cx="1371600" cy="8579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821424" y="2487168"/>
            <a:ext cx="1737360" cy="1417320"/>
          </a:xfrm>
          <a:prstGeom prst="rect">
            <a:avLst/>
          </a:prstGeom>
          <a:noFill/>
        </p:spPr>
        <p:txBody>
          <a:bodyPr wrap="square" anchor="t" lIns="73152" rIns="73152" tIns="45720" bIns="45720"/>
          <a:lstStyle/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2563EB"/>
                </a:solidFill>
                <a:latin typeface="Calibri"/>
              </a:rPr>
              <a:t>Ülke: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7C3AED"/>
                </a:solidFill>
                <a:latin typeface="Calibri"/>
              </a:rPr>
              <a:t>Millet: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  <a:p>
            <a:pPr algn="l">
              <a:lnSpc>
                <a:spcPct val="160000"/>
              </a:lnSpc>
            </a:pPr>
            <a:r>
              <a:rPr sz="1600" b="1" i="0" lang="tr-TR">
                <a:solidFill>
                  <a:srgbClr val="16A34A"/>
                </a:solidFill>
                <a:latin typeface="Calibri"/>
              </a:rPr>
              <a:t>Dil: </a:t>
            </a:r>
            <a:r>
              <a:rPr sz="1600" b="1" i="0" lang="tr-TR">
                <a:solidFill>
                  <a:srgbClr val="94A3B8"/>
                </a:solidFill>
                <a:latin typeface="Calibri"/>
              </a:rPr>
              <a:t>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anchor="ctr" lIns="73152" rIns="73152" tIns="45720" bIns="45720"/>
          <a:lstStyle/>
          <a:p>
            <a:pPr algn="ctr"/>
            <a:r>
              <a:rPr sz="1500" b="0" i="1" lang="tr-TR">
                <a:solidFill>
                  <a:srgbClr val="FFFFFF"/>
                </a:solidFill>
                <a:latin typeface="Calibri"/>
              </a:rPr>
              <a:t>Sıra sende: Yaşadığın ülkenin üç şifresini söyle!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466</Words>
  <Application>Microsoft Office PowerPoint</Application>
  <PresentationFormat>Ekran Gösterisi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Edibe YILMAZ</cp:lastModifiedBy>
  <cp:revision>4</cp:revision>
  <dcterms:created xsi:type="dcterms:W3CDTF">2026-07-23T14:34:08Z</dcterms:created>
  <dcterms:modified xsi:type="dcterms:W3CDTF">2026-10-02T03:41:56Z</dcterms:modified>
</cp:coreProperties>
</file>