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9" r:id="rId4"/>
    <p:sldId id="266" r:id="rId5"/>
    <p:sldId id="260" r:id="rId6"/>
    <p:sldId id="261" r:id="rId7"/>
    <p:sldId id="263" r:id="rId8"/>
    <p:sldId id="264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8082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589520" y="640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F97316"/>
          </a:solidFill>
          <a:ln/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DİL DEDEKTİFİ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2988676" y="4094163"/>
            <a:ext cx="3264837" cy="531457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2767747" y="4131291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Seviye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457200" y="303332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TÜRKÇE VE TÜRK KÜLTÜRÜ ÖĞRENME MACERASI</a:t>
            </a:r>
            <a:r>
              <a:rPr lang="tr-TR" sz="2600" kern="0" spc="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tr-TR" sz="2600" kern="0" spc="4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KENDİMİ TANITIYORUM.</a:t>
            </a:r>
            <a:endParaRPr lang="en-US" sz="2600" dirty="0"/>
          </a:p>
        </p:txBody>
      </p:sp>
      <p:pic>
        <p:nvPicPr>
          <p:cNvPr id="15" name="Icon10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1965" y="1000125"/>
            <a:ext cx="560070" cy="5600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4558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-23844"/>
            <a:ext cx="9144000" cy="65836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BUGÜNKÜ GÖREV PANOMUZ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263814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3849" y="2494423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23849" y="2494423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98358" y="2316836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Kendimizi ve kişisel </a:t>
            </a: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özelliklerimizi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anlatacağız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3599668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751004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4698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3550204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Türkçeyi neden öğrendiğimizi neden-sonuç bağlaçlarıyla (çünkü, bu yüzden) açıklayacağız.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884267"/>
            <a:ext cx="80467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23849" y="1135588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744406" y="112721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60923" y="869354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Türk selamlama kültürünü yaşadığımız ülkenin kültürüyle karşılaştırıp yorumlayacağız.</a:t>
            </a:r>
            <a:endParaRPr lang="en-US" sz="1500" dirty="0"/>
          </a:p>
        </p:txBody>
      </p:sp>
      <p:sp>
        <p:nvSpPr>
          <p:cNvPr id="30" name="CurriculumNote"/>
          <p:cNvSpPr/>
          <p:nvPr/>
        </p:nvSpPr>
        <p:spPr>
          <a:xfrm>
            <a:off x="365760" y="655000"/>
            <a:ext cx="841248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tr-TR" sz="900" dirty="0">
                <a:solidFill>
                  <a:srgbClr val="94A3B8"/>
                </a:solidFill>
                <a:latin typeface="Calibri" pitchFamily="34" charset="0"/>
              </a:rPr>
              <a:t>2026 TTKD Öğretim Programı — 6. Seviye: 1A1</a:t>
            </a:r>
            <a:endParaRPr lang="tr-TR" sz="9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SELAMLAMA KÜLTÜRLERİNİ KARŞILAŞTIRMA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FFEDD5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🤗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Türk Ailesinde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240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Kucaklaşma, büyüklere hürmet, içtenlik ve fiziksel yakınlık.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2743200"/>
          </a:xfrm>
          <a:prstGeom prst="roundRect">
            <a:avLst>
              <a:gd name="adj" fmla="val 4000"/>
            </a:avLst>
          </a:prstGeom>
          <a:solidFill>
            <a:srgbClr val="DBEAFE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0515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🤝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84632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Yaşadığın Ülkede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22402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sıkışma veya mesafeli bir "Hallo / Hello".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7863840" cy="685800"/>
          </a:xfrm>
          <a:prstGeom prst="roundRect">
            <a:avLst>
              <a:gd name="adj" fmla="val 20000"/>
            </a:avLst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4048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Farklar neler? Hangi durumda hangisi daha uygun ve doğal geliyor?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KENDİMİ TANIYORUM: </a:t>
            </a:r>
            <a:r>
              <a:rPr lang="tr-TR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KİŞİLİK ÖZELLİKLERİ VE SOSYAL BECERİLER</a:t>
            </a:r>
          </a:p>
        </p:txBody>
      </p:sp>
      <p:sp>
        <p:nvSpPr>
          <p:cNvPr id="6" name="Subtitle"/>
          <p:cNvSpPr/>
          <p:nvPr/>
        </p:nvSpPr>
        <p:spPr>
          <a:xfrm>
            <a:off x="365760" y="730000"/>
            <a:ext cx="8412480" cy="3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dirty="0">
                <a:solidFill>
                  <a:srgbClr val="1E293B"/>
                </a:solidFill>
                <a:latin typeface="Calibri" pitchFamily="34" charset="0"/>
              </a:rPr>
              <a:t>İnsanları anlatırken kullanabileceğimiz bazı kelimeler:</a:t>
            </a:r>
          </a:p>
        </p:txBody>
      </p:sp>
      <p:sp>
        <p:nvSpPr>
          <p:cNvPr id="20" name="CardRect20"/>
          <p:cNvSpPr/>
          <p:nvPr/>
        </p:nvSpPr>
        <p:spPr>
          <a:xfrm>
            <a:off x="365760" y="110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FFEDD5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1" name="CardText21"/>
          <p:cNvSpPr/>
          <p:nvPr/>
        </p:nvSpPr>
        <p:spPr>
          <a:xfrm>
            <a:off x="548640" y="119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F97316"/>
                </a:solidFill>
                <a:latin typeface="Calibri" pitchFamily="34" charset="0"/>
              </a:rPr>
              <a:t>Sabırlı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50" dirty="0">
                <a:solidFill>
                  <a:srgbClr val="1E293B"/>
                </a:solidFill>
                <a:latin typeface="Calibri" pitchFamily="34" charset="0"/>
              </a:rPr>
              <a:t>Bir şeyi beklerken ya da zorlukla karşılaşınca sakin kalabilen kişi.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i="1" dirty="0">
                <a:solidFill>
                  <a:srgbClr val="475569"/>
                </a:solidFill>
                <a:latin typeface="Calibri" pitchFamily="34" charset="0"/>
              </a:rPr>
              <a:t>“Kardeşim çok sabırlı, hiç sinirlenmeden bana Türkçe öğretiyor.”</a:t>
            </a:r>
          </a:p>
        </p:txBody>
      </p:sp>
      <p:sp>
        <p:nvSpPr>
          <p:cNvPr id="22" name="CardRect22"/>
          <p:cNvSpPr/>
          <p:nvPr/>
        </p:nvSpPr>
        <p:spPr>
          <a:xfrm>
            <a:off x="4709160" y="110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FCE7F3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3" name="CardText23"/>
          <p:cNvSpPr/>
          <p:nvPr/>
        </p:nvSpPr>
        <p:spPr>
          <a:xfrm>
            <a:off x="4892040" y="119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DB2777"/>
                </a:solidFill>
                <a:latin typeface="Calibri" pitchFamily="34" charset="0"/>
              </a:rPr>
              <a:t>Duyarlı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50" dirty="0">
                <a:solidFill>
                  <a:srgbClr val="1E293B"/>
                </a:solidFill>
                <a:latin typeface="Calibri" pitchFamily="34" charset="0"/>
              </a:rPr>
              <a:t>Başkalarının hislerini ve ihtiyaçlarını fark edip önemseyen kişi.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i="1" dirty="0">
                <a:solidFill>
                  <a:srgbClr val="475569"/>
                </a:solidFill>
                <a:latin typeface="Calibri" pitchFamily="34" charset="0"/>
              </a:rPr>
              <a:t>“Annem çok duyarlı, herkesin ne hissettiğini hemen anlar.”</a:t>
            </a:r>
          </a:p>
        </p:txBody>
      </p:sp>
      <p:sp>
        <p:nvSpPr>
          <p:cNvPr id="24" name="CardRect24"/>
          <p:cNvSpPr/>
          <p:nvPr/>
        </p:nvSpPr>
        <p:spPr>
          <a:xfrm>
            <a:off x="365760" y="212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5" name="CardText25"/>
          <p:cNvSpPr/>
          <p:nvPr/>
        </p:nvSpPr>
        <p:spPr>
          <a:xfrm>
            <a:off x="548640" y="221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16A34A"/>
                </a:solidFill>
                <a:latin typeface="Calibri" pitchFamily="34" charset="0"/>
              </a:rPr>
              <a:t>Girişken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50" dirty="0">
                <a:solidFill>
                  <a:srgbClr val="1E293B"/>
                </a:solidFill>
                <a:latin typeface="Calibri" pitchFamily="34" charset="0"/>
              </a:rPr>
              <a:t>Yeni insanlarla tanışmaktan çekinmeyen, ilk adımı atabilen kişi.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i="1" dirty="0">
                <a:solidFill>
                  <a:srgbClr val="475569"/>
                </a:solidFill>
                <a:latin typeface="Calibri" pitchFamily="34" charset="0"/>
              </a:rPr>
              <a:t>“Kardeşim çok girişken, yeni sınıfına hemen arkadaş edindi.”</a:t>
            </a:r>
          </a:p>
        </p:txBody>
      </p:sp>
      <p:sp>
        <p:nvSpPr>
          <p:cNvPr id="26" name="CardRect26"/>
          <p:cNvSpPr/>
          <p:nvPr/>
        </p:nvSpPr>
        <p:spPr>
          <a:xfrm>
            <a:off x="4709160" y="212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DBEAFE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7" name="CardText27"/>
          <p:cNvSpPr/>
          <p:nvPr/>
        </p:nvSpPr>
        <p:spPr>
          <a:xfrm>
            <a:off x="4892040" y="221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2563EB"/>
                </a:solidFill>
                <a:latin typeface="Calibri" pitchFamily="34" charset="0"/>
              </a:rPr>
              <a:t>Konuşkan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50" dirty="0">
                <a:solidFill>
                  <a:srgbClr val="1E293B"/>
                </a:solidFill>
                <a:latin typeface="Calibri" pitchFamily="34" charset="0"/>
              </a:rPr>
              <a:t>Sohbet etmeyi seven, kolayca ve çok konuşan kişi.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i="1" dirty="0">
                <a:solidFill>
                  <a:srgbClr val="475569"/>
                </a:solidFill>
                <a:latin typeface="Calibri" pitchFamily="34" charset="0"/>
              </a:rPr>
              <a:t>“Dedem çok konuşkan, onunla saatlerce sohbet edebiliriz.”</a:t>
            </a:r>
          </a:p>
        </p:txBody>
      </p:sp>
      <p:sp>
        <p:nvSpPr>
          <p:cNvPr id="28" name="CardRect28"/>
          <p:cNvSpPr/>
          <p:nvPr/>
        </p:nvSpPr>
        <p:spPr>
          <a:xfrm>
            <a:off x="365760" y="314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29" name="CardText29"/>
          <p:cNvSpPr/>
          <p:nvPr/>
        </p:nvSpPr>
        <p:spPr>
          <a:xfrm>
            <a:off x="548640" y="323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7C3AED"/>
                </a:solidFill>
                <a:latin typeface="Calibri" pitchFamily="34" charset="0"/>
              </a:rPr>
              <a:t>Mantıklı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50" dirty="0">
                <a:solidFill>
                  <a:srgbClr val="1E293B"/>
                </a:solidFill>
                <a:latin typeface="Calibri" pitchFamily="34" charset="0"/>
              </a:rPr>
              <a:t>Kararlarını düşünerek, sebep-sonuç ilişkisi kurarak alan kişi.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i="1" dirty="0">
                <a:solidFill>
                  <a:srgbClr val="475569"/>
                </a:solidFill>
                <a:latin typeface="Calibri" pitchFamily="34" charset="0"/>
              </a:rPr>
              <a:t>“Babam her zaman mantıklı düşünür, asla aceleyle karar vermez.”</a:t>
            </a:r>
          </a:p>
        </p:txBody>
      </p:sp>
      <p:sp>
        <p:nvSpPr>
          <p:cNvPr id="30" name="CardRect30"/>
          <p:cNvSpPr/>
          <p:nvPr/>
        </p:nvSpPr>
        <p:spPr>
          <a:xfrm>
            <a:off x="4709160" y="3140000"/>
            <a:ext cx="4069080" cy="900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FFFFFF"/>
            </a:solidFill>
          </a:ln>
          <a:effectLst>
            <a:outerShdw blurRad="76200" dist="25400" dir="5400000" algn="bl" rotWithShape="0">
              <a:srgbClr val="1A2E5A">
                <a:alpha val="15000"/>
              </a:srgbClr>
            </a:outerShdw>
          </a:effectLst>
        </p:spPr>
      </p:sp>
      <p:sp>
        <p:nvSpPr>
          <p:cNvPr id="31" name="CardText31"/>
          <p:cNvSpPr/>
          <p:nvPr/>
        </p:nvSpPr>
        <p:spPr>
          <a:xfrm>
            <a:off x="4892040" y="3231440"/>
            <a:ext cx="3703320" cy="717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tr-TR" sz="1700" b="1" dirty="0">
                <a:solidFill>
                  <a:srgbClr val="0D9488"/>
                </a:solidFill>
                <a:latin typeface="Calibri" pitchFamily="34" charset="0"/>
              </a:rPr>
              <a:t>Dikkatli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50" dirty="0">
                <a:solidFill>
                  <a:srgbClr val="1E293B"/>
                </a:solidFill>
                <a:latin typeface="Calibri" pitchFamily="34" charset="0"/>
              </a:rPr>
              <a:t>Yaptığı işe önem veren, hata yapmamaya çalışan kişi.</a:t>
            </a:r>
          </a:p>
          <a:p>
            <a:pPr marL="0" indent="0" algn="l">
              <a:spcBef>
                <a:spcPts val="300"/>
              </a:spcBef>
              <a:buNone/>
            </a:pPr>
            <a:r>
              <a:rPr lang="tr-TR" sz="1000" i="1" dirty="0">
                <a:solidFill>
                  <a:srgbClr val="475569"/>
                </a:solidFill>
                <a:latin typeface="Calibri" pitchFamily="34" charset="0"/>
              </a:rPr>
              <a:t>“Ablam çok dikkatli, ödevlerini yaparken hiç hata yapmaz.”</a:t>
            </a:r>
          </a:p>
        </p:txBody>
      </p:sp>
      <p:sp>
        <p:nvSpPr>
          <p:cNvPr id="100" name="BadgeRect100"/>
          <p:cNvSpPr/>
          <p:nvPr/>
        </p:nvSpPr>
        <p:spPr>
          <a:xfrm>
            <a:off x="2784840" y="119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101" name="BadgeText101"/>
          <p:cNvSpPr/>
          <p:nvPr/>
        </p:nvSpPr>
        <p:spPr>
          <a:xfrm>
            <a:off x="2784840" y="119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Kişilik Özelliği</a:t>
            </a:r>
          </a:p>
        </p:txBody>
      </p:sp>
      <p:sp>
        <p:nvSpPr>
          <p:cNvPr id="102" name="BadgeRect102"/>
          <p:cNvSpPr/>
          <p:nvPr/>
        </p:nvSpPr>
        <p:spPr>
          <a:xfrm>
            <a:off x="7128240" y="119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DB2777"/>
          </a:solidFill>
          <a:ln/>
        </p:spPr>
      </p:sp>
      <p:sp>
        <p:nvSpPr>
          <p:cNvPr id="103" name="BadgeText103"/>
          <p:cNvSpPr/>
          <p:nvPr/>
        </p:nvSpPr>
        <p:spPr>
          <a:xfrm>
            <a:off x="7128240" y="119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Kişilik Özelliği</a:t>
            </a:r>
          </a:p>
        </p:txBody>
      </p:sp>
      <p:sp>
        <p:nvSpPr>
          <p:cNvPr id="104" name="BadgeRect104"/>
          <p:cNvSpPr/>
          <p:nvPr/>
        </p:nvSpPr>
        <p:spPr>
          <a:xfrm>
            <a:off x="2784840" y="221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/>
        </p:spPr>
      </p:sp>
      <p:sp>
        <p:nvSpPr>
          <p:cNvPr id="105" name="BadgeText105"/>
          <p:cNvSpPr/>
          <p:nvPr/>
        </p:nvSpPr>
        <p:spPr>
          <a:xfrm>
            <a:off x="2784840" y="221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Sosyal Beceri</a:t>
            </a:r>
          </a:p>
        </p:txBody>
      </p:sp>
      <p:sp>
        <p:nvSpPr>
          <p:cNvPr id="106" name="BadgeRect106"/>
          <p:cNvSpPr/>
          <p:nvPr/>
        </p:nvSpPr>
        <p:spPr>
          <a:xfrm>
            <a:off x="7128240" y="221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/>
        </p:spPr>
      </p:sp>
      <p:sp>
        <p:nvSpPr>
          <p:cNvPr id="107" name="BadgeText107"/>
          <p:cNvSpPr/>
          <p:nvPr/>
        </p:nvSpPr>
        <p:spPr>
          <a:xfrm>
            <a:off x="7128240" y="221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Sosyal Beceri</a:t>
            </a:r>
          </a:p>
        </p:txBody>
      </p:sp>
      <p:sp>
        <p:nvSpPr>
          <p:cNvPr id="108" name="BadgeRect108"/>
          <p:cNvSpPr/>
          <p:nvPr/>
        </p:nvSpPr>
        <p:spPr>
          <a:xfrm>
            <a:off x="2784840" y="323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109" name="BadgeText109"/>
          <p:cNvSpPr/>
          <p:nvPr/>
        </p:nvSpPr>
        <p:spPr>
          <a:xfrm>
            <a:off x="2784840" y="323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Kişilik Özelliği</a:t>
            </a:r>
          </a:p>
        </p:txBody>
      </p:sp>
      <p:sp>
        <p:nvSpPr>
          <p:cNvPr id="110" name="BadgeRect110"/>
          <p:cNvSpPr/>
          <p:nvPr/>
        </p:nvSpPr>
        <p:spPr>
          <a:xfrm>
            <a:off x="7128240" y="3230000"/>
            <a:ext cx="1550000" cy="26000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11" name="BadgeText111"/>
          <p:cNvSpPr/>
          <p:nvPr/>
        </p:nvSpPr>
        <p:spPr>
          <a:xfrm>
            <a:off x="7128240" y="3230000"/>
            <a:ext cx="1550000" cy="260000"/>
          </a:xfrm>
          <a:prstGeom prst="rect">
            <a:avLst/>
          </a:prstGeom>
          <a:noFill/>
          <a:ln/>
        </p:spPr>
        <p:txBody>
          <a:bodyPr wrap="square" lIns="0" rIns="0" rtlCol="0" anchor="ctr"/>
          <a:lstStyle/>
          <a:p>
            <a:pPr marL="0" indent="0" algn="ctr">
              <a:buNone/>
            </a:pPr>
            <a:r>
              <a:rPr lang="tr-TR" sz="800" b="1" dirty="0">
                <a:solidFill>
                  <a:srgbClr val="FFFFFF"/>
                </a:solidFill>
                <a:latin typeface="Calibri" pitchFamily="34" charset="0"/>
              </a:rPr>
              <a:t>Kişilik Özelliği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/>
      <p:bldP spid="27" grpId="0" animBg="1"/>
      <p:bldP spid="29" grpId="0" animBg="1"/>
      <p:bldP spid="3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DİL İSKELETİ: KİŞİSEL ÖZELLİKLER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914400"/>
            <a:ext cx="76809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genellikle ____ ve ____ biriyim.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Arkadaşlarım beni ____ biri olarak tanımlar.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tr-TR" sz="155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____ olduğum için ____.</a:t>
            </a:r>
          </a:p>
        </p:txBody>
      </p:sp>
      <p:sp>
        <p:nvSpPr>
          <p:cNvPr id="7" name="Shape 5"/>
          <p:cNvSpPr/>
          <p:nvPr/>
        </p:nvSpPr>
        <p:spPr>
          <a:xfrm>
            <a:off x="457200" y="2996347"/>
            <a:ext cx="2011680" cy="411480"/>
          </a:xfrm>
          <a:prstGeom prst="roundRect">
            <a:avLst>
              <a:gd name="adj" fmla="val 48889"/>
            </a:avLst>
          </a:prstGeom>
          <a:solidFill>
            <a:srgbClr val="16A34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971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Örnek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74720"/>
            <a:ext cx="8229600" cy="1280160"/>
          </a:xfrm>
          <a:prstGeom prst="roundRect">
            <a:avLst>
              <a:gd name="adj" fmla="val 8571"/>
            </a:avLst>
          </a:prstGeom>
          <a:solidFill>
            <a:srgbClr val="DCFCE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4747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tr-TR" sz="135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"Ben genellikle sabırlı ve duyarlı biriyim. Arkadaşlarım beni girişken biri olarak tanımlar. Çok dikkatli olduğum için küçük detayları bile hiç kaçırmam."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🔗  </a:t>
            </a:r>
            <a:r>
              <a:rPr lang="tr-TR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NEDEN TÜRKÇE ÖĞRENİYORUM?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914400"/>
            <a:ext cx="2377440" cy="640080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Çünkü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914400"/>
            <a:ext cx="2377440" cy="640080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914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yüzden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943600" y="914400"/>
            <a:ext cx="2377440" cy="640080"/>
          </a:xfrm>
          <a:prstGeom prst="roundRect">
            <a:avLst>
              <a:gd name="adj" fmla="val 21429"/>
            </a:avLst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9144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 nedenle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548640" y="1828800"/>
            <a:ext cx="80467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1965960"/>
            <a:ext cx="74980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“Türkçeyi öğreniyorum çünkü ailemle bağımı güçlendirmek istiyorum. Bu yüzden her gün pratik yapıyorum. Bu nedenle Türk kültürünü de yakından tanımak istiyorum.”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10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KÜLTÜR KÖŞESİ – DEDEKTİF SIRRI!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2600" b="1" dirty="0">
                <a:solidFill>
                  <a:srgbClr val="1A2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TÜRKLERDE SELAMLAŞMA</a:t>
            </a:r>
            <a:endParaRPr lang="en-US" sz="2600" dirty="0"/>
          </a:p>
        </p:txBody>
      </p:sp>
      <p:sp>
        <p:nvSpPr>
          <p:cNvPr id="20" name="CardRect20"/>
          <p:cNvSpPr/>
          <p:nvPr/>
        </p:nvSpPr>
        <p:spPr>
          <a:xfrm>
            <a:off x="731520" y="160020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4" name="Icon10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370" y="1718310"/>
            <a:ext cx="266700" cy="266700"/>
          </a:xfrm>
          <a:prstGeom prst="rect">
            <a:avLst/>
          </a:prstGeom>
        </p:spPr>
      </p:pic>
      <p:sp>
        <p:nvSpPr>
          <p:cNvPr id="22" name="CardText22"/>
          <p:cNvSpPr/>
          <p:nvPr/>
        </p:nvSpPr>
        <p:spPr>
          <a:xfrm>
            <a:off x="1463040" y="1600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Tanıdıklarımızı görünce elimizi kaldırıp sallayarak selamlarız.</a:t>
            </a:r>
            <a:endParaRPr lang="tr-TR" sz="1400" dirty="0"/>
          </a:p>
        </p:txBody>
      </p:sp>
      <p:sp>
        <p:nvSpPr>
          <p:cNvPr id="23" name="CardRect23"/>
          <p:cNvSpPr/>
          <p:nvPr/>
        </p:nvSpPr>
        <p:spPr>
          <a:xfrm>
            <a:off x="731520" y="219456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5" name="Icon10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370" y="2312670"/>
            <a:ext cx="266700" cy="266700"/>
          </a:xfrm>
          <a:prstGeom prst="rect">
            <a:avLst/>
          </a:prstGeom>
        </p:spPr>
      </p:pic>
      <p:sp>
        <p:nvSpPr>
          <p:cNvPr id="25" name="CardText25"/>
          <p:cNvSpPr/>
          <p:nvPr/>
        </p:nvSpPr>
        <p:spPr>
          <a:xfrm>
            <a:off x="1463040" y="21945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Uzaktaki birine başımızı hafifçe öne eğerek selam veririz.</a:t>
            </a:r>
            <a:endParaRPr lang="tr-TR" sz="1400" dirty="0"/>
          </a:p>
        </p:txBody>
      </p:sp>
      <p:sp>
        <p:nvSpPr>
          <p:cNvPr id="26" name="CardRect26"/>
          <p:cNvSpPr/>
          <p:nvPr/>
        </p:nvSpPr>
        <p:spPr>
          <a:xfrm>
            <a:off x="731520" y="278892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6" name="Icon10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70" y="2907030"/>
            <a:ext cx="266700" cy="266700"/>
          </a:xfrm>
          <a:prstGeom prst="rect">
            <a:avLst/>
          </a:prstGeom>
        </p:spPr>
      </p:pic>
      <p:sp>
        <p:nvSpPr>
          <p:cNvPr id="28" name="CardText28"/>
          <p:cNvSpPr/>
          <p:nvPr/>
        </p:nvSpPr>
        <p:spPr>
          <a:xfrm>
            <a:off x="1463040" y="27889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Arkadaşlarımız ve büyüklerimizle tokalaşarak selamlaşırız.</a:t>
            </a:r>
            <a:endParaRPr lang="tr-TR" sz="1400" dirty="0"/>
          </a:p>
        </p:txBody>
      </p:sp>
      <p:sp>
        <p:nvSpPr>
          <p:cNvPr id="29" name="CardRect29"/>
          <p:cNvSpPr/>
          <p:nvPr/>
        </p:nvSpPr>
        <p:spPr>
          <a:xfrm>
            <a:off x="731520" y="338328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7" name="Icon10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5370" y="3501390"/>
            <a:ext cx="266700" cy="266700"/>
          </a:xfrm>
          <a:prstGeom prst="rect">
            <a:avLst/>
          </a:prstGeom>
        </p:spPr>
      </p:pic>
      <p:sp>
        <p:nvSpPr>
          <p:cNvPr id="31" name="CardText31"/>
          <p:cNvSpPr/>
          <p:nvPr/>
        </p:nvSpPr>
        <p:spPr>
          <a:xfrm>
            <a:off x="1463040" y="338328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Çok yakın arkadaşlarımızı iki yanağından öperek selamlarız.</a:t>
            </a:r>
            <a:endParaRPr lang="tr-TR" sz="1400" dirty="0"/>
          </a:p>
        </p:txBody>
      </p:sp>
      <p:sp>
        <p:nvSpPr>
          <p:cNvPr id="32" name="CardRect32"/>
          <p:cNvSpPr/>
          <p:nvPr/>
        </p:nvSpPr>
        <p:spPr>
          <a:xfrm>
            <a:off x="731520" y="3977640"/>
            <a:ext cx="7680960" cy="50292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1038" name="Icon10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5370" y="4095750"/>
            <a:ext cx="266700" cy="266700"/>
          </a:xfrm>
          <a:prstGeom prst="rect">
            <a:avLst/>
          </a:prstGeom>
        </p:spPr>
      </p:pic>
      <p:sp>
        <p:nvSpPr>
          <p:cNvPr id="34" name="CardText34"/>
          <p:cNvSpPr/>
          <p:nvPr/>
        </p:nvSpPr>
        <p:spPr>
          <a:xfrm>
            <a:off x="1463040" y="397764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tr-TR" sz="1400" dirty="0">
                <a:solidFill>
                  <a:srgbClr val="1E293B"/>
                </a:solidFill>
                <a:latin typeface="Arial" pitchFamily="34" charset="0"/>
                <a:cs typeface="Arial" pitchFamily="34" charset="-120"/>
              </a:rPr>
              <a:t>Bayramlarda büyüklerimizin elini öpüp alnımıza götürürüz.</a:t>
            </a:r>
            <a:endParaRPr lang="tr-T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5" grpId="0" animBg="1"/>
      <p:bldP spid="28" grpId="0" animBg="1"/>
      <p:bldP spid="31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7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🏅  YENİ SAHA GÖREVİ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1A2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kez görevin: İki selamlama kültürünü GÖZLEMLEYİP karşılaştırmak ve yorumlamak!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2646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264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128016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👀  Yaşadığınız ülkeden bir arkadaşınızla selamlaşma anınızı gözlemleyin.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14884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29514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214884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👵  Türk bir büyüğünüzle selamlaşma anınızı da gözlemleyin (ya da hatırlayın).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01752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6382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638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301752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İki durumu “çünkü/bu yüzden” bağlaçlarıyla karşılaştıran 3 cümlelik </a:t>
            </a:r>
            <a:r>
              <a:rPr lang="en-US" sz="12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</a:t>
            </a: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yazın.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3886200"/>
            <a:ext cx="813816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A2E5A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4032504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0325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886200"/>
            <a:ext cx="7086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💭  Hangi durumda hangi selamlamanın daha uygun olduğunu yorumlayın.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280160" y="4590288"/>
            <a:ext cx="6583680" cy="438912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1280160" y="4590288"/>
            <a:ext cx="6583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Düşüncelerinizi ailenizle paylaşın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hangi kültürün hangi anda daha uygun olduğunu tartışın! 🎯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5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321040" y="182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2104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BBF24"/>
                </a:solidFill>
              </a:rPr>
              <a:t>★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GÖREV TAMAMLANDI!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23444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Selamlaşma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2608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Kişisel Özellikler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4338CA"/>
          </a:solidFill>
          <a:ln/>
        </p:spPr>
      </p:sp>
      <p:sp>
        <p:nvSpPr>
          <p:cNvPr id="13" name="Text 11"/>
          <p:cNvSpPr/>
          <p:nvPr/>
        </p:nvSpPr>
        <p:spPr>
          <a:xfrm>
            <a:off x="461772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Beceriler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1600200" cy="1371600"/>
          </a:xfrm>
          <a:prstGeom prst="roundRect">
            <a:avLst>
              <a:gd name="adj" fmla="val 8000"/>
            </a:avLst>
          </a:prstGeom>
          <a:solidFill>
            <a:srgbClr val="16A34A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20116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Neden-Sonuç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</a:t>
            </a:r>
            <a:r>
              <a:rPr lang="en-US" sz="14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görevde </a:t>
            </a:r>
            <a:r>
              <a:rPr lang="en-US" sz="1400" i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görüşmek</a:t>
            </a: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üzere, kendinize iyi bakın! 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514</Words>
  <Application>Microsoft Macintosh PowerPoint</Application>
  <PresentationFormat>Ekran Gösterisi (16:9)</PresentationFormat>
  <Paragraphs>98</Paragraphs>
  <Slides>9</Slides>
  <Notes>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Esma TOKCAN TEKİN</cp:lastModifiedBy>
  <cp:revision>14</cp:revision>
  <dcterms:created xsi:type="dcterms:W3CDTF">2026-07-23T18:16:44Z</dcterms:created>
  <dcterms:modified xsi:type="dcterms:W3CDTF">2026-09-11T08:11:22Z</dcterms:modified>
</cp:coreProperties>
</file>