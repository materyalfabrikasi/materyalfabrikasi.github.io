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3" r:id="rId6"/>
    <p:sldId id="260" r:id="rId7"/>
    <p:sldId id="261" r:id="rId8"/>
    <p:sldId id="274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 type="screen16x9"/>
  <p:notesSz cx="51435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E1AA31C-D4CF-80A6-CC7F-E68D38803244}" name="Esma TOKCAN TEKİN" initials="ET" userId="1ceecfee3c3f80c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416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Sınıfa enerjik girin! 'Merhaba Dil Dedektifleri!' diyerek başlayın. Öğrencilerin dikkatini çekmek için 'Görevimiz var!' tonuyla seslenin.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görevi okuyun ve öğrencilerden 'Tamam!' veya baş sallamalarını isteyin. 'Göreve hazır mısınız?' diye sorun.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Öğrencilere düşünme zamanı verin. Hangi selamlamaları bildiklerini sorun. Bir sonraki slayta geçmeden önce cevaplarını dinleyin.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'Günaydın' kelimesini üç kez söyleyin, öğrenciler tekrar etsin. Parmağınızı her hece için kaldırın: Gü-nay-dın. Sabah sınıfa girdiğinizde 'Günaydın!' diyerek örnek olun.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kelimenin özel gücünü vurgulayın: sabah, öğlen, akşam, her zaman kullanılır! Öğrencilerle birlikte büyük sesle 'Merhaba!' diye bağırın.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Işıkları biraz kısın (varsa) veya perdeleri kapatın – akşam etkisi yaratmak için. Öğrencilere hayali bir akşam yemeği sahnesi canlandırın.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kartı gösterin ve birlikte söyleyin. Öğrencilere 'Şu an saat kaç? Hangisini kullanırsınız?' sorusunu sorun. İnteraktif bir tekrar yapın.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Öğrencilere düşünme zamanı verin. Biri varsa İngilizce 'What is your name?' örneğini vererek köprü kurun.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Önce siz söyleyin: 'Benim adım [Öğretmen Adı]!' Sonra her öğrencinin kendi ismini söylemesini isteyin. Sınıfı dolaşın veya sırayla ekrana bakarak söyleyin.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Diyalogu canlandırın. Siz bir öğrenciye 'Senin adın ne?' sorun, öğrenci cevaplar. Sonra öğrenci sırasına geçin: öğrenci sizi soruyor olsun.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sıkışma hareketi yapın. Cümleyi hece hece söyleyin ve öğrenciler takip etsin. 3 kez tekrar ettirin - her seferinde biraz daha hızlı.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Siz Kişi A, öğrenciler Kişi B rolünde. Bir kez beraber okuyun. Sonra rolleri değiştirin. Mümkünse çiftler halinde yaptırın.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Ekrana el sallayın ve 'Görüşürüz!' deyin. Öğrencilere de el sallatın. 'Hoşça kal' ve 'Görüşürüz' arasındaki farkı açıklayın.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slaytı bir 'akış şeması' gibi gösterin. Bir öğrenciye veya hayali bir arkadaşa bütün konuşmayı baştan sona söyleyin.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Hareket yaparak gösterin: elini kalbine koy, hafifçe eğil. Öğrencilerin de bunu taklit etmesini sağlayın. Bu kültürel bir süper güç!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Öğrencilerin görev heyecanıyla ayrılmasını sağlayın. 'Bir sonraki görüşmede videolarınızı paylaşacağız!' diyebilirsiniz.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Tüm kelimeleri birlikte tekrar edin. Öğrencilere bugünkü başarıları için alkış. 'Görüşürüz!' diyerek el sallayın.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0BB1D91-1C08-6D0E-4B9B-CE52C6816B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14FCE126-C8F7-0101-518B-5F635A858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473A1A1-DE74-10E0-8DA9-2111ADD1D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05E22-7648-4BDA-9241-FD755027528A}" type="datetimeFigureOut">
              <a:rPr lang="tr-TR" smtClean="0"/>
              <a:t>11.09.2026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89DBF16-F99C-0B3D-3F20-45758B890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0A1D113-4521-F5D5-7290-E659B7C20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704D-21A2-47BD-BEAF-F9008A790CB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29445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CF33D63-611A-E35E-14F9-60A94C95F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2DA08B3-E633-5B67-DEA5-200CF7F56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9507C45-22C4-45EF-26E2-2D7D1E95D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05E22-7648-4BDA-9241-FD755027528A}" type="datetimeFigureOut">
              <a:rPr lang="tr-TR" smtClean="0"/>
              <a:t>11.09.2026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EA07BF5-B63C-D2B4-B278-23A602DA6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7ADC084-71E6-69A1-E4BF-C6873A22F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704D-21A2-47BD-BEAF-F9008A790CB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048504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117875C-B8A8-EF77-F9A6-4A5EB09E5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EF2EF08-2518-BBF1-399C-E990980B3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632DB00-5741-8CE0-083E-D60E051A6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05E22-7648-4BDA-9241-FD755027528A}" type="datetimeFigureOut">
              <a:rPr lang="tr-TR" smtClean="0"/>
              <a:t>11.09.2026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F6AC5B8-BEAA-0B9D-6FD9-6F61BA6B9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5130AD2-B7E4-8E67-70B3-41A2CECCE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704D-21A2-47BD-BEAF-F9008A790CB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8309676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0FBC614-E2E1-8731-CB6B-D09B60337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402428A-3CCA-C470-4802-FA2D1478F2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A5ED012-0BF3-80DD-97DC-B67667C90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6A30EB1-2FBA-9BE5-08C8-59FDE83F3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05E22-7648-4BDA-9241-FD755027528A}" type="datetimeFigureOut">
              <a:rPr lang="tr-TR" smtClean="0"/>
              <a:t>11.09.2026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9AC91E9-F1C5-8377-30EF-A26215AD2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1D16414-0E34-44D9-3D81-BC45F5436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704D-21A2-47BD-BEAF-F9008A790CB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0146930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3F31082-FF29-E0FD-5AF4-1F0A2D5AF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9A54DBD4-3989-FF64-1AD8-809140938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3354E18-0AB9-85F9-1DAF-947636F94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35721121-223A-ABCD-3FE7-4195915351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B6A81076-4618-62A4-C3F2-D3485240ED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581B2CFA-9D8C-89CF-9A7C-CEB4E8096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05E22-7648-4BDA-9241-FD755027528A}" type="datetimeFigureOut">
              <a:rPr lang="tr-TR" smtClean="0"/>
              <a:t>11.09.2026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EAA2125B-D916-3460-BA80-119E15517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31F2BA1A-C208-A05B-3128-5DED8BCDF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704D-21A2-47BD-BEAF-F9008A790CB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979430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98EABA7-BCC9-A9E4-5C0E-A2872A59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6306BFDF-4A45-2384-F0D2-AE2A24239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05E22-7648-4BDA-9241-FD755027528A}" type="datetimeFigureOut">
              <a:rPr lang="tr-TR" smtClean="0"/>
              <a:t>11.09.2026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DF62A5CB-F96B-1C87-41AA-E2FE4BD4D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4E85BD7-1F99-E401-A1CD-31C13B9F3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704D-21A2-47BD-BEAF-F9008A790CB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3980697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1B5F3F28-0A23-0CAB-EE92-51841FCB0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05E22-7648-4BDA-9241-FD755027528A}" type="datetimeFigureOut">
              <a:rPr lang="tr-TR" smtClean="0"/>
              <a:t>11.09.2026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53D3D5F8-A6C5-107A-75F9-316B6998A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C0DB2622-C3CE-3C6A-A21B-BB005CDA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704D-21A2-47BD-BEAF-F9008A790CB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783039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FBDAD39-50EA-D6DD-3893-924A90E33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180374A-8B9A-19CC-A5B1-7B597A456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C4FC772-25E5-9049-FDF9-A6963F1BF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EBEA8A5-CEAD-B0FB-F7E1-1FD596AD6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05E22-7648-4BDA-9241-FD755027528A}" type="datetimeFigureOut">
              <a:rPr lang="tr-TR" smtClean="0"/>
              <a:t>11.09.2026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3AA9483-B684-834B-C899-229C2227E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9D43D40-8085-00EE-CB1D-29BCA9D0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704D-21A2-47BD-BEAF-F9008A790CB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9084255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CDA101-3FA6-1176-91B5-550F859B3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5EA377BB-737A-94E9-1391-D1F0EA03E7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179D7E2-E2CD-1A9E-62CA-4B03773DDA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3CF5C50-EBF8-8407-164D-4F992FD87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05E22-7648-4BDA-9241-FD755027528A}" type="datetimeFigureOut">
              <a:rPr lang="tr-TR" smtClean="0"/>
              <a:t>11.09.2026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A258CCB-D77A-411D-B372-5135F5185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31B96FE-F42E-ACBB-A592-2A450BDE5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704D-21A2-47BD-BEAF-F9008A790CB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547310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EEE7DBA-6B37-EBB4-0E69-FD01B2F7A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2E3FC0B0-5718-2645-21B2-63F24A5C6E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9A19DAD-98D4-D983-CF1B-0EFBA9E23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05E22-7648-4BDA-9241-FD755027528A}" type="datetimeFigureOut">
              <a:rPr lang="tr-TR" smtClean="0"/>
              <a:t>11.09.2026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23EBB6C-A031-D034-8FA6-2391B31F4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2E7F1CC-ED17-DB38-481E-0EE1C8FA4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704D-21A2-47BD-BEAF-F9008A790CB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928195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2CEF60A2-1F3D-F9D3-2D07-18976ADB80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F5F527D-D8F3-5C54-EB48-10B399B13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65F596C-4C5C-994B-A558-2F6E48BB1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05E22-7648-4BDA-9241-FD755027528A}" type="datetimeFigureOut">
              <a:rPr lang="tr-TR" smtClean="0"/>
              <a:t>11.09.2026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F2FC556-75AF-E5B5-B546-49DD5058F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2B8E744-3489-D668-BFA0-A200187F6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4704D-21A2-47BD-BEAF-F9008A790CB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7734130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941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A69F6EEC-19E0-1C82-C882-D9FB5677C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0E220F3-A4FD-36E4-3A5D-66CD96A19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FEDDA07-3D61-9769-820B-2CE294D265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B05E22-7648-4BDA-9241-FD755027528A}" type="datetimeFigureOut">
              <a:rPr lang="tr-TR" smtClean="0"/>
              <a:t>11.09.2026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6319733-B637-D950-E9A7-7502EB3FB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A948D38-00A9-920D-FD5F-B9FFF49A2D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4704D-21A2-47BD-BEAF-F9008A790CB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1308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4" name="Icon10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05" y="382905"/>
            <a:ext cx="240030" cy="240030"/>
          </a:xfrm>
          <a:prstGeom prst="rect">
            <a:avLst/>
          </a:prstGeom>
        </p:spPr>
      </p:pic>
      <p:pic>
        <p:nvPicPr>
          <p:cNvPr id="1015" name="Icon10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5385" y="474345"/>
            <a:ext cx="240030" cy="240030"/>
          </a:xfrm>
          <a:prstGeom prst="rect">
            <a:avLst/>
          </a:prstGeom>
        </p:spPr>
      </p:pic>
      <p:pic>
        <p:nvPicPr>
          <p:cNvPr id="1016" name="Icon10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05" y="4497705"/>
            <a:ext cx="240030" cy="240030"/>
          </a:xfrm>
          <a:prstGeom prst="rect">
            <a:avLst/>
          </a:prstGeom>
        </p:spPr>
      </p:pic>
      <p:pic>
        <p:nvPicPr>
          <p:cNvPr id="1017" name="Icon10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1065" y="4680585"/>
            <a:ext cx="240030" cy="240030"/>
          </a:xfrm>
          <a:prstGeom prst="rect">
            <a:avLst/>
          </a:prstGeom>
        </p:spPr>
      </p:pic>
      <p:pic>
        <p:nvPicPr>
          <p:cNvPr id="1018" name="Icon10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585" y="291465"/>
            <a:ext cx="240030" cy="240030"/>
          </a:xfrm>
          <a:prstGeom prst="rect">
            <a:avLst/>
          </a:prstGeom>
        </p:spPr>
      </p:pic>
      <p:pic>
        <p:nvPicPr>
          <p:cNvPr id="1019" name="Icon10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585" y="4863465"/>
            <a:ext cx="240030" cy="240030"/>
          </a:xfrm>
          <a:prstGeom prst="rect">
            <a:avLst/>
          </a:prstGeom>
        </p:spPr>
      </p:pic>
      <p:pic>
        <p:nvPicPr>
          <p:cNvPr id="1020" name="Icon10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6585" y="4954905"/>
            <a:ext cx="240030" cy="240030"/>
          </a:xfrm>
          <a:prstGeom prst="rect">
            <a:avLst/>
          </a:prstGeom>
        </p:spPr>
      </p:pic>
      <p:sp>
        <p:nvSpPr>
          <p:cNvPr id="9" name="Shape 7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FBBF24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21" name="Icon10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1965" y="1000125"/>
            <a:ext cx="560070" cy="560070"/>
          </a:xfrm>
          <a:prstGeom prst="rect">
            <a:avLst/>
          </a:prstGeom>
        </p:spPr>
      </p:pic>
      <p:sp>
        <p:nvSpPr>
          <p:cNvPr id="11" name="Text 9"/>
          <p:cNvSpPr/>
          <p:nvPr/>
        </p:nvSpPr>
        <p:spPr>
          <a:xfrm>
            <a:off x="457200" y="23317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DİL DEDEKTİFİ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TÜRKÇE VE TÜRK KÜLTÜRÜ ÖĞRENME </a:t>
            </a:r>
            <a:r>
              <a:rPr lang="en-US" sz="2600" kern="0" spc="4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MACERASI</a:t>
            </a:r>
            <a:r>
              <a:rPr lang="tr-TR" sz="2600" kern="0" spc="4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MERHABA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926080" y="4023360"/>
            <a:ext cx="3291840" cy="594360"/>
          </a:xfrm>
          <a:prstGeom prst="roundRect">
            <a:avLst>
              <a:gd name="adj" fmla="val 23077"/>
            </a:avLst>
          </a:prstGeom>
          <a:solidFill>
            <a:srgbClr val="F9731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26080" y="4069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Başlangıç Seviyesi 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BUGÜNKÜ GÖREVİMİZ</a:t>
            </a:r>
            <a:endParaRPr lang="en-US" sz="3200" dirty="0"/>
          </a:p>
        </p:txBody>
      </p:sp>
      <p:sp>
        <p:nvSpPr>
          <p:cNvPr id="17" name="CurriculumNote"/>
          <p:cNvSpPr/>
          <p:nvPr/>
        </p:nvSpPr>
        <p:spPr>
          <a:xfrm>
            <a:off x="274320" y="1074000"/>
            <a:ext cx="859536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tr-TR" sz="900" dirty="0">
                <a:solidFill>
                  <a:srgbClr val="94A3B8"/>
                </a:solidFill>
                <a:latin typeface="Calibri" pitchFamily="34" charset="0"/>
              </a:rPr>
              <a:t>2026 TTKD Öğretim Programı — </a:t>
            </a:r>
            <a:r>
              <a:rPr lang="tr-TR" sz="900" dirty="0" smtClean="0">
                <a:solidFill>
                  <a:srgbClr val="94A3B8"/>
                </a:solidFill>
                <a:latin typeface="Calibri" pitchFamily="34" charset="0"/>
              </a:rPr>
              <a:t>1. </a:t>
            </a:r>
            <a:r>
              <a:rPr lang="tr-TR" sz="900" dirty="0">
                <a:solidFill>
                  <a:srgbClr val="94A3B8"/>
                </a:solidFill>
                <a:latin typeface="Calibri" pitchFamily="34" charset="0"/>
              </a:rPr>
              <a:t>Seviye: 1A1 · </a:t>
            </a:r>
            <a:r>
              <a:rPr lang="tr-TR" sz="900" dirty="0" smtClean="0">
                <a:solidFill>
                  <a:srgbClr val="94A3B8"/>
                </a:solidFill>
                <a:latin typeface="Calibri" pitchFamily="34" charset="0"/>
              </a:rPr>
              <a:t>1B1 </a:t>
            </a:r>
            <a:r>
              <a:rPr lang="tr-TR" sz="900" dirty="0">
                <a:solidFill>
                  <a:srgbClr val="94A3B8"/>
                </a:solidFill>
                <a:latin typeface="Calibri" pitchFamily="34" charset="0"/>
              </a:rPr>
              <a:t>· </a:t>
            </a:r>
            <a:r>
              <a:rPr lang="tr-TR" sz="900" dirty="0" smtClean="0">
                <a:solidFill>
                  <a:srgbClr val="94A3B8"/>
                </a:solidFill>
                <a:latin typeface="Calibri" pitchFamily="34" charset="0"/>
              </a:rPr>
              <a:t>1C1</a:t>
            </a:r>
            <a:endParaRPr lang="tr-TR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749808"/>
          </a:xfrm>
          <a:prstGeom prst="roundRect">
            <a:avLst>
              <a:gd name="adj" fmla="val 14634"/>
            </a:avLst>
          </a:prstGeom>
          <a:solidFill>
            <a:srgbClr val="DBEAF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34" name="Icon10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921" y="1403985"/>
            <a:ext cx="410718" cy="410718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1508760" y="132588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r>
              <a:rPr lang="en-US" sz="1800" b="1" dirty="0" err="1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Selamlaşmayı</a:t>
            </a:r>
            <a:r>
              <a:rPr lang="en-US" sz="18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 err="1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öğreneceğiz</a:t>
            </a:r>
            <a:r>
              <a:rPr lang="en-US" sz="18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185416"/>
            <a:ext cx="8046720" cy="749808"/>
          </a:xfrm>
          <a:prstGeom prst="roundRect">
            <a:avLst>
              <a:gd name="adj" fmla="val 14634"/>
            </a:avLst>
          </a:prstGeom>
          <a:solidFill>
            <a:srgbClr val="DCFCE7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35" name="Icon10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90" y="2337054"/>
            <a:ext cx="373380" cy="373380"/>
          </a:xfrm>
          <a:prstGeom prst="rect">
            <a:avLst/>
          </a:prstGeom>
        </p:spPr>
      </p:pic>
      <p:sp>
        <p:nvSpPr>
          <p:cNvPr id="9" name="Text 7"/>
          <p:cNvSpPr/>
          <p:nvPr/>
        </p:nvSpPr>
        <p:spPr>
          <a:xfrm>
            <a:off x="1508760" y="224028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r>
              <a:rPr lang="tr-TR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Adımızı ve soyadımızı söylemeyi öğreneceğiz.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8046720" cy="749808"/>
          </a:xfrm>
          <a:prstGeom prst="roundRect">
            <a:avLst>
              <a:gd name="adj" fmla="val 14634"/>
            </a:avLst>
          </a:prstGeom>
          <a:solidFill>
            <a:srgbClr val="EDE9F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36" name="Icon10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90" y="3251454"/>
            <a:ext cx="373380" cy="373380"/>
          </a:xfrm>
          <a:prstGeom prst="rect">
            <a:avLst/>
          </a:prstGeom>
        </p:spPr>
      </p:pic>
      <p:sp>
        <p:nvSpPr>
          <p:cNvPr id="12" name="Text 10"/>
          <p:cNvSpPr/>
          <p:nvPr/>
        </p:nvSpPr>
        <p:spPr>
          <a:xfrm>
            <a:off x="1508760" y="315468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'Tanıştığıma </a:t>
            </a:r>
            <a:r>
              <a:rPr lang="en-US" sz="18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memnun</a:t>
            </a: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oldum</a:t>
            </a: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.' </a:t>
            </a:r>
            <a:r>
              <a:rPr lang="en-US" sz="18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diyebileceğiz</a:t>
            </a: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032504"/>
            <a:ext cx="8046720" cy="749808"/>
          </a:xfrm>
          <a:prstGeom prst="roundRect">
            <a:avLst>
              <a:gd name="adj" fmla="val 14634"/>
            </a:avLst>
          </a:prstGeom>
          <a:solidFill>
            <a:srgbClr val="FFEDD5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37" name="Icon10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590" y="4165854"/>
            <a:ext cx="373380" cy="373380"/>
          </a:xfrm>
          <a:prstGeom prst="rect">
            <a:avLst/>
          </a:prstGeom>
        </p:spPr>
      </p:pic>
      <p:sp>
        <p:nvSpPr>
          <p:cNvPr id="15" name="Text 13"/>
          <p:cNvSpPr/>
          <p:nvPr/>
        </p:nvSpPr>
        <p:spPr>
          <a:xfrm>
            <a:off x="1508760" y="4069080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r>
              <a:rPr lang="tr-TR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Vedalaşmayı öğreneceğiz.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2" name="Icon10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5290" y="567690"/>
            <a:ext cx="693420" cy="69342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914400" y="15544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Günün farklı saatlerinde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nasıl selamlarsın?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2834640"/>
            <a:ext cx="1828800" cy="1920240"/>
          </a:xfrm>
          <a:prstGeom prst="roundRect">
            <a:avLst>
              <a:gd name="adj" fmla="val 9000"/>
            </a:avLst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43" name="Icon10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" y="3188970"/>
            <a:ext cx="480060" cy="480060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365760" y="38404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Sabah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560320" y="2834640"/>
            <a:ext cx="1828800" cy="1920240"/>
          </a:xfrm>
          <a:prstGeom prst="roundRect">
            <a:avLst>
              <a:gd name="adj" fmla="val 9000"/>
            </a:avLst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44" name="Icon10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4690" y="3188970"/>
            <a:ext cx="480060" cy="480060"/>
          </a:xfrm>
          <a:prstGeom prst="rect">
            <a:avLst/>
          </a:prstGeom>
        </p:spPr>
      </p:pic>
      <p:sp>
        <p:nvSpPr>
          <p:cNvPr id="10" name="Text 8"/>
          <p:cNvSpPr/>
          <p:nvPr/>
        </p:nvSpPr>
        <p:spPr>
          <a:xfrm>
            <a:off x="2560320" y="38404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Gündüz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60320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754880" y="2834640"/>
            <a:ext cx="1828800" cy="1920240"/>
          </a:xfrm>
          <a:prstGeom prst="roundRect">
            <a:avLst>
              <a:gd name="adj" fmla="val 9000"/>
            </a:avLst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45" name="Icon104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0" y="3188970"/>
            <a:ext cx="480060" cy="480060"/>
          </a:xfrm>
          <a:prstGeom prst="rect">
            <a:avLst/>
          </a:prstGeom>
        </p:spPr>
      </p:pic>
      <p:sp>
        <p:nvSpPr>
          <p:cNvPr id="14" name="Text 12"/>
          <p:cNvSpPr/>
          <p:nvPr/>
        </p:nvSpPr>
        <p:spPr>
          <a:xfrm>
            <a:off x="4754880" y="38404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Akşam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949440" y="2834640"/>
            <a:ext cx="1828800" cy="1920240"/>
          </a:xfrm>
          <a:prstGeom prst="roundRect">
            <a:avLst>
              <a:gd name="adj" fmla="val 9000"/>
            </a:avLst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46" name="Icon104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3810" y="3188970"/>
            <a:ext cx="480060" cy="480060"/>
          </a:xfrm>
          <a:prstGeom prst="rect">
            <a:avLst/>
          </a:prstGeom>
        </p:spPr>
      </p:pic>
      <p:sp>
        <p:nvSpPr>
          <p:cNvPr id="18" name="Text 16"/>
          <p:cNvSpPr/>
          <p:nvPr/>
        </p:nvSpPr>
        <p:spPr>
          <a:xfrm>
            <a:off x="6949440" y="38404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Gece</a:t>
            </a:r>
            <a:endParaRPr lang="tr-TR" sz="1800" dirty="0"/>
          </a:p>
        </p:txBody>
      </p:sp>
      <p:sp>
        <p:nvSpPr>
          <p:cNvPr id="19" name="Text 17"/>
          <p:cNvSpPr/>
          <p:nvPr/>
        </p:nvSpPr>
        <p:spPr>
          <a:xfrm>
            <a:off x="6949440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FBBF2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SABAH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819461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Günaydın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914400" y="2743200"/>
            <a:ext cx="7315200" cy="1005840"/>
          </a:xfrm>
          <a:prstGeom prst="roundRect">
            <a:avLst>
              <a:gd name="adj" fmla="val 13636"/>
            </a:avLst>
          </a:prstGeom>
          <a:solidFill>
            <a:srgbClr val="FFEDD5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816352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Sabah kalktığında veya </a:t>
            </a:r>
            <a:r>
              <a:rPr lang="en-US" sz="15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birine</a:t>
            </a: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sabah</a:t>
            </a: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rastladığında</a:t>
            </a: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söyle!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886200"/>
            <a:ext cx="731520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3959352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Nasıl söylenir: </a:t>
            </a:r>
            <a:r>
              <a:rPr lang="en-US" sz="1800" i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"Gü-nay-dın"</a:t>
            </a:r>
            <a:endParaRPr lang="en-US" sz="1800" dirty="0"/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F6CC1737-6DE0-091F-0D15-BAB9E6C834AA}"/>
              </a:ext>
            </a:extLst>
          </p:cNvPr>
          <p:cNvSpPr txBox="1"/>
          <p:nvPr/>
        </p:nvSpPr>
        <p:spPr>
          <a:xfrm>
            <a:off x="7571636" y="1155350"/>
            <a:ext cx="1864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Güneş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.5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38BDF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GÜNDÜZ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819461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7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İyi Günler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914400" y="2743200"/>
            <a:ext cx="7315200" cy="1005840"/>
          </a:xfrm>
          <a:prstGeom prst="roundRect">
            <a:avLst>
              <a:gd name="adj" fmla="val 13636"/>
            </a:avLst>
          </a:prstGeom>
          <a:solidFill>
            <a:srgbClr val="E0F2FE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816352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Gündüzün ortasında, öğlen vakti birine rastladığında söyle!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886200"/>
            <a:ext cx="731520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3959352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Nasıl söylenir: </a:t>
            </a:r>
            <a:r>
              <a:rPr lang="tr-TR" sz="1800" i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"İ-yi Gün-ler"</a:t>
            </a:r>
            <a:endParaRPr lang="en-US" sz="1800" dirty="0"/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F6CC1737-6DE0-091F-0D15-BAB9E6C834AA}"/>
              </a:ext>
            </a:extLst>
          </p:cNvPr>
          <p:cNvSpPr txBox="1"/>
          <p:nvPr/>
        </p:nvSpPr>
        <p:spPr>
          <a:xfrm>
            <a:off x="7571636" y="1155350"/>
            <a:ext cx="1864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Gökyüzü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BE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ZAMAN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5645" y="845971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4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Merhaba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3474720" y="2423462"/>
            <a:ext cx="2194560" cy="685800"/>
          </a:xfrm>
          <a:prstGeom prst="ellipse">
            <a:avLst/>
          </a:prstGeom>
          <a:solidFill>
            <a:srgbClr val="16A3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0" y="2446473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Zaman!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3520440"/>
            <a:ext cx="182880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44" name="Icon10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135" y="3731895"/>
            <a:ext cx="400050" cy="400050"/>
          </a:xfrm>
          <a:prstGeom prst="rect">
            <a:avLst/>
          </a:prstGeom>
        </p:spPr>
      </p:pic>
      <p:sp>
        <p:nvSpPr>
          <p:cNvPr id="9" name="Text 7"/>
          <p:cNvSpPr/>
          <p:nvPr/>
        </p:nvSpPr>
        <p:spPr>
          <a:xfrm>
            <a:off x="365760" y="4206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Sabah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60320" y="3520440"/>
            <a:ext cx="182880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45" name="Icon10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4695" y="3731895"/>
            <a:ext cx="400050" cy="400050"/>
          </a:xfrm>
          <a:prstGeom prst="rect">
            <a:avLst/>
          </a:prstGeom>
        </p:spPr>
      </p:pic>
      <p:sp>
        <p:nvSpPr>
          <p:cNvPr id="12" name="Text 10"/>
          <p:cNvSpPr/>
          <p:nvPr/>
        </p:nvSpPr>
        <p:spPr>
          <a:xfrm>
            <a:off x="2560320" y="4206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Öğlen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54880" y="3520440"/>
            <a:ext cx="182880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46" name="Icon10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9255" y="3731895"/>
            <a:ext cx="400050" cy="400050"/>
          </a:xfrm>
          <a:prstGeom prst="rect">
            <a:avLst/>
          </a:prstGeom>
        </p:spPr>
      </p:pic>
      <p:sp>
        <p:nvSpPr>
          <p:cNvPr id="15" name="Text 13"/>
          <p:cNvSpPr/>
          <p:nvPr/>
        </p:nvSpPr>
        <p:spPr>
          <a:xfrm>
            <a:off x="4754880" y="4206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Akşam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49440" y="3520440"/>
            <a:ext cx="182880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47" name="Icon104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3815" y="3731895"/>
            <a:ext cx="400050" cy="400050"/>
          </a:xfrm>
          <a:prstGeom prst="rect">
            <a:avLst/>
          </a:prstGeom>
        </p:spPr>
      </p:pic>
      <p:sp>
        <p:nvSpPr>
          <p:cNvPr id="18" name="Text 16"/>
          <p:cNvSpPr/>
          <p:nvPr/>
        </p:nvSpPr>
        <p:spPr>
          <a:xfrm>
            <a:off x="6949440" y="4206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Gece</a:t>
            </a:r>
            <a:endParaRPr lang="tr-TR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  <p:bldP spid="15" grpId="0" animBg="1"/>
      <p:bldP spid="1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" name="Icon10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502920"/>
            <a:ext cx="640080" cy="640080"/>
          </a:xfrm>
          <a:prstGeom prst="rect">
            <a:avLst/>
          </a:prstGeom>
        </p:spPr>
      </p:pic>
      <p:pic>
        <p:nvPicPr>
          <p:cNvPr id="1025" name="Icon10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355" y="1224915"/>
            <a:ext cx="293370" cy="293370"/>
          </a:xfrm>
          <a:prstGeom prst="rect">
            <a:avLst/>
          </a:prstGeom>
        </p:spPr>
      </p:pic>
      <p:pic>
        <p:nvPicPr>
          <p:cNvPr id="1026" name="Icon10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955" y="584835"/>
            <a:ext cx="293370" cy="29337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AKŞAM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İyi Akşamlar</a:t>
            </a:r>
            <a:endParaRPr lang="en-US" sz="68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7680960" cy="91440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816352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Akşam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birine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rastladığında veya akşam yemeğinde söyle!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7680960" cy="960120"/>
          </a:xfrm>
          <a:prstGeom prst="roundRect">
            <a:avLst>
              <a:gd name="adj" fmla="val 14286"/>
            </a:avLst>
          </a:prstGeom>
          <a:solidFill>
            <a:srgbClr val="1E1B4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91363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Nasıl söylenir: </a:t>
            </a: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"İ-yi Ak-şam-lar"</a:t>
            </a:r>
            <a:endParaRPr lang="en-US" sz="1800" dirty="0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68D358BD-F691-0F84-F496-232BD62695B0}"/>
              </a:ext>
            </a:extLst>
          </p:cNvPr>
          <p:cNvSpPr txBox="1"/>
          <p:nvPr/>
        </p:nvSpPr>
        <p:spPr>
          <a:xfrm>
            <a:off x="7966180" y="1549122"/>
            <a:ext cx="778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Yıldız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.5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" name="Icon10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188720"/>
            <a:ext cx="640080" cy="640080"/>
          </a:xfrm>
          <a:prstGeom prst="rect">
            <a:avLst/>
          </a:prstGeom>
        </p:spPr>
      </p:pic>
      <p:pic>
        <p:nvPicPr>
          <p:cNvPr id="1025" name="Icon10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355" y="1900000"/>
            <a:ext cx="293370" cy="293370"/>
          </a:xfrm>
          <a:prstGeom prst="rect">
            <a:avLst/>
          </a:prstGeom>
        </p:spPr>
      </p:pic>
      <p:pic>
        <p:nvPicPr>
          <p:cNvPr id="1026" name="Icon10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955" y="584835"/>
            <a:ext cx="293370" cy="29337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GECE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İyi Geceler</a:t>
            </a:r>
            <a:endParaRPr lang="en-US" sz="68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7680960" cy="914400"/>
          </a:xfrm>
          <a:prstGeom prst="roundRect">
            <a:avLst>
              <a:gd name="adj" fmla="val 15000"/>
            </a:avLst>
          </a:prstGeom>
          <a:solidFill>
            <a:srgbClr val="312E81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816352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Yatmadan önce veya gece birine rastladığında söyle!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7680960" cy="960120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91363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Nasıl söylenir: </a:t>
            </a: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"İ-yi Ge-ce-ler"</a:t>
            </a:r>
            <a:endParaRPr lang="en-US" sz="1800" dirty="0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68D358BD-F691-0F84-F496-232BD62695B0}"/>
              </a:ext>
            </a:extLst>
          </p:cNvPr>
          <p:cNvSpPr txBox="1"/>
          <p:nvPr/>
        </p:nvSpPr>
        <p:spPr>
          <a:xfrm>
            <a:off x="7966180" y="2331842"/>
            <a:ext cx="778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Yıldız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ZAMAN </a:t>
            </a:r>
            <a:r>
              <a:rPr lang="tr-TR" sz="2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DERİZ?</a:t>
            </a:r>
            <a:endParaRPr lang="en-US" sz="2000" dirty="0"/>
          </a:p>
        </p:txBody>
      </p:sp>
      <p:sp>
        <p:nvSpPr>
          <p:cNvPr id="20" name="Shape 20"/>
          <p:cNvSpPr/>
          <p:nvPr/>
        </p:nvSpPr>
        <p:spPr>
          <a:xfrm>
            <a:off x="365760" y="1051560"/>
            <a:ext cx="2606040" cy="1690000"/>
          </a:xfrm>
          <a:prstGeom prst="roundRect">
            <a:avLst>
              <a:gd name="adj" fmla="val 6316"/>
            </a:avLst>
          </a:prstGeom>
          <a:solidFill>
            <a:srgbClr val="F9731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141" name="Icon11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8755" y="1358695"/>
            <a:ext cx="400050" cy="400050"/>
          </a:xfrm>
          <a:prstGeom prst="rect">
            <a:avLst/>
          </a:prstGeom>
        </p:spPr>
      </p:pic>
      <p:sp>
        <p:nvSpPr>
          <p:cNvPr id="22" name="Text 22"/>
          <p:cNvSpPr/>
          <p:nvPr/>
        </p:nvSpPr>
        <p:spPr>
          <a:xfrm>
            <a:off x="365760" y="2001560"/>
            <a:ext cx="2606040" cy="6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Günaydın</a:t>
            </a:r>
            <a:endParaRPr lang="tr-TR" sz="1600" dirty="0"/>
          </a:p>
        </p:txBody>
      </p:sp>
      <p:sp>
        <p:nvSpPr>
          <p:cNvPr id="23" name="Shape 23"/>
          <p:cNvSpPr/>
          <p:nvPr/>
        </p:nvSpPr>
        <p:spPr>
          <a:xfrm>
            <a:off x="3246120" y="1051560"/>
            <a:ext cx="2606040" cy="1690000"/>
          </a:xfrm>
          <a:prstGeom prst="roundRect">
            <a:avLst>
              <a:gd name="adj" fmla="val 6316"/>
            </a:avLst>
          </a:prstGeom>
          <a:solidFill>
            <a:srgbClr val="0EA5E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142" name="Icon11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115" y="1358695"/>
            <a:ext cx="400050" cy="400050"/>
          </a:xfrm>
          <a:prstGeom prst="rect">
            <a:avLst/>
          </a:prstGeom>
        </p:spPr>
      </p:pic>
      <p:sp>
        <p:nvSpPr>
          <p:cNvPr id="25" name="Text 25"/>
          <p:cNvSpPr/>
          <p:nvPr/>
        </p:nvSpPr>
        <p:spPr>
          <a:xfrm>
            <a:off x="3246120" y="2001560"/>
            <a:ext cx="2606040" cy="6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İyi Günler</a:t>
            </a:r>
            <a:endParaRPr lang="tr-TR" sz="1600" dirty="0"/>
          </a:p>
        </p:txBody>
      </p:sp>
      <p:sp>
        <p:nvSpPr>
          <p:cNvPr id="26" name="Shape 26"/>
          <p:cNvSpPr/>
          <p:nvPr/>
        </p:nvSpPr>
        <p:spPr>
          <a:xfrm>
            <a:off x="6126480" y="1051560"/>
            <a:ext cx="2606040" cy="1690000"/>
          </a:xfrm>
          <a:prstGeom prst="roundRect">
            <a:avLst>
              <a:gd name="adj" fmla="val 6316"/>
            </a:avLst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143" name="Icon114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810" y="1281310"/>
            <a:ext cx="373380" cy="373380"/>
          </a:xfrm>
          <a:prstGeom prst="rect">
            <a:avLst/>
          </a:prstGeom>
        </p:spPr>
      </p:pic>
      <p:sp>
        <p:nvSpPr>
          <p:cNvPr id="28" name="Text 28"/>
          <p:cNvSpPr/>
          <p:nvPr/>
        </p:nvSpPr>
        <p:spPr>
          <a:xfrm>
            <a:off x="6126480" y="1851560"/>
            <a:ext cx="2606040" cy="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Merhaba</a:t>
            </a:r>
            <a:endParaRPr lang="tr-TR" sz="1600" dirty="0"/>
          </a:p>
        </p:txBody>
      </p:sp>
      <p:sp>
        <p:nvSpPr>
          <p:cNvPr id="29" name="Text 29"/>
          <p:cNvSpPr/>
          <p:nvPr/>
        </p:nvSpPr>
        <p:spPr>
          <a:xfrm>
            <a:off x="6126480" y="2351560"/>
            <a:ext cx="260604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zaman! </a:t>
            </a:r>
            <a:endParaRPr lang="tr-TR" sz="1100" dirty="0"/>
          </a:p>
        </p:txBody>
      </p:sp>
      <p:sp>
        <p:nvSpPr>
          <p:cNvPr id="30" name="Shape 30"/>
          <p:cNvSpPr/>
          <p:nvPr/>
        </p:nvSpPr>
        <p:spPr>
          <a:xfrm>
            <a:off x="1828800" y="3015880"/>
            <a:ext cx="2606040" cy="1690000"/>
          </a:xfrm>
          <a:prstGeom prst="roundRect">
            <a:avLst>
              <a:gd name="adj" fmla="val 6316"/>
            </a:avLst>
          </a:prstGeom>
          <a:solidFill>
            <a:srgbClr val="7C3AED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144" name="Icon11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1795" y="3323015"/>
            <a:ext cx="400050" cy="400050"/>
          </a:xfrm>
          <a:prstGeom prst="rect">
            <a:avLst/>
          </a:prstGeom>
        </p:spPr>
      </p:pic>
      <p:sp>
        <p:nvSpPr>
          <p:cNvPr id="32" name="Text 32"/>
          <p:cNvSpPr/>
          <p:nvPr/>
        </p:nvSpPr>
        <p:spPr>
          <a:xfrm>
            <a:off x="1828800" y="3965880"/>
            <a:ext cx="2606040" cy="6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İyi Akşamlar</a:t>
            </a:r>
            <a:endParaRPr lang="tr-TR" sz="1600" dirty="0"/>
          </a:p>
        </p:txBody>
      </p:sp>
      <p:sp>
        <p:nvSpPr>
          <p:cNvPr id="33" name="Shape 33"/>
          <p:cNvSpPr/>
          <p:nvPr/>
        </p:nvSpPr>
        <p:spPr>
          <a:xfrm>
            <a:off x="4709160" y="3015880"/>
            <a:ext cx="2606040" cy="1690000"/>
          </a:xfrm>
          <a:prstGeom prst="roundRect">
            <a:avLst>
              <a:gd name="adj" fmla="val 6316"/>
            </a:avLst>
          </a:prstGeom>
          <a:solidFill>
            <a:srgbClr val="312E81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145" name="Icon114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2155" y="3323015"/>
            <a:ext cx="400050" cy="400050"/>
          </a:xfrm>
          <a:prstGeom prst="rect">
            <a:avLst/>
          </a:prstGeom>
        </p:spPr>
      </p:pic>
      <p:sp>
        <p:nvSpPr>
          <p:cNvPr id="35" name="Text 35"/>
          <p:cNvSpPr/>
          <p:nvPr/>
        </p:nvSpPr>
        <p:spPr>
          <a:xfrm>
            <a:off x="4709160" y="3965880"/>
            <a:ext cx="2606040" cy="6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İyi Geceler</a:t>
            </a:r>
            <a:endParaRPr lang="tr-TR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5" grpId="0" animBg="1"/>
      <p:bldP spid="28" grpId="0" animBg="1"/>
      <p:bldP spid="29" grpId="0" animBg="1"/>
      <p:bldP spid="32" grpId="0" animBg="1"/>
      <p:bldP spid="3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CF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Düşünelim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Peki… Yeni bir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arkadaşla tanışırsan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yaparsın?</a:t>
            </a:r>
            <a:endParaRPr lang="en-US" sz="3400" dirty="0"/>
          </a:p>
        </p:txBody>
      </p:sp>
      <p:pic>
        <p:nvPicPr>
          <p:cNvPr id="1008" name="Icon10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8238" y="3539319"/>
            <a:ext cx="693762" cy="693762"/>
          </a:xfrm>
          <a:prstGeom prst="rect">
            <a:avLst/>
          </a:prstGeom>
        </p:spPr>
      </p:pic>
      <p:pic>
        <p:nvPicPr>
          <p:cNvPr id="1009" name="Icon100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2000" y="3539319"/>
            <a:ext cx="693762" cy="6937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7418"/>
            <a:ext cx="9144000" cy="9144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ADINI VE SOYADINI SÖYLE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554480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Benim adım..., soyadım...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1371600" y="2834640"/>
            <a:ext cx="640080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22" name="Icon10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825" y="3270885"/>
            <a:ext cx="453390" cy="453390"/>
          </a:xfrm>
          <a:prstGeom prst="rect">
            <a:avLst/>
          </a:prstGeom>
        </p:spPr>
      </p:pic>
      <p:sp>
        <p:nvSpPr>
          <p:cNvPr id="8" name="Text 6"/>
          <p:cNvSpPr/>
          <p:nvPr/>
        </p:nvSpPr>
        <p:spPr>
          <a:xfrm>
            <a:off x="2285999" y="2926080"/>
            <a:ext cx="541070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7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"Benim adım [öğretmenin adı], soyadım [öğretmenin soyadı]!"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71600" y="4343400"/>
            <a:ext cx="6400800" cy="594360"/>
          </a:xfrm>
          <a:prstGeom prst="roundRect">
            <a:avLst>
              <a:gd name="adj" fmla="val 18462"/>
            </a:avLst>
          </a:prstGeom>
          <a:solidFill>
            <a:srgbClr val="D1FAE5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438912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Şimdi sen söyle: 'Benim adım ___, soyadım ___!'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 SOR!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645920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Senin adın ne? Soyadın ne?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1097280" y="2971800"/>
            <a:ext cx="2926080" cy="1463040"/>
          </a:xfrm>
          <a:prstGeom prst="ellipse">
            <a:avLst/>
          </a:prstGeom>
          <a:solidFill>
            <a:srgbClr val="DBEAF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30175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3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"Senin adın ne? Soyadın ne?"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06240" y="3383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A2E5A"/>
                </a:solidFill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120640" y="2971800"/>
            <a:ext cx="2926080" cy="1463040"/>
          </a:xfrm>
          <a:prstGeom prst="ellipse">
            <a:avLst/>
          </a:prstGeom>
          <a:solidFill>
            <a:srgbClr val="DCFCE7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301752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"Benim adım Leyla, soyadım Yılmaz!"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71600" y="4617720"/>
            <a:ext cx="6400800" cy="411480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4645152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3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 </a:t>
            </a:r>
            <a:r>
              <a:rPr lang="en-US" sz="13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</a:t>
            </a:r>
            <a:r>
              <a:rPr lang="tr-TR" sz="13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bakalım</a:t>
            </a:r>
            <a:r>
              <a:rPr lang="en-US" sz="13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'Senin adın ne? Soyadın ne?'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28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Veee</a:t>
            </a:r>
            <a:r>
              <a:rPr lang="tr-TR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82880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Tanıştığıma</a:t>
            </a:r>
            <a:endParaRPr lang="en-US" sz="4600" dirty="0"/>
          </a:p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memnun oldum!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76809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30906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</a:t>
            </a:r>
            <a:r>
              <a: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nış</a:t>
            </a:r>
            <a:r>
              <a:rPr lang="en-US" sz="2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tı</a:t>
            </a:r>
            <a:r>
              <a:rPr lang="en-US" sz="24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ğı</a:t>
            </a:r>
            <a:r>
              <a: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</a:t>
            </a: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2400" b="1" dirty="0" err="1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</a:t>
            </a:r>
            <a:r>
              <a:rPr lang="en-US" sz="2400" b="1" dirty="0" err="1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</a:t>
            </a:r>
            <a:r>
              <a:rPr lang="en-US" sz="2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2400" b="1" dirty="0" err="1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</a:t>
            </a:r>
            <a:r>
              <a:rPr lang="en-US" sz="24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</a:t>
            </a:r>
            <a:r>
              <a: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1828800" y="4069080"/>
            <a:ext cx="548640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413308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sıkışma hareketi yap ve söyle!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DİYALOĞU KURALIM!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37935"/>
            <a:ext cx="6858000" cy="841248"/>
          </a:xfrm>
          <a:prstGeom prst="roundRect">
            <a:avLst>
              <a:gd name="adj" fmla="val 16304"/>
            </a:avLst>
          </a:prstGeom>
          <a:solidFill>
            <a:srgbClr val="DBEAF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54999" y="1088136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</a:t>
            </a: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Merhaba!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74300" y="2002415"/>
            <a:ext cx="6858000" cy="841248"/>
          </a:xfrm>
          <a:prstGeom prst="roundRect">
            <a:avLst>
              <a:gd name="adj" fmla="val 16304"/>
            </a:avLst>
          </a:prstGeom>
          <a:solidFill>
            <a:srgbClr val="DCFCE7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20240" y="2102999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</a:t>
            </a: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Merhaba! Benim </a:t>
            </a:r>
            <a:r>
              <a:rPr lang="en-US" sz="18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adım</a:t>
            </a: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tr-TR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________, soyadım ________ </a:t>
            </a: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r>
              <a:rPr lang="tr-TR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Senin </a:t>
            </a:r>
            <a:r>
              <a:rPr lang="en-US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adın</a:t>
            </a: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ne? Soyadın ne?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4320" y="3017520"/>
            <a:ext cx="6858000" cy="841248"/>
          </a:xfrm>
          <a:prstGeom prst="roundRect">
            <a:avLst>
              <a:gd name="adj" fmla="val 16304"/>
            </a:avLst>
          </a:prstGeom>
          <a:solidFill>
            <a:srgbClr val="DBEAF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4998" y="3114198"/>
            <a:ext cx="657732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</a:t>
            </a: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tr-TR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Benim adım (Öğretmen adı), soyadım (Öğretmen soyadı). </a:t>
            </a:r>
            <a:r>
              <a:rPr lang="en-US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Tanıştığıma</a:t>
            </a: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memnun</a:t>
            </a: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oldum</a:t>
            </a:r>
            <a:r>
              <a:rPr lang="en-US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828800" y="4023360"/>
            <a:ext cx="6858000" cy="841248"/>
          </a:xfrm>
          <a:prstGeom prst="roundRect">
            <a:avLst>
              <a:gd name="adj" fmla="val 16304"/>
            </a:avLst>
          </a:prstGeom>
          <a:solidFill>
            <a:srgbClr val="DCFCE7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30755" y="4123944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</a:t>
            </a: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tr-TR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 de. 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VEDALAŞMA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840480"/>
          </a:xfrm>
          <a:prstGeom prst="roundRect">
            <a:avLst>
              <a:gd name="adj" fmla="val 4762"/>
            </a:avLst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22" name="Icon10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790" y="1352550"/>
            <a:ext cx="586740" cy="586740"/>
          </a:xfrm>
          <a:prstGeom prst="rect">
            <a:avLst/>
          </a:prstGeom>
        </p:spPr>
      </p:pic>
      <p:sp>
        <p:nvSpPr>
          <p:cNvPr id="6" name="Text 4"/>
          <p:cNvSpPr/>
          <p:nvPr/>
        </p:nvSpPr>
        <p:spPr>
          <a:xfrm>
            <a:off x="548640" y="219456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 err="1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Hoşça</a:t>
            </a:r>
            <a:r>
              <a:rPr lang="en-US" sz="3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Kal!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süre görmeyeceğin birine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1051560"/>
            <a:ext cx="3931920" cy="3840480"/>
          </a:xfrm>
          <a:prstGeom prst="roundRect">
            <a:avLst>
              <a:gd name="adj" fmla="val 4762"/>
            </a:avLst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23" name="Icon10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350" y="1352550"/>
            <a:ext cx="586740" cy="586740"/>
          </a:xfrm>
          <a:prstGeom prst="rect">
            <a:avLst/>
          </a:prstGeom>
        </p:spPr>
      </p:pic>
      <p:sp>
        <p:nvSpPr>
          <p:cNvPr id="10" name="Text 8"/>
          <p:cNvSpPr/>
          <p:nvPr/>
        </p:nvSpPr>
        <p:spPr>
          <a:xfrm>
            <a:off x="5029200" y="219456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Görüşürüz!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029200" y="352044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Yakında tekrar göreceğin birine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MÜKEMMEL BİR KONUŞMA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658368" cy="658368"/>
          </a:xfrm>
          <a:prstGeom prst="ellipse">
            <a:avLst/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pic>
        <p:nvPicPr>
          <p:cNvPr id="1023" name="Icon10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495" y="1224915"/>
            <a:ext cx="293370" cy="293370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1828800" y="109728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Merhaba!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1856232"/>
            <a:ext cx="658368" cy="658368"/>
          </a:xfrm>
          <a:prstGeom prst="ellipse">
            <a:avLst/>
          </a:prstGeom>
          <a:solidFill>
            <a:srgbClr val="16A34A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8562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pic>
        <p:nvPicPr>
          <p:cNvPr id="1024" name="Icon10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495" y="2029587"/>
            <a:ext cx="293370" cy="293370"/>
          </a:xfrm>
          <a:prstGeom prst="rect">
            <a:avLst/>
          </a:prstGeom>
        </p:spPr>
      </p:pic>
      <p:sp>
        <p:nvSpPr>
          <p:cNvPr id="11" name="Text 9"/>
          <p:cNvSpPr/>
          <p:nvPr/>
        </p:nvSpPr>
        <p:spPr>
          <a:xfrm>
            <a:off x="182880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Benim adım ___, soyadım ___!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65760" y="2660904"/>
            <a:ext cx="658368" cy="658368"/>
          </a:xfrm>
          <a:prstGeom prst="ellipse">
            <a:avLst/>
          </a:prstGeom>
          <a:solidFill>
            <a:srgbClr val="F9731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66090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pic>
        <p:nvPicPr>
          <p:cNvPr id="1025" name="Icon10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495" y="2834259"/>
            <a:ext cx="293370" cy="293370"/>
          </a:xfrm>
          <a:prstGeom prst="rect">
            <a:avLst/>
          </a:prstGeom>
        </p:spPr>
      </p:pic>
      <p:sp>
        <p:nvSpPr>
          <p:cNvPr id="15" name="Text 13"/>
          <p:cNvSpPr/>
          <p:nvPr/>
        </p:nvSpPr>
        <p:spPr>
          <a:xfrm>
            <a:off x="1828800" y="270662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Senin adın ne? Soyadın ne?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65760" y="3465576"/>
            <a:ext cx="658368" cy="658368"/>
          </a:xfrm>
          <a:prstGeom prst="ellipse">
            <a:avLst/>
          </a:prstGeom>
          <a:solidFill>
            <a:srgbClr val="7C3AED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46557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pic>
        <p:nvPicPr>
          <p:cNvPr id="1026" name="Icon10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3495" y="3638931"/>
            <a:ext cx="293370" cy="293370"/>
          </a:xfrm>
          <a:prstGeom prst="rect">
            <a:avLst/>
          </a:prstGeom>
        </p:spPr>
      </p:pic>
      <p:sp>
        <p:nvSpPr>
          <p:cNvPr id="19" name="Text 17"/>
          <p:cNvSpPr/>
          <p:nvPr/>
        </p:nvSpPr>
        <p:spPr>
          <a:xfrm>
            <a:off x="1828800" y="35112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Tanıştığıma memnun oldum!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65760" y="4270248"/>
            <a:ext cx="658368" cy="658368"/>
          </a:xfrm>
          <a:prstGeom prst="ellipse">
            <a:avLst/>
          </a:prstGeom>
          <a:solidFill>
            <a:srgbClr val="DC2626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42702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pic>
        <p:nvPicPr>
          <p:cNvPr id="1027" name="Icon10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495" y="4443603"/>
            <a:ext cx="293370" cy="293370"/>
          </a:xfrm>
          <a:prstGeom prst="rect">
            <a:avLst/>
          </a:prstGeom>
        </p:spPr>
      </p:pic>
      <p:sp>
        <p:nvSpPr>
          <p:cNvPr id="23" name="Text 21"/>
          <p:cNvSpPr/>
          <p:nvPr/>
        </p:nvSpPr>
        <p:spPr>
          <a:xfrm>
            <a:off x="1828800" y="431596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Görüşürüz!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1" grpId="0" animBg="1"/>
      <p:bldP spid="15" grpId="0" animBg="1"/>
      <p:bldP spid="19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KÜLTÜR KÖŞESİ – DEDEKTİF SIRRI!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2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TÜRKLERDE SELAMLAŞMA</a:t>
            </a:r>
            <a:endParaRPr lang="en-US" sz="2600" dirty="0"/>
          </a:p>
        </p:txBody>
      </p:sp>
      <p:sp>
        <p:nvSpPr>
          <p:cNvPr id="20" name="CardRect20"/>
          <p:cNvSpPr/>
          <p:nvPr/>
        </p:nvSpPr>
        <p:spPr>
          <a:xfrm>
            <a:off x="731520" y="1600200"/>
            <a:ext cx="768096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34" name="Icon10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370" y="1718310"/>
            <a:ext cx="266700" cy="266700"/>
          </a:xfrm>
          <a:prstGeom prst="rect">
            <a:avLst/>
          </a:prstGeom>
        </p:spPr>
      </p:pic>
      <p:sp>
        <p:nvSpPr>
          <p:cNvPr id="22" name="CardText22"/>
          <p:cNvSpPr/>
          <p:nvPr/>
        </p:nvSpPr>
        <p:spPr>
          <a:xfrm>
            <a:off x="1463040" y="160020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4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Tanıdıklarımızı görünce </a:t>
            </a:r>
            <a:r>
              <a:rPr lang="tr-TR" sz="1400" dirty="0">
                <a:solidFill>
                  <a:srgbClr val="FF0000"/>
                </a:solidFill>
                <a:latin typeface="Arial" pitchFamily="34" charset="0"/>
                <a:cs typeface="Arial" pitchFamily="34" charset="-120"/>
              </a:rPr>
              <a:t>elimizi </a:t>
            </a:r>
            <a:r>
              <a:rPr lang="tr-TR" sz="1400" dirty="0" smtClean="0">
                <a:solidFill>
                  <a:srgbClr val="FF0000"/>
                </a:solidFill>
                <a:latin typeface="Arial" pitchFamily="34" charset="0"/>
                <a:cs typeface="Arial" pitchFamily="34" charset="-120"/>
              </a:rPr>
              <a:t>kaldırır </a:t>
            </a:r>
            <a:r>
              <a:rPr lang="tr-TR" sz="1400" dirty="0" smtClean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ve selamlarız</a:t>
            </a:r>
            <a:r>
              <a:rPr lang="tr-TR" sz="14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.</a:t>
            </a:r>
            <a:endParaRPr lang="tr-TR" sz="1400" dirty="0"/>
          </a:p>
        </p:txBody>
      </p:sp>
      <p:sp>
        <p:nvSpPr>
          <p:cNvPr id="23" name="CardRect23"/>
          <p:cNvSpPr/>
          <p:nvPr/>
        </p:nvSpPr>
        <p:spPr>
          <a:xfrm>
            <a:off x="731520" y="2194560"/>
            <a:ext cx="768096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35" name="Icon10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370" y="2312670"/>
            <a:ext cx="266700" cy="266700"/>
          </a:xfrm>
          <a:prstGeom prst="rect">
            <a:avLst/>
          </a:prstGeom>
        </p:spPr>
      </p:pic>
      <p:sp>
        <p:nvSpPr>
          <p:cNvPr id="25" name="CardText25"/>
          <p:cNvSpPr/>
          <p:nvPr/>
        </p:nvSpPr>
        <p:spPr>
          <a:xfrm>
            <a:off x="1463040" y="21945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tr-TR" sz="14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Uzaktaki birine </a:t>
            </a:r>
            <a:r>
              <a:rPr lang="tr-TR" sz="1400" dirty="0">
                <a:solidFill>
                  <a:srgbClr val="FF0000"/>
                </a:solidFill>
                <a:latin typeface="Arial" pitchFamily="34" charset="0"/>
                <a:cs typeface="Arial" pitchFamily="34" charset="-120"/>
              </a:rPr>
              <a:t>başımızı hafifçe öne </a:t>
            </a:r>
            <a:r>
              <a:rPr lang="tr-TR" sz="1400" dirty="0" smtClean="0">
                <a:solidFill>
                  <a:srgbClr val="FF0000"/>
                </a:solidFill>
                <a:latin typeface="Arial" pitchFamily="34" charset="0"/>
                <a:cs typeface="Arial" pitchFamily="34" charset="-120"/>
              </a:rPr>
              <a:t>eğer </a:t>
            </a:r>
            <a:r>
              <a:rPr lang="tr-TR" sz="14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ve </a:t>
            </a:r>
            <a:r>
              <a:rPr lang="tr-TR" sz="1400" dirty="0" smtClean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selamlarız.</a:t>
            </a:r>
            <a:endParaRPr lang="tr-TR" sz="1400" dirty="0"/>
          </a:p>
        </p:txBody>
      </p:sp>
      <p:sp>
        <p:nvSpPr>
          <p:cNvPr id="26" name="CardRect26"/>
          <p:cNvSpPr/>
          <p:nvPr/>
        </p:nvSpPr>
        <p:spPr>
          <a:xfrm>
            <a:off x="731520" y="2788920"/>
            <a:ext cx="768096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36" name="Icon10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370" y="2907030"/>
            <a:ext cx="266700" cy="266700"/>
          </a:xfrm>
          <a:prstGeom prst="rect">
            <a:avLst/>
          </a:prstGeom>
        </p:spPr>
      </p:pic>
      <p:sp>
        <p:nvSpPr>
          <p:cNvPr id="28" name="CardText28"/>
          <p:cNvSpPr/>
          <p:nvPr/>
        </p:nvSpPr>
        <p:spPr>
          <a:xfrm>
            <a:off x="1463040" y="278892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4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Arkadaşlarımız ve büyüklerimizle </a:t>
            </a:r>
            <a:r>
              <a:rPr lang="tr-TR" sz="1400" dirty="0" smtClean="0">
                <a:solidFill>
                  <a:srgbClr val="FF0000"/>
                </a:solidFill>
                <a:latin typeface="Arial" pitchFamily="34" charset="0"/>
                <a:cs typeface="Arial" pitchFamily="34" charset="-120"/>
              </a:rPr>
              <a:t>tokalaşır</a:t>
            </a:r>
            <a:r>
              <a:rPr lang="tr-TR" sz="1400" dirty="0" smtClean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 ve </a:t>
            </a:r>
            <a:r>
              <a:rPr lang="tr-TR" sz="14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selamlaşırız.</a:t>
            </a:r>
            <a:endParaRPr lang="tr-TR" sz="1400" dirty="0"/>
          </a:p>
        </p:txBody>
      </p:sp>
      <p:sp>
        <p:nvSpPr>
          <p:cNvPr id="29" name="CardRect29"/>
          <p:cNvSpPr/>
          <p:nvPr/>
        </p:nvSpPr>
        <p:spPr>
          <a:xfrm>
            <a:off x="731520" y="3383280"/>
            <a:ext cx="768096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37" name="Icon10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370" y="3501390"/>
            <a:ext cx="266700" cy="266700"/>
          </a:xfrm>
          <a:prstGeom prst="rect">
            <a:avLst/>
          </a:prstGeom>
        </p:spPr>
      </p:pic>
      <p:sp>
        <p:nvSpPr>
          <p:cNvPr id="31" name="CardText31"/>
          <p:cNvSpPr/>
          <p:nvPr/>
        </p:nvSpPr>
        <p:spPr>
          <a:xfrm>
            <a:off x="1463040" y="338328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4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Çok yakın arkadaşlarımızı </a:t>
            </a:r>
            <a:r>
              <a:rPr lang="tr-TR" sz="1400" dirty="0">
                <a:solidFill>
                  <a:srgbClr val="FF0000"/>
                </a:solidFill>
                <a:latin typeface="Arial" pitchFamily="34" charset="0"/>
                <a:cs typeface="Arial" pitchFamily="34" charset="-120"/>
              </a:rPr>
              <a:t>iki yanağından </a:t>
            </a:r>
            <a:r>
              <a:rPr lang="tr-TR" sz="1400" dirty="0" smtClean="0">
                <a:solidFill>
                  <a:srgbClr val="FF0000"/>
                </a:solidFill>
                <a:latin typeface="Arial" pitchFamily="34" charset="0"/>
                <a:cs typeface="Arial" pitchFamily="34" charset="-120"/>
              </a:rPr>
              <a:t>öperiz </a:t>
            </a:r>
            <a:r>
              <a:rPr lang="tr-TR" sz="1400" dirty="0" smtClean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ve selamlaşırız.</a:t>
            </a:r>
            <a:endParaRPr lang="tr-TR" sz="1400" dirty="0"/>
          </a:p>
        </p:txBody>
      </p:sp>
      <p:sp>
        <p:nvSpPr>
          <p:cNvPr id="32" name="CardRect32"/>
          <p:cNvSpPr/>
          <p:nvPr/>
        </p:nvSpPr>
        <p:spPr>
          <a:xfrm>
            <a:off x="731520" y="3977640"/>
            <a:ext cx="768096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38" name="Icon10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370" y="4095750"/>
            <a:ext cx="266700" cy="266700"/>
          </a:xfrm>
          <a:prstGeom prst="rect">
            <a:avLst/>
          </a:prstGeom>
        </p:spPr>
      </p:pic>
      <p:sp>
        <p:nvSpPr>
          <p:cNvPr id="34" name="CardText34"/>
          <p:cNvSpPr/>
          <p:nvPr/>
        </p:nvSpPr>
        <p:spPr>
          <a:xfrm>
            <a:off x="1463040" y="397764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400" dirty="0" smtClean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Büyüklerimizin </a:t>
            </a:r>
            <a:r>
              <a:rPr lang="tr-TR" sz="1400" dirty="0">
                <a:solidFill>
                  <a:srgbClr val="FF0000"/>
                </a:solidFill>
                <a:latin typeface="Arial" pitchFamily="34" charset="0"/>
                <a:cs typeface="Arial" pitchFamily="34" charset="-120"/>
              </a:rPr>
              <a:t>elini </a:t>
            </a:r>
            <a:r>
              <a:rPr lang="tr-TR" sz="1400" dirty="0" smtClean="0">
                <a:solidFill>
                  <a:srgbClr val="FF0000"/>
                </a:solidFill>
                <a:latin typeface="Arial" pitchFamily="34" charset="0"/>
                <a:cs typeface="Arial" pitchFamily="34" charset="-120"/>
              </a:rPr>
              <a:t>öper ve </a:t>
            </a:r>
            <a:r>
              <a:rPr lang="tr-TR" sz="1400" dirty="0">
                <a:solidFill>
                  <a:srgbClr val="FF0000"/>
                </a:solidFill>
                <a:latin typeface="Arial" pitchFamily="34" charset="0"/>
                <a:cs typeface="Arial" pitchFamily="34" charset="-120"/>
              </a:rPr>
              <a:t>alnımıza götürürüz</a:t>
            </a:r>
            <a:r>
              <a:rPr lang="tr-TR" sz="1400" dirty="0" smtClean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. Bu şekilde selamlaşırız.</a:t>
            </a:r>
            <a:endParaRPr lang="tr-TR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5" grpId="0" animBg="1"/>
      <p:bldP spid="28" grpId="0" animBg="1"/>
      <p:bldP spid="31" grpId="0" animBg="1"/>
      <p:bldP spid="3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4" name="Icon10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5290" y="430530"/>
            <a:ext cx="693420" cy="69342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 GÖREVİ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7680960" cy="1700000"/>
          </a:xfrm>
          <a:prstGeom prst="roundRect">
            <a:avLst>
              <a:gd name="adj" fmla="val 11250"/>
            </a:avLst>
          </a:prstGeom>
          <a:solidFill>
            <a:srgbClr val="2563E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15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Selamlaşma Turu!</a:t>
            </a:r>
            <a:endParaRPr lang="tr-TR" sz="1800" dirty="0"/>
          </a:p>
          <a:p>
            <a:pPr marL="0" indent="0" algn="ctr">
              <a:spcBef>
                <a:spcPts val="800"/>
              </a:spcBef>
              <a:buNone/>
            </a:pPr>
            <a:r>
              <a:rPr lang="tr-TR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“Sabah ‘Günaydın’, öğlen ‘İyi Günler’, akşam ‘İyi Akşamlar’, gece ‘İyi Geceler’ de. Ailenle selamlaş ve bir fotoğraf çek!”</a:t>
            </a:r>
            <a:endParaRPr lang="tr-TR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4114280"/>
            <a:ext cx="6400800" cy="777240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420572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Fotoğrafları ailenle paylaş. Sonra istersen bize gönder!</a:t>
            </a:r>
            <a:endParaRPr lang="tr-TR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E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5" name="Icon117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453390"/>
            <a:ext cx="373380" cy="373380"/>
          </a:xfrm>
          <a:prstGeom prst="rect">
            <a:avLst/>
          </a:prstGeom>
        </p:spPr>
      </p:pic>
      <p:pic>
        <p:nvPicPr>
          <p:cNvPr id="1176" name="Icon11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675" y="584835"/>
            <a:ext cx="293370" cy="293370"/>
          </a:xfrm>
          <a:prstGeom prst="rect">
            <a:avLst/>
          </a:prstGeom>
        </p:spPr>
      </p:pic>
      <p:pic>
        <p:nvPicPr>
          <p:cNvPr id="1177" name="Icon117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" y="1878330"/>
            <a:ext cx="266700" cy="266700"/>
          </a:xfrm>
          <a:prstGeom prst="rect">
            <a:avLst/>
          </a:prstGeom>
        </p:spPr>
      </p:pic>
      <p:pic>
        <p:nvPicPr>
          <p:cNvPr id="1178" name="Icon11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6785" y="1891665"/>
            <a:ext cx="240030" cy="240030"/>
          </a:xfrm>
          <a:prstGeom prst="rect">
            <a:avLst/>
          </a:prstGeom>
        </p:spPr>
      </p:pic>
      <p:pic>
        <p:nvPicPr>
          <p:cNvPr id="1179" name="Icon117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5290" y="659130"/>
            <a:ext cx="693420" cy="693420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675203" y="1508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GÖREV TAMAMLANDI!</a:t>
            </a:r>
            <a:endParaRPr lang="en-US" sz="4400" dirty="0"/>
          </a:p>
        </p:txBody>
      </p:sp>
      <p:sp>
        <p:nvSpPr>
          <p:cNvPr id="8" name="ChipRect8"/>
          <p:cNvSpPr/>
          <p:nvPr/>
        </p:nvSpPr>
        <p:spPr>
          <a:xfrm>
            <a:off x="274320" y="2500000"/>
            <a:ext cx="1920240" cy="480060"/>
          </a:xfrm>
          <a:prstGeom prst="roundRect">
            <a:avLst>
              <a:gd name="adj" fmla="val 15385"/>
            </a:avLst>
          </a:prstGeom>
          <a:solidFill>
            <a:srgbClr val="F97316"/>
          </a:solidFill>
          <a:ln/>
        </p:spPr>
      </p:sp>
      <p:sp>
        <p:nvSpPr>
          <p:cNvPr id="9" name="ChipText9"/>
          <p:cNvSpPr/>
          <p:nvPr/>
        </p:nvSpPr>
        <p:spPr>
          <a:xfrm>
            <a:off x="274320" y="2500000"/>
            <a:ext cx="19202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Günaydın</a:t>
            </a:r>
            <a:endParaRPr lang="tr-TR" sz="1050" dirty="0"/>
          </a:p>
        </p:txBody>
      </p:sp>
      <p:sp>
        <p:nvSpPr>
          <p:cNvPr id="10" name="ChipRect10"/>
          <p:cNvSpPr/>
          <p:nvPr/>
        </p:nvSpPr>
        <p:spPr>
          <a:xfrm>
            <a:off x="2423160" y="2500000"/>
            <a:ext cx="1920240" cy="480060"/>
          </a:xfrm>
          <a:prstGeom prst="roundRect">
            <a:avLst>
              <a:gd name="adj" fmla="val 15385"/>
            </a:avLst>
          </a:prstGeom>
          <a:solidFill>
            <a:srgbClr val="0EA5E9"/>
          </a:solidFill>
          <a:ln/>
        </p:spPr>
      </p:sp>
      <p:sp>
        <p:nvSpPr>
          <p:cNvPr id="11" name="ChipText11"/>
          <p:cNvSpPr/>
          <p:nvPr/>
        </p:nvSpPr>
        <p:spPr>
          <a:xfrm>
            <a:off x="2423160" y="2500000"/>
            <a:ext cx="19202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İyi Günler</a:t>
            </a:r>
            <a:endParaRPr lang="tr-TR" sz="1050" dirty="0"/>
          </a:p>
        </p:txBody>
      </p:sp>
      <p:sp>
        <p:nvSpPr>
          <p:cNvPr id="12" name="ChipRect12"/>
          <p:cNvSpPr/>
          <p:nvPr/>
        </p:nvSpPr>
        <p:spPr>
          <a:xfrm>
            <a:off x="4572000" y="2500000"/>
            <a:ext cx="1920240" cy="4800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13" name="ChipText13"/>
          <p:cNvSpPr/>
          <p:nvPr/>
        </p:nvSpPr>
        <p:spPr>
          <a:xfrm>
            <a:off x="4572000" y="2500000"/>
            <a:ext cx="19202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Merhaba</a:t>
            </a:r>
            <a:endParaRPr lang="tr-TR" sz="1050" dirty="0"/>
          </a:p>
        </p:txBody>
      </p:sp>
      <p:sp>
        <p:nvSpPr>
          <p:cNvPr id="14" name="ChipRect14"/>
          <p:cNvSpPr/>
          <p:nvPr/>
        </p:nvSpPr>
        <p:spPr>
          <a:xfrm>
            <a:off x="6720840" y="2500000"/>
            <a:ext cx="1920240" cy="4800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15" name="ChipText15"/>
          <p:cNvSpPr/>
          <p:nvPr/>
        </p:nvSpPr>
        <p:spPr>
          <a:xfrm>
            <a:off x="6720840" y="2500000"/>
            <a:ext cx="19202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İyi Akşamlar</a:t>
            </a:r>
            <a:endParaRPr lang="tr-TR" sz="1050" dirty="0"/>
          </a:p>
        </p:txBody>
      </p:sp>
      <p:sp>
        <p:nvSpPr>
          <p:cNvPr id="16" name="ChipRect16"/>
          <p:cNvSpPr/>
          <p:nvPr/>
        </p:nvSpPr>
        <p:spPr>
          <a:xfrm>
            <a:off x="274320" y="3071500"/>
            <a:ext cx="1920240" cy="480060"/>
          </a:xfrm>
          <a:prstGeom prst="roundRect">
            <a:avLst>
              <a:gd name="adj" fmla="val 15385"/>
            </a:avLst>
          </a:prstGeom>
          <a:solidFill>
            <a:srgbClr val="312E81"/>
          </a:solidFill>
          <a:ln/>
        </p:spPr>
      </p:sp>
      <p:sp>
        <p:nvSpPr>
          <p:cNvPr id="17" name="ChipText17"/>
          <p:cNvSpPr/>
          <p:nvPr/>
        </p:nvSpPr>
        <p:spPr>
          <a:xfrm>
            <a:off x="274320" y="3071500"/>
            <a:ext cx="19202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İyi Geceler</a:t>
            </a:r>
            <a:endParaRPr lang="tr-TR" sz="1050" dirty="0"/>
          </a:p>
        </p:txBody>
      </p:sp>
      <p:sp>
        <p:nvSpPr>
          <p:cNvPr id="18" name="ChipRect18"/>
          <p:cNvSpPr/>
          <p:nvPr/>
        </p:nvSpPr>
        <p:spPr>
          <a:xfrm>
            <a:off x="2423160" y="3071500"/>
            <a:ext cx="1920240" cy="480060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/>
        </p:spPr>
      </p:sp>
      <p:sp>
        <p:nvSpPr>
          <p:cNvPr id="19" name="ChipText19"/>
          <p:cNvSpPr/>
          <p:nvPr/>
        </p:nvSpPr>
        <p:spPr>
          <a:xfrm>
            <a:off x="2423160" y="3071500"/>
            <a:ext cx="19202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Benim adım...</a:t>
            </a:r>
            <a:endParaRPr lang="tr-TR" sz="1050" dirty="0"/>
          </a:p>
        </p:txBody>
      </p:sp>
      <p:sp>
        <p:nvSpPr>
          <p:cNvPr id="20" name="ChipRect20"/>
          <p:cNvSpPr/>
          <p:nvPr/>
        </p:nvSpPr>
        <p:spPr>
          <a:xfrm>
            <a:off x="4572000" y="3071500"/>
            <a:ext cx="1920240" cy="480060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/>
        </p:spPr>
      </p:sp>
      <p:sp>
        <p:nvSpPr>
          <p:cNvPr id="21" name="ChipText21"/>
          <p:cNvSpPr/>
          <p:nvPr/>
        </p:nvSpPr>
        <p:spPr>
          <a:xfrm>
            <a:off x="4572000" y="3071500"/>
            <a:ext cx="19202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Soyadım...</a:t>
            </a:r>
            <a:endParaRPr lang="tr-TR" sz="1050" dirty="0"/>
          </a:p>
        </p:txBody>
      </p:sp>
      <p:sp>
        <p:nvSpPr>
          <p:cNvPr id="22" name="ChipRect22"/>
          <p:cNvSpPr/>
          <p:nvPr/>
        </p:nvSpPr>
        <p:spPr>
          <a:xfrm>
            <a:off x="6720840" y="3071500"/>
            <a:ext cx="1920240" cy="4800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23" name="ChipText23"/>
          <p:cNvSpPr/>
          <p:nvPr/>
        </p:nvSpPr>
        <p:spPr>
          <a:xfrm>
            <a:off x="6720840" y="3071500"/>
            <a:ext cx="19202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Senin adın ne?</a:t>
            </a:r>
            <a:endParaRPr lang="tr-TR" sz="1050" dirty="0"/>
          </a:p>
        </p:txBody>
      </p:sp>
      <p:sp>
        <p:nvSpPr>
          <p:cNvPr id="24" name="ChipRect24"/>
          <p:cNvSpPr/>
          <p:nvPr/>
        </p:nvSpPr>
        <p:spPr>
          <a:xfrm>
            <a:off x="274320" y="3643000"/>
            <a:ext cx="1920240" cy="480060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/>
        </p:spPr>
      </p:sp>
      <p:sp>
        <p:nvSpPr>
          <p:cNvPr id="25" name="ChipText25"/>
          <p:cNvSpPr/>
          <p:nvPr/>
        </p:nvSpPr>
        <p:spPr>
          <a:xfrm>
            <a:off x="274320" y="3643000"/>
            <a:ext cx="19202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Soyadın ne?</a:t>
            </a:r>
            <a:endParaRPr lang="tr-TR" sz="1050" dirty="0"/>
          </a:p>
        </p:txBody>
      </p:sp>
      <p:sp>
        <p:nvSpPr>
          <p:cNvPr id="26" name="ChipRect26"/>
          <p:cNvSpPr/>
          <p:nvPr/>
        </p:nvSpPr>
        <p:spPr>
          <a:xfrm>
            <a:off x="2423160" y="3643000"/>
            <a:ext cx="1920240" cy="4800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</p:spPr>
      </p:sp>
      <p:sp>
        <p:nvSpPr>
          <p:cNvPr id="27" name="ChipText27"/>
          <p:cNvSpPr/>
          <p:nvPr/>
        </p:nvSpPr>
        <p:spPr>
          <a:xfrm>
            <a:off x="2423160" y="3643000"/>
            <a:ext cx="19202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Tanıştığıma memnun oldum.</a:t>
            </a:r>
            <a:endParaRPr lang="tr-TR" sz="1050" dirty="0"/>
          </a:p>
        </p:txBody>
      </p:sp>
      <p:sp>
        <p:nvSpPr>
          <p:cNvPr id="28" name="ChipRect28"/>
          <p:cNvSpPr/>
          <p:nvPr/>
        </p:nvSpPr>
        <p:spPr>
          <a:xfrm>
            <a:off x="4572000" y="3643000"/>
            <a:ext cx="1920240" cy="480060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/>
        </p:spPr>
      </p:sp>
      <p:sp>
        <p:nvSpPr>
          <p:cNvPr id="29" name="ChipText29"/>
          <p:cNvSpPr/>
          <p:nvPr/>
        </p:nvSpPr>
        <p:spPr>
          <a:xfrm>
            <a:off x="4572000" y="3643000"/>
            <a:ext cx="19202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Görüşürüz!</a:t>
            </a:r>
            <a:endParaRPr lang="tr-TR" sz="1050" dirty="0"/>
          </a:p>
        </p:txBody>
      </p:sp>
      <p:sp>
        <p:nvSpPr>
          <p:cNvPr id="30" name="ChipRect30"/>
          <p:cNvSpPr/>
          <p:nvPr/>
        </p:nvSpPr>
        <p:spPr>
          <a:xfrm>
            <a:off x="6720840" y="3643000"/>
            <a:ext cx="1920240" cy="480060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/>
        </p:spPr>
      </p:sp>
      <p:sp>
        <p:nvSpPr>
          <p:cNvPr id="31" name="ChipText31"/>
          <p:cNvSpPr/>
          <p:nvPr/>
        </p:nvSpPr>
        <p:spPr>
          <a:xfrm>
            <a:off x="6720840" y="3643000"/>
            <a:ext cx="19202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Hoşça Kal!</a:t>
            </a:r>
            <a:endParaRPr lang="tr-TR" sz="1050" dirty="0"/>
          </a:p>
        </p:txBody>
      </p:sp>
      <p:sp>
        <p:nvSpPr>
          <p:cNvPr id="32" name="Text 20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</a:t>
            </a:r>
            <a:r>
              <a:rPr lang="en-US" sz="1700" i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sonraki</a:t>
            </a: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tr-TR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derste</a:t>
            </a:r>
            <a:r>
              <a:rPr lang="en-US" sz="1700" i="1" dirty="0">
                <a:solidFill>
                  <a:srgbClr val="FFFFFF"/>
                </a:solidFill>
              </a:rPr>
              <a:t> </a:t>
            </a: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görüşürüz! 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29" grpId="0" animBg="1"/>
      <p:bldP spid="31" grpId="0" animBg="1"/>
      <p:bldP spid="32" grpId="0" animBg="1"/>
    </p:bld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745</TotalTime>
  <Words>876</Words>
  <Application>Microsoft Office PowerPoint</Application>
  <PresentationFormat>Ekran Gösterisi (16:9)</PresentationFormat>
  <Paragraphs>152</Paragraphs>
  <Slides>19</Slides>
  <Notes>17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Dil Dedektifi - A1 Türkçe Dersi</dc:title>
  <dc:subject>PptxGenJS Presentation</dc:subject>
  <dc:creator>PptxGenJS</dc:creator>
  <cp:lastModifiedBy>Edibe YILMAZ</cp:lastModifiedBy>
  <cp:revision>23</cp:revision>
  <dcterms:created xsi:type="dcterms:W3CDTF">2026-06-29T10:57:38Z</dcterms:created>
  <dcterms:modified xsi:type="dcterms:W3CDTF">2026-09-11T06:36:05Z</dcterms:modified>
</cp:coreProperties>
</file>