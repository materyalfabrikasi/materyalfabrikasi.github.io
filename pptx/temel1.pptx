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3" r:id="rId9"/>
    <p:sldId id="259" r:id="rId10"/>
    <p:sldId id="258" r:id="rId11"/>
    <p:sldId id="272" r:id="rId12"/>
    <p:sldId id="260" r:id="rId13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587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41" y="-3375"/>
            <a:ext cx="9144000" cy="5143500"/>
          </a:xfrm>
          <a:prstGeom prst="rect">
            <a:avLst/>
          </a:prstGeom>
          <a:solidFill>
            <a:srgbClr val="1A2E5A"/>
          </a:solidFill>
          <a:ln/>
        </p:spPr>
      </p:sp>
      <p:pic>
        <p:nvPicPr>
          <p:cNvPr id="2016" name="Icon20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259080"/>
            <a:ext cx="213360" cy="213360"/>
          </a:xfrm>
          <a:prstGeom prst="rect">
            <a:avLst/>
          </a:prstGeom>
        </p:spPr>
      </p:pic>
      <p:pic>
        <p:nvPicPr>
          <p:cNvPr id="2017" name="Icon20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259080"/>
            <a:ext cx="213360" cy="213360"/>
          </a:xfrm>
          <a:prstGeom prst="rect">
            <a:avLst/>
          </a:prstGeom>
        </p:spPr>
      </p:pic>
      <p:pic>
        <p:nvPicPr>
          <p:cNvPr id="2018" name="Icon20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4556760"/>
            <a:ext cx="213360" cy="213360"/>
          </a:xfrm>
          <a:prstGeom prst="rect">
            <a:avLst/>
          </a:prstGeom>
        </p:spPr>
      </p:pic>
      <p:pic>
        <p:nvPicPr>
          <p:cNvPr id="2019" name="Icon20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4556760"/>
            <a:ext cx="213360" cy="213360"/>
          </a:xfrm>
          <a:prstGeom prst="rect">
            <a:avLst/>
          </a:prstGeom>
        </p:spPr>
      </p:pic>
      <p:pic>
        <p:nvPicPr>
          <p:cNvPr id="2020" name="Icon20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" y="4099560"/>
            <a:ext cx="213360" cy="213360"/>
          </a:xfrm>
          <a:prstGeom prst="rect">
            <a:avLst/>
          </a:prstGeom>
        </p:spPr>
      </p:pic>
      <p:pic>
        <p:nvPicPr>
          <p:cNvPr id="2021" name="Icon20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720" y="716280"/>
            <a:ext cx="213360" cy="213360"/>
          </a:xfrm>
          <a:prstGeom prst="rect">
            <a:avLst/>
          </a:prstGeom>
        </p:spPr>
      </p:pic>
      <p:sp>
        <p:nvSpPr>
          <p:cNvPr id="9" name="Shape 7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F97316"/>
          </a:solidFill>
          <a:ln/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pic>
        <p:nvPicPr>
          <p:cNvPr id="2022" name="Icon20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8630" y="895350"/>
            <a:ext cx="586740" cy="586740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DİL DEDEKTİFİ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3436671" y="3663276"/>
            <a:ext cx="2614325" cy="457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3172783" y="3556801"/>
            <a:ext cx="30500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Seviye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1867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 err="1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Büyüteçleri</a:t>
            </a:r>
            <a:r>
              <a:rPr lang="en-US" sz="14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 smtClean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hazırlayın</a:t>
            </a:r>
            <a:r>
              <a:rPr lang="tr-TR" sz="1400" i="1" dirty="0" smtClean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i="1" dirty="0" err="1" smtClean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görevimiz</a:t>
            </a:r>
            <a:r>
              <a:rPr lang="en-US" sz="1400" i="1" dirty="0" smtClean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başlıyor!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40080" y="281515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TÜRKÇE VE TÜRK KÜLTÜRÜ ÖĞRENME </a:t>
            </a:r>
            <a:r>
              <a:rPr lang="en-US" sz="2600" kern="0" spc="4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MACERASI</a:t>
            </a:r>
            <a:r>
              <a:rPr lang="tr-TR" sz="2600" kern="0" spc="40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BEN KİMİM?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-24547"/>
            <a:ext cx="91440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BUGÜNKÜ GİZLİ GÖREVLERİMİZ</a:t>
            </a:r>
            <a:endParaRPr lang="en-US" sz="2000" dirty="0"/>
          </a:p>
        </p:txBody>
      </p:sp>
      <p:pic>
        <p:nvPicPr>
          <p:cNvPr id="2545" name="HeaderIcon25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0" y="169184"/>
            <a:ext cx="320000" cy="32000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48640" y="893227"/>
            <a:ext cx="804672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069848"/>
            <a:ext cx="493776" cy="493776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042" name="Icon20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45" y="1190053"/>
            <a:ext cx="253365" cy="253365"/>
          </a:xfrm>
          <a:prstGeom prst="rect">
            <a:avLst/>
          </a:prstGeom>
        </p:spPr>
      </p:pic>
      <p:sp>
        <p:nvSpPr>
          <p:cNvPr id="8" name="Text 6"/>
          <p:cNvSpPr/>
          <p:nvPr/>
        </p:nvSpPr>
        <p:spPr>
          <a:xfrm>
            <a:off x="1508760" y="868680"/>
            <a:ext cx="6903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Selamlaşmanın pek çok farklı yolunu öğreneceğiz (Günaydın, Tünaydın, Selamünaleyküm gibi).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804672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103120"/>
            <a:ext cx="493776" cy="493776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043" name="Icon20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445" y="2223325"/>
            <a:ext cx="253365" cy="253365"/>
          </a:xfrm>
          <a:prstGeom prst="rect">
            <a:avLst/>
          </a:prstGeom>
        </p:spPr>
      </p:pic>
      <p:sp>
        <p:nvSpPr>
          <p:cNvPr id="12" name="Text 10"/>
          <p:cNvSpPr/>
          <p:nvPr/>
        </p:nvSpPr>
        <p:spPr>
          <a:xfrm>
            <a:off x="1508760" y="1901952"/>
            <a:ext cx="6903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Kendimizi ad, yaş ve nerede yaşadığımızla tanıtacağız.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35224"/>
            <a:ext cx="804672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136392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044" name="Icon20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445" y="3256597"/>
            <a:ext cx="253365" cy="253365"/>
          </a:xfrm>
          <a:prstGeom prst="rect">
            <a:avLst/>
          </a:prstGeom>
        </p:spPr>
      </p:pic>
      <p:sp>
        <p:nvSpPr>
          <p:cNvPr id="16" name="Text 14"/>
          <p:cNvSpPr/>
          <p:nvPr/>
        </p:nvSpPr>
        <p:spPr>
          <a:xfrm>
            <a:off x="1508760" y="2935224"/>
            <a:ext cx="6903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Karşımızdakine hâl hatır sorup onu daha yakından tanıyacağız.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968496"/>
            <a:ext cx="804672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4169664"/>
            <a:ext cx="493776" cy="49377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045" name="Icon204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445" y="4289869"/>
            <a:ext cx="253365" cy="253365"/>
          </a:xfrm>
          <a:prstGeom prst="rect">
            <a:avLst/>
          </a:prstGeom>
        </p:spPr>
      </p:pic>
      <p:sp>
        <p:nvSpPr>
          <p:cNvPr id="20" name="Text 18"/>
          <p:cNvSpPr/>
          <p:nvPr/>
        </p:nvSpPr>
        <p:spPr>
          <a:xfrm>
            <a:off x="1508760" y="3968496"/>
            <a:ext cx="6903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Vedalaşmanın da birçok şeklini öğrenip doğru zamanda kullanacağız.</a:t>
            </a:r>
            <a:endParaRPr lang="en-US" sz="1400" dirty="0"/>
          </a:p>
        </p:txBody>
      </p:sp>
      <p:sp>
        <p:nvSpPr>
          <p:cNvPr id="21" name="CurriculumNote"/>
          <p:cNvSpPr/>
          <p:nvPr/>
        </p:nvSpPr>
        <p:spPr>
          <a:xfrm>
            <a:off x="365760" y="680000"/>
            <a:ext cx="841248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900" dirty="0">
                <a:solidFill>
                  <a:srgbClr val="94A3B8"/>
                </a:solidFill>
                <a:latin typeface="Calibri" pitchFamily="34" charset="0"/>
              </a:rPr>
              <a:t>2026 TTKD Öğretim Programı — 2. Seviye: 1A1 · 1A2 · 1B2  |  3. Seviye: 1A1 · 1A2</a:t>
            </a:r>
            <a:endParaRPr lang="tr-TR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-49094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600" b="1" dirty="0" smtClean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HATIRLAYALIM: </a:t>
            </a:r>
            <a:r>
              <a:rPr lang="en-US" sz="2600" b="1" dirty="0" smtClean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MÜKEMMEL </a:t>
            </a: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BİR KONUŞMA</a:t>
            </a:r>
            <a:endParaRPr lang="en-US" sz="2600" dirty="0"/>
          </a:p>
        </p:txBody>
      </p:sp>
      <p:pic>
        <p:nvPicPr>
          <p:cNvPr id="546" name="HeaderIcon5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" y="197906"/>
            <a:ext cx="420000" cy="420000"/>
          </a:xfrm>
          <a:prstGeom prst="rect">
            <a:avLst/>
          </a:prstGeom>
        </p:spPr>
      </p:pic>
      <p:sp>
        <p:nvSpPr>
          <p:cNvPr id="14" name="Shape 2"/>
          <p:cNvSpPr/>
          <p:nvPr/>
        </p:nvSpPr>
        <p:spPr>
          <a:xfrm>
            <a:off x="365760" y="1051560"/>
            <a:ext cx="658368" cy="658368"/>
          </a:xfrm>
          <a:prstGeom prst="ellipse">
            <a:avLst/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3"/>
          <p:cNvSpPr/>
          <p:nvPr/>
        </p:nvSpPr>
        <p:spPr>
          <a:xfrm>
            <a:off x="365760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5"/>
          <p:cNvSpPr/>
          <p:nvPr/>
        </p:nvSpPr>
        <p:spPr>
          <a:xfrm>
            <a:off x="1828800" y="109728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Merhaba!</a:t>
            </a:r>
            <a:endParaRPr lang="en-US" sz="2200" dirty="0"/>
          </a:p>
        </p:txBody>
      </p:sp>
      <p:sp>
        <p:nvSpPr>
          <p:cNvPr id="18" name="Shape 6"/>
          <p:cNvSpPr/>
          <p:nvPr/>
        </p:nvSpPr>
        <p:spPr>
          <a:xfrm>
            <a:off x="365760" y="1856232"/>
            <a:ext cx="658368" cy="658368"/>
          </a:xfrm>
          <a:prstGeom prst="ellipse">
            <a:avLst/>
          </a:prstGeom>
          <a:solidFill>
            <a:srgbClr val="16A3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7"/>
          <p:cNvSpPr/>
          <p:nvPr/>
        </p:nvSpPr>
        <p:spPr>
          <a:xfrm>
            <a:off x="365760" y="18562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9"/>
          <p:cNvSpPr/>
          <p:nvPr/>
        </p:nvSpPr>
        <p:spPr>
          <a:xfrm>
            <a:off x="1828800" y="1926499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Benim adım ___, soyadım ___!</a:t>
            </a:r>
            <a:endParaRPr lang="en-US" sz="2200" dirty="0"/>
          </a:p>
        </p:txBody>
      </p:sp>
      <p:sp>
        <p:nvSpPr>
          <p:cNvPr id="22" name="Shape 10"/>
          <p:cNvSpPr/>
          <p:nvPr/>
        </p:nvSpPr>
        <p:spPr>
          <a:xfrm>
            <a:off x="365760" y="2660904"/>
            <a:ext cx="658368" cy="658368"/>
          </a:xfrm>
          <a:prstGeom prst="ellipse">
            <a:avLst/>
          </a:prstGeom>
          <a:solidFill>
            <a:srgbClr val="F9731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11"/>
          <p:cNvSpPr/>
          <p:nvPr/>
        </p:nvSpPr>
        <p:spPr>
          <a:xfrm>
            <a:off x="365760" y="26609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13"/>
          <p:cNvSpPr/>
          <p:nvPr/>
        </p:nvSpPr>
        <p:spPr>
          <a:xfrm>
            <a:off x="1828800" y="270662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Senin adın ne? Soyadın ne?</a:t>
            </a:r>
            <a:endParaRPr lang="en-US" sz="2200" dirty="0"/>
          </a:p>
        </p:txBody>
      </p:sp>
      <p:sp>
        <p:nvSpPr>
          <p:cNvPr id="26" name="Shape 14"/>
          <p:cNvSpPr/>
          <p:nvPr/>
        </p:nvSpPr>
        <p:spPr>
          <a:xfrm>
            <a:off x="365760" y="3465576"/>
            <a:ext cx="658368" cy="658368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15"/>
          <p:cNvSpPr/>
          <p:nvPr/>
        </p:nvSpPr>
        <p:spPr>
          <a:xfrm>
            <a:off x="365760" y="34655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16"/>
          <p:cNvSpPr/>
          <p:nvPr/>
        </p:nvSpPr>
        <p:spPr>
          <a:xfrm>
            <a:off x="1143000" y="3465576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9" name="Text 17"/>
          <p:cNvSpPr/>
          <p:nvPr/>
        </p:nvSpPr>
        <p:spPr>
          <a:xfrm>
            <a:off x="1828800" y="35112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Tanıştığıma memnun oldum!</a:t>
            </a:r>
            <a:endParaRPr lang="en-US" sz="2200" dirty="0"/>
          </a:p>
        </p:txBody>
      </p:sp>
      <p:sp>
        <p:nvSpPr>
          <p:cNvPr id="30" name="Shape 18"/>
          <p:cNvSpPr/>
          <p:nvPr/>
        </p:nvSpPr>
        <p:spPr>
          <a:xfrm>
            <a:off x="365760" y="4270248"/>
            <a:ext cx="658368" cy="658368"/>
          </a:xfrm>
          <a:prstGeom prst="ellipse">
            <a:avLst/>
          </a:prstGeom>
          <a:solidFill>
            <a:srgbClr val="DC262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19"/>
          <p:cNvSpPr/>
          <p:nvPr/>
        </p:nvSpPr>
        <p:spPr>
          <a:xfrm>
            <a:off x="365760" y="42702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20"/>
          <p:cNvSpPr/>
          <p:nvPr/>
        </p:nvSpPr>
        <p:spPr>
          <a:xfrm>
            <a:off x="1143000" y="4270248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3" name="Text 21"/>
          <p:cNvSpPr/>
          <p:nvPr/>
        </p:nvSpPr>
        <p:spPr>
          <a:xfrm>
            <a:off x="1828800" y="431596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Görüşürüz!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455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600" b="1" dirty="0" smtClean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HATIRLAYALIM</a:t>
            </a:r>
            <a:r>
              <a:rPr lang="en-US" sz="2600" b="1" dirty="0" smtClean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600" dirty="0"/>
          </a:p>
        </p:txBody>
      </p:sp>
      <p:pic>
        <p:nvPicPr>
          <p:cNvPr id="526" name="HeaderIcon5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" y="224340"/>
            <a:ext cx="420000" cy="420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365760" y="1037935"/>
            <a:ext cx="6858000" cy="841248"/>
          </a:xfrm>
          <a:prstGeom prst="roundRect">
            <a:avLst>
              <a:gd name="adj" fmla="val 16304"/>
            </a:avLst>
          </a:prstGeom>
          <a:solidFill>
            <a:srgbClr val="DBEA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4"/>
          <p:cNvSpPr/>
          <p:nvPr/>
        </p:nvSpPr>
        <p:spPr>
          <a:xfrm>
            <a:off x="554999" y="1088136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</a:t>
            </a: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Merhaba!</a:t>
            </a:r>
            <a:endParaRPr lang="en-US" sz="1800" dirty="0"/>
          </a:p>
        </p:txBody>
      </p:sp>
      <p:sp>
        <p:nvSpPr>
          <p:cNvPr id="6" name="Shape 5"/>
          <p:cNvSpPr/>
          <p:nvPr/>
        </p:nvSpPr>
        <p:spPr>
          <a:xfrm>
            <a:off x="1774300" y="2002415"/>
            <a:ext cx="6858000" cy="841248"/>
          </a:xfrm>
          <a:prstGeom prst="roundRect">
            <a:avLst>
              <a:gd name="adj" fmla="val 16304"/>
            </a:avLst>
          </a:prstGeom>
          <a:solidFill>
            <a:srgbClr val="DCFCE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7"/>
          <p:cNvSpPr/>
          <p:nvPr/>
        </p:nvSpPr>
        <p:spPr>
          <a:xfrm>
            <a:off x="1920240" y="2102999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</a:t>
            </a: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Merhaba! Benim </a:t>
            </a:r>
            <a:r>
              <a:rPr lang="en-US" sz="18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adım</a:t>
            </a: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________, soyadım ________ </a:t>
            </a: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r>
              <a:rPr lang="tr-TR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Senin </a:t>
            </a: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adın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ne? Soyadın ne?</a:t>
            </a:r>
            <a:endParaRPr lang="en-US" sz="1800" dirty="0"/>
          </a:p>
        </p:txBody>
      </p:sp>
      <p:sp>
        <p:nvSpPr>
          <p:cNvPr id="8" name="Shape 8"/>
          <p:cNvSpPr/>
          <p:nvPr/>
        </p:nvSpPr>
        <p:spPr>
          <a:xfrm>
            <a:off x="274320" y="3017520"/>
            <a:ext cx="6858000" cy="841248"/>
          </a:xfrm>
          <a:prstGeom prst="roundRect">
            <a:avLst>
              <a:gd name="adj" fmla="val 16304"/>
            </a:avLst>
          </a:prstGeom>
          <a:solidFill>
            <a:srgbClr val="DBEA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10"/>
          <p:cNvSpPr/>
          <p:nvPr/>
        </p:nvSpPr>
        <p:spPr>
          <a:xfrm>
            <a:off x="554998" y="3114198"/>
            <a:ext cx="657732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</a:t>
            </a: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tr-TR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Benim adım (Öğretmen adı), soyadım (Öğretmen soyadı). </a:t>
            </a: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Tanıştığıma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memnun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oldum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0" name="Shape 11"/>
          <p:cNvSpPr/>
          <p:nvPr/>
        </p:nvSpPr>
        <p:spPr>
          <a:xfrm>
            <a:off x="1828800" y="4023360"/>
            <a:ext cx="6858000" cy="841248"/>
          </a:xfrm>
          <a:prstGeom prst="roundRect">
            <a:avLst>
              <a:gd name="adj" fmla="val 16304"/>
            </a:avLst>
          </a:prstGeom>
          <a:solidFill>
            <a:srgbClr val="DCFCE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13"/>
          <p:cNvSpPr/>
          <p:nvPr/>
        </p:nvSpPr>
        <p:spPr>
          <a:xfrm>
            <a:off x="2030755" y="4123944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</a:t>
            </a: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tr-TR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 de.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9317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51435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BAŞKA SELAMLAŞMA ŞEKİLLERİ</a:t>
            </a:r>
            <a:endParaRPr lang="en-US" sz="2000" dirty="0"/>
          </a:p>
        </p:txBody>
      </p:sp>
      <p:pic>
        <p:nvPicPr>
          <p:cNvPr id="514" name="HeaderIcon5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0" y="169184"/>
            <a:ext cx="320000" cy="320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Türkler </a:t>
            </a:r>
            <a:r>
              <a:rPr lang="tr-TR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birbirleriyle</a:t>
            </a:r>
            <a:endParaRPr lang="en-US" sz="2000" dirty="0"/>
          </a:p>
          <a:p>
            <a:pPr marL="0" indent="0" algn="ctr">
              <a:buNone/>
            </a:pPr>
            <a:r>
              <a:rPr lang="tr-TR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karşılaştığında böyle de selamlaşabilir: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88720" y="1828800"/>
            <a:ext cx="6766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828800"/>
            <a:ext cx="6766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"Selamünaleyküm!"  →  "Aleykümselam!"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188720" y="3383280"/>
            <a:ext cx="6766560" cy="1188720"/>
          </a:xfrm>
          <a:prstGeom prst="roundRect">
            <a:avLst>
              <a:gd name="adj" fmla="val 9231"/>
            </a:avLst>
          </a:prstGeom>
          <a:solidFill>
            <a:srgbClr val="CCFB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338328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ikisi bir çifttir: biri "Selamünaleyküm" der, karşısındaki mutlaka "Aleykümselam" diye karşılık verir.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SELAMLAŞMANIN DİĞER ZAMANLARI</a:t>
            </a:r>
            <a:endParaRPr lang="en-US" sz="2000" dirty="0"/>
          </a:p>
        </p:txBody>
      </p:sp>
      <p:pic>
        <p:nvPicPr>
          <p:cNvPr id="536" name="HeaderIcon5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0" y="169184"/>
            <a:ext cx="320000" cy="320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57200" y="69494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Merhaba, günaydın, iyi günler dışında bunları da duyabilirsin: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68880" y="1298448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298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Bunlar biraz daha resmi selamlaşma şekilleridir!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74980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1828800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Tünaydın — </a:t>
            </a:r>
            <a:r>
              <a:rPr lang="tr-TR" sz="1400" b="1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400" b="1" dirty="0" err="1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ğleden</a:t>
            </a:r>
            <a:r>
              <a:rPr lang="en-US" sz="1400" b="1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sonra/akşamüstü söylenir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450592"/>
            <a:ext cx="74980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2450592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Hayırlı Günler — </a:t>
            </a:r>
            <a:r>
              <a:rPr lang="tr-TR" sz="1400" b="1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400" b="1" dirty="0" err="1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ünaydın</a:t>
            </a:r>
            <a:r>
              <a:rPr lang="en-US" sz="1400" b="1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b="1" dirty="0" err="1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iyi</a:t>
            </a:r>
            <a:r>
              <a:rPr lang="en-US" sz="1400" b="1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günler yerine de kullanılır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072384"/>
            <a:ext cx="74980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3072384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Hayırlı Akşamlar — </a:t>
            </a:r>
            <a:r>
              <a:rPr lang="tr-TR" sz="1400" b="1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</a:t>
            </a:r>
            <a:r>
              <a:rPr lang="en-US" sz="1400" b="1" dirty="0" err="1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</a:t>
            </a:r>
            <a:r>
              <a:rPr lang="en-US" sz="1400" b="1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akşamlar yerine de kullanılır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694176"/>
            <a:ext cx="74980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3694176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Büyüklerinle konuşurken kullanmak nazik bir izlenim bırakır.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51435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MİSAFİR KARŞILAMA</a:t>
            </a:r>
            <a:endParaRPr lang="en-US" sz="2000" dirty="0"/>
          </a:p>
        </p:txBody>
      </p:sp>
      <p:pic>
        <p:nvPicPr>
          <p:cNvPr id="514" name="HeaderIcon5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0" y="169184"/>
            <a:ext cx="320000" cy="320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Birinin evine ya da bir yere geldiğinde</a:t>
            </a:r>
            <a:endParaRPr lang="en-US" sz="2000" dirty="0"/>
          </a:p>
          <a:p>
            <a:pPr marL="0" indent="0" algn="ctr">
              <a:buNone/>
            </a:pPr>
            <a:r>
              <a:rPr lang="tr-TR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böyle karşılarsın: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88720" y="1828800"/>
            <a:ext cx="6766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828800"/>
            <a:ext cx="6766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"Hoş geldin!"  →  "Hoş bulduk!"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188720" y="3383280"/>
            <a:ext cx="6766560" cy="1188720"/>
          </a:xfrm>
          <a:prstGeom prst="roundRect">
            <a:avLst>
              <a:gd name="adj" fmla="val 9231"/>
            </a:avLst>
          </a:prstGeom>
          <a:solidFill>
            <a:srgbClr val="DCFC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338328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sahibi ya da orada olan kişi "Hoş geldin" der; gelen misafir "Hoş bulduk" diye karşılık verir.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51435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VEDALAŞMANIN YENİ HALLERİ</a:t>
            </a:r>
            <a:endParaRPr lang="en-US" sz="2000" dirty="0"/>
          </a:p>
        </p:txBody>
      </p:sp>
      <p:pic>
        <p:nvPicPr>
          <p:cNvPr id="514" name="HeaderIcon5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0" y="169184"/>
            <a:ext cx="320000" cy="320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Ayrılırken hoşça kal ve görüşürüz</a:t>
            </a:r>
            <a:endParaRPr lang="en-US" sz="2000" dirty="0"/>
          </a:p>
          <a:p>
            <a:pPr marL="0" indent="0" algn="ctr">
              <a:buNone/>
            </a:pPr>
            <a:r>
              <a:rPr lang="tr-TR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dışında bunları da diyebilirsin: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88720" y="1828800"/>
            <a:ext cx="6766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828800"/>
            <a:ext cx="6766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"Allah'a ısmarladık!"  →  "Güle güle!"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188720" y="3383280"/>
            <a:ext cx="6766560" cy="1188720"/>
          </a:xfrm>
          <a:prstGeom prst="roundRect">
            <a:avLst>
              <a:gd name="adj" fmla="val 9231"/>
            </a:avLst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338328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Ayrılan kişi "Allah'a ısmarladık" der; kalan kişi "Güle güle" diye karşılık verir.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KENDİMİ TANITIYORUM</a:t>
            </a:r>
            <a:endParaRPr lang="en-US" sz="2000" dirty="0"/>
          </a:p>
        </p:txBody>
      </p:sp>
      <p:pic>
        <p:nvPicPr>
          <p:cNvPr id="520" name="HeaderIcon5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0" y="169184"/>
            <a:ext cx="320000" cy="32000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48640" y="914400"/>
            <a:ext cx="80467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914400"/>
            <a:ext cx="74980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Merhaba! Adım ____, soyadım ____.
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yaşındayım. ____'da/de yaşıyorum.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71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Örnek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DCFC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47472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"Merhaba! Adım Elif, soyadım Kaya. </a:t>
            </a:r>
            <a:r>
              <a:rPr lang="tr-TR" sz="1250" i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r>
              <a:rPr lang="en-US" sz="1250" i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yaşındayım. İzmir'de yaşıyorum."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755000"/>
            <a:ext cx="804672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İsteğe bağlı ek: Mesleğini ("Öğretmenim/Öğrenciyim") ve hobini ("Boş zamanlarımda ___ yapmayı severim") de ekleyebilirsin.</a:t>
            </a:r>
            <a:endParaRPr lang="tr-TR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TANIŞIRKEN ÖNEMLİ SORU</a:t>
            </a:r>
            <a:endParaRPr lang="en-US" sz="2000" dirty="0"/>
          </a:p>
        </p:txBody>
      </p:sp>
      <p:pic>
        <p:nvPicPr>
          <p:cNvPr id="514" name="HeaderIcon5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0" y="169184"/>
            <a:ext cx="320000" cy="320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Biriyle tanışırken onun</a:t>
            </a:r>
            <a:endParaRPr lang="en-US" sz="2000" dirty="0"/>
          </a:p>
          <a:p>
            <a:pPr marL="0" indent="0" algn="ctr">
              <a:buNone/>
            </a:pPr>
            <a:r>
              <a:rPr lang="tr-TR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 yaşadığını nasıl sorarız?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88720" y="1828800"/>
            <a:ext cx="6766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828800"/>
            <a:ext cx="6766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"Nerede yaşıyorsun?"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188720" y="3383280"/>
            <a:ext cx="6766560" cy="1188720"/>
          </a:xfrm>
          <a:prstGeom prst="roundRect">
            <a:avLst>
              <a:gd name="adj" fmla="val 9231"/>
            </a:avLst>
          </a:prstGeom>
          <a:solidFill>
            <a:srgbClr val="FFE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338328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 "(Şehir)'de yaşıyorum." Türkler ayrıca "Nerelisin?" ya da "Memleket neresi?" diye de sorabilir — bu, ailenin aslen nereden geldiğini sorar.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5143500"/>
          </a:xfrm>
          <a:prstGeom prst="rect">
            <a:avLst/>
          </a:prstGeom>
          <a:solidFill>
            <a:srgbClr val="FD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HÂL HATIR SORMA</a:t>
            </a:r>
            <a:endParaRPr lang="en-US" sz="2000" dirty="0"/>
          </a:p>
        </p:txBody>
      </p:sp>
      <p:pic>
        <p:nvPicPr>
          <p:cNvPr id="514" name="HeaderIcon5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0" y="169184"/>
            <a:ext cx="320000" cy="320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Birine nasıl olduğunu</a:t>
            </a:r>
            <a:endParaRPr lang="en-US" sz="2000" dirty="0"/>
          </a:p>
          <a:p>
            <a:pPr marL="0" indent="0" algn="ctr">
              <a:buNone/>
            </a:pPr>
            <a:r>
              <a:rPr lang="tr-TR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sorarken böyle dersin: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88720" y="1828800"/>
            <a:ext cx="6766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828800"/>
            <a:ext cx="6766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B27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"Nasılsın?"  →  "İyiyim, teşekkür ederim!"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188720" y="3383280"/>
            <a:ext cx="6766560" cy="1188720"/>
          </a:xfrm>
          <a:prstGeom prst="roundRect">
            <a:avLst>
              <a:gd name="adj" fmla="val 9231"/>
            </a:avLst>
          </a:prstGeom>
          <a:solidFill>
            <a:srgbClr val="FCE7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338328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Karşındaki de sana aynı soruyu sorabilir: "Sen nasılsın?" Cevap olarak "Şöyle böyle" ya da "Kötü değilim" de diyebilirsin.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TANIŞIRKEN BAŞKA SORULAR…</a:t>
            </a:r>
            <a:endParaRPr lang="en-US" sz="2000" dirty="0"/>
          </a:p>
        </p:txBody>
      </p:sp>
      <p:pic>
        <p:nvPicPr>
          <p:cNvPr id="536" name="HeaderIcon5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0" y="169184"/>
            <a:ext cx="320000" cy="320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57200" y="69494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Kendini tanıttıktan sonra karşındakini de tanı! Hangi soruları sorabilirsin?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68880" y="1298448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298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Unutma: Önce selamla, sonra sor!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74980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1828800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Adın ve soyadın ne?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450592"/>
            <a:ext cx="74980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2450592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Kaç yaşındasın?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072384"/>
            <a:ext cx="74980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3072384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Nerede yaşıyorsun?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322719"/>
            <a:ext cx="74980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4322719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Nasılsın?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22960" y="3702237"/>
            <a:ext cx="74980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1051560" y="3702237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400" b="1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Nerelisin?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ROL OYUNU: TAM TANIŞMA DİYALOĞU</a:t>
            </a:r>
            <a:endParaRPr lang="en-US" sz="2000" dirty="0"/>
          </a:p>
        </p:txBody>
      </p:sp>
      <p:pic>
        <p:nvPicPr>
          <p:cNvPr id="514" name="HeaderIcon5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0" y="169184"/>
            <a:ext cx="320000" cy="32000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02920" y="822960"/>
            <a:ext cx="6035040" cy="685800"/>
          </a:xfrm>
          <a:prstGeom prst="roundRect">
            <a:avLst>
              <a:gd name="adj" fmla="val 16000"/>
            </a:avLst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82296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Zeynep: Merhaba! Adım Zeynep, soyadım Kaya. 14 yaşındayım, İstanbul'da yaşıyorum.</a:t>
            </a:r>
            <a:endParaRPr lang="tr-TR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6035040" cy="685800"/>
          </a:xfrm>
          <a:prstGeom prst="roundRect">
            <a:avLst>
              <a:gd name="adj" fmla="val 16000"/>
            </a:avLst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27632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Zeynep: Senin adın ne, soyadın ne?</a:t>
            </a:r>
            <a:endParaRPr lang="tr-TR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2432304"/>
            <a:ext cx="6035040" cy="6858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2432304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tr-T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Sen: Benim adım Mert, soyadım Demir. 13 yaşındayım, Berlin'de yaşıyorum.</a:t>
            </a:r>
            <a:endParaRPr lang="tr-TR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3236976"/>
            <a:ext cx="6035040" cy="6858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3236976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tr-T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Sen: Nasılsın?</a:t>
            </a:r>
            <a:endParaRPr lang="tr-TR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041648"/>
            <a:ext cx="6035040" cy="685800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041648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Zeynep: İyiyim, teşekkür ederim! Sen nasılsın?</a:t>
            </a:r>
            <a:endParaRPr lang="tr-TR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KÜLTÜR KÖŞESİ – DEDEKTİF SIRRI!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TÜRKLERDE SELAMLAŞMA</a:t>
            </a:r>
            <a:endParaRPr lang="en-US" sz="2600" dirty="0"/>
          </a:p>
        </p:txBody>
      </p:sp>
      <p:sp>
        <p:nvSpPr>
          <p:cNvPr id="20" name="CardRect20"/>
          <p:cNvSpPr/>
          <p:nvPr/>
        </p:nvSpPr>
        <p:spPr>
          <a:xfrm>
            <a:off x="731520" y="160020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4" name="Icon10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70" y="1718310"/>
            <a:ext cx="266700" cy="266700"/>
          </a:xfrm>
          <a:prstGeom prst="rect">
            <a:avLst/>
          </a:prstGeom>
        </p:spPr>
      </p:pic>
      <p:sp>
        <p:nvSpPr>
          <p:cNvPr id="22" name="CardText22"/>
          <p:cNvSpPr/>
          <p:nvPr/>
        </p:nvSpPr>
        <p:spPr>
          <a:xfrm>
            <a:off x="1463040" y="16002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Tanıdıklarımızı görünce elimizi kaldırıp sallayarak selamlarız.</a:t>
            </a:r>
            <a:endParaRPr lang="tr-TR" sz="1400" dirty="0"/>
          </a:p>
        </p:txBody>
      </p:sp>
      <p:sp>
        <p:nvSpPr>
          <p:cNvPr id="23" name="CardRect23"/>
          <p:cNvSpPr/>
          <p:nvPr/>
        </p:nvSpPr>
        <p:spPr>
          <a:xfrm>
            <a:off x="731520" y="219456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5" name="Icon10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70" y="2312670"/>
            <a:ext cx="266700" cy="266700"/>
          </a:xfrm>
          <a:prstGeom prst="rect">
            <a:avLst/>
          </a:prstGeom>
        </p:spPr>
      </p:pic>
      <p:sp>
        <p:nvSpPr>
          <p:cNvPr id="25" name="CardText25"/>
          <p:cNvSpPr/>
          <p:nvPr/>
        </p:nvSpPr>
        <p:spPr>
          <a:xfrm>
            <a:off x="1463040" y="21945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Uzaktaki birine başımızı hafifçe öne eğerek selam veririz.</a:t>
            </a:r>
            <a:endParaRPr lang="tr-TR" sz="1400" dirty="0"/>
          </a:p>
        </p:txBody>
      </p:sp>
      <p:sp>
        <p:nvSpPr>
          <p:cNvPr id="26" name="CardRect26"/>
          <p:cNvSpPr/>
          <p:nvPr/>
        </p:nvSpPr>
        <p:spPr>
          <a:xfrm>
            <a:off x="731520" y="278892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6" name="Icon10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370" y="2907030"/>
            <a:ext cx="266700" cy="266700"/>
          </a:xfrm>
          <a:prstGeom prst="rect">
            <a:avLst/>
          </a:prstGeom>
        </p:spPr>
      </p:pic>
      <p:sp>
        <p:nvSpPr>
          <p:cNvPr id="28" name="CardText28"/>
          <p:cNvSpPr/>
          <p:nvPr/>
        </p:nvSpPr>
        <p:spPr>
          <a:xfrm>
            <a:off x="1463040" y="278892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Arkadaşlarımız ve büyüklerimizle tokalaşarak selamlaşırız.</a:t>
            </a:r>
            <a:endParaRPr lang="tr-TR" sz="1400" dirty="0"/>
          </a:p>
        </p:txBody>
      </p:sp>
      <p:sp>
        <p:nvSpPr>
          <p:cNvPr id="29" name="CardRect29"/>
          <p:cNvSpPr/>
          <p:nvPr/>
        </p:nvSpPr>
        <p:spPr>
          <a:xfrm>
            <a:off x="731520" y="338328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7" name="Icon10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370" y="3501390"/>
            <a:ext cx="266700" cy="266700"/>
          </a:xfrm>
          <a:prstGeom prst="rect">
            <a:avLst/>
          </a:prstGeom>
        </p:spPr>
      </p:pic>
      <p:sp>
        <p:nvSpPr>
          <p:cNvPr id="31" name="CardText31"/>
          <p:cNvSpPr/>
          <p:nvPr/>
        </p:nvSpPr>
        <p:spPr>
          <a:xfrm>
            <a:off x="1463040" y="33832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Çok yakın arkadaşlarımızı iki yanağından öperek selamlarız.</a:t>
            </a:r>
            <a:endParaRPr lang="tr-TR" sz="1400" dirty="0"/>
          </a:p>
        </p:txBody>
      </p:sp>
      <p:sp>
        <p:nvSpPr>
          <p:cNvPr id="32" name="CardRect32"/>
          <p:cNvSpPr/>
          <p:nvPr/>
        </p:nvSpPr>
        <p:spPr>
          <a:xfrm>
            <a:off x="731520" y="397764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8" name="Icon10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370" y="4095750"/>
            <a:ext cx="266700" cy="266700"/>
          </a:xfrm>
          <a:prstGeom prst="rect">
            <a:avLst/>
          </a:prstGeom>
        </p:spPr>
      </p:pic>
      <p:sp>
        <p:nvSpPr>
          <p:cNvPr id="34" name="CardText34"/>
          <p:cNvSpPr/>
          <p:nvPr/>
        </p:nvSpPr>
        <p:spPr>
          <a:xfrm>
            <a:off x="1463040" y="397764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Bayramlarda büyüklerimizin elini öpüp alnımıza götürürüz.</a:t>
            </a:r>
            <a:endParaRPr lang="tr-TR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 animBg="1"/>
      <p:bldP spid="28" grpId="0" animBg="1"/>
      <p:bldP spid="31" grpId="0" animBg="1"/>
      <p:bldP spid="3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YENİ SAHA GÖREVİ</a:t>
            </a:r>
            <a:endParaRPr lang="en-US" sz="2000" dirty="0"/>
          </a:p>
        </p:txBody>
      </p:sp>
      <p:pic>
        <p:nvPicPr>
          <p:cNvPr id="523" name="HeaderIcon5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0" y="169184"/>
            <a:ext cx="320000" cy="320000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kez görevin: Öğrendiğin saygı kuralını GERÇEK bir anda doğru kullanmak!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2646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26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28016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Memlekete geldiniz. Ninenizin evine ninenizin komşusu Fatma Teyze geldi. Fatma Teyze ile karşılaşma anını canlandırıp kısa bir video çekin.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29514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95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14884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Önce SİZ selam verin: Hafifçe eğilerek “Merhaba!” deyin — büyükler önce selamlanır!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6382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63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01752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Kendinizi tanıtıp halini sorun: “Ben [isim] [soyisim], [yaş] yaşındayım. Siz nasılsınız?”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88620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03250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8620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Ayrılırken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saygıyla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tr-TR" sz="13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Güle güle</a:t>
            </a:r>
            <a:r>
              <a:rPr lang="en-US" sz="13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!” 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deyin.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54480" y="4590288"/>
            <a:ext cx="6035040" cy="43891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1554480" y="459028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Videoyu ailenize izletin — doğru sırayı yakaladınız mı? 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5A"/>
          </a:solidFill>
          <a:ln/>
        </p:spPr>
      </p:sp>
      <p:pic>
        <p:nvPicPr>
          <p:cNvPr id="2018" name="Icon20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259080"/>
            <a:ext cx="213360" cy="213360"/>
          </a:xfrm>
          <a:prstGeom prst="rect">
            <a:avLst/>
          </a:prstGeom>
        </p:spPr>
      </p:pic>
      <p:pic>
        <p:nvPicPr>
          <p:cNvPr id="2019" name="Icon20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259080"/>
            <a:ext cx="213360" cy="213360"/>
          </a:xfrm>
          <a:prstGeom prst="rect">
            <a:avLst/>
          </a:prstGeom>
        </p:spPr>
      </p:pic>
      <p:pic>
        <p:nvPicPr>
          <p:cNvPr id="2020" name="Icon20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4556760"/>
            <a:ext cx="213360" cy="213360"/>
          </a:xfrm>
          <a:prstGeom prst="rect">
            <a:avLst/>
          </a:prstGeom>
        </p:spPr>
      </p:pic>
      <p:pic>
        <p:nvPicPr>
          <p:cNvPr id="2021" name="Icon20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4556760"/>
            <a:ext cx="213360" cy="21336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GÖREV TAMAMLANDI!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085443" y="1940721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2132131" y="18973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Detaylı Tanışma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11022" y="1914717"/>
            <a:ext cx="1538217" cy="1428979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817098" y="1917326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Sorma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0137" y="1965960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4338CA"/>
          </a:solidFill>
          <a:ln/>
        </p:spPr>
      </p:sp>
      <p:sp>
        <p:nvSpPr>
          <p:cNvPr id="13" name="Text 11"/>
          <p:cNvSpPr/>
          <p:nvPr/>
        </p:nvSpPr>
        <p:spPr>
          <a:xfrm>
            <a:off x="5470137" y="193842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Hâl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Hatır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23176" y="1965960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18973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Vedalaşma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1272" y="1941796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74616" y="1941796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Selamlaşma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görevde</a:t>
            </a:r>
            <a:r>
              <a:rPr lang="en-US" sz="1600" i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görüşmek üzere! 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759</Words>
  <Application>Microsoft Office PowerPoint</Application>
  <PresentationFormat>Ekran Gösterisi (16:9)</PresentationFormat>
  <Paragraphs>112</Paragraphs>
  <Slides>16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Cambria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Edibe YILMAZ</cp:lastModifiedBy>
  <cp:revision>15</cp:revision>
  <dcterms:created xsi:type="dcterms:W3CDTF">2026-07-23T15:29:09Z</dcterms:created>
  <dcterms:modified xsi:type="dcterms:W3CDTF">2026-09-10T19:00:57Z</dcterms:modified>
</cp:coreProperties>
</file>